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7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7" r:id="rId15"/>
    <p:sldId id="269" r:id="rId16"/>
    <p:sldId id="271" r:id="rId17"/>
    <p:sldId id="270" r:id="rId18"/>
    <p:sldId id="272" r:id="rId19"/>
    <p:sldId id="278" r:id="rId20"/>
    <p:sldId id="273" r:id="rId21"/>
    <p:sldId id="274" r:id="rId22"/>
    <p:sldId id="275" r:id="rId23"/>
    <p:sldId id="276" r:id="rId24"/>
    <p:sldId id="277" r:id="rId25"/>
    <p:sldId id="266" r:id="rId26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8"/>
      <p:bold r:id="rId29"/>
    </p:embeddedFont>
    <p:embeddedFont>
      <p:font typeface="Arial Unicode MS" panose="020B0604020202020204" pitchFamily="34" charset="-128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51A52CD1-35FE-9C48-4105-CB469E8E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>
            <a:extLst>
              <a:ext uri="{FF2B5EF4-FFF2-40B4-BE49-F238E27FC236}">
                <a16:creationId xmlns:a16="http://schemas.microsoft.com/office/drawing/2014/main" id="{61F84B96-CABA-F5CD-D2C1-43975CF7C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2" name="Google Shape;282;g25c099360e7_3_227:notes">
            <a:extLst>
              <a:ext uri="{FF2B5EF4-FFF2-40B4-BE49-F238E27FC236}">
                <a16:creationId xmlns:a16="http://schemas.microsoft.com/office/drawing/2014/main" id="{F324767D-0844-9661-43E8-50A892A37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>
            <a:extLst>
              <a:ext uri="{FF2B5EF4-FFF2-40B4-BE49-F238E27FC236}">
                <a16:creationId xmlns:a16="http://schemas.microsoft.com/office/drawing/2014/main" id="{434C8FA7-9A37-CE5B-210D-8070D19031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7847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B043A95-5E3C-5D9E-CDF9-EE82471A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DF2AE6C-AA42-84A5-41A2-ABC59FC89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7B2F5D6-6BE1-733D-DEBD-BD12539A1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C1D9380E-B62E-7A07-9B50-75C664C4AF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289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CC2E8F2-E0AA-CEED-4CD5-32631AF6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6DA442D-0CC3-D8FB-AD22-7F0291163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D7BCCC8-C660-E33D-1064-11C98FD2F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38E8935B-95A5-43F5-6C4A-5BA90D8786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8617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C78212C-557F-8F92-7D3A-16EC9C6B4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CA9A2A3-644A-A911-DEA2-410E0337D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01FCC53-3777-A205-1C66-257DE20F6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932BDFC9-9700-BD12-8DF1-484C9B6479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9225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5A96530-DD08-BFBF-CD40-0551870C1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BA6B558F-EFB6-0C9F-D651-B36B59D29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02C859A-3657-5C16-73F3-CB6CCBAAE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5A99D95B-CA9B-CBAB-4E73-21FB0B5371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4833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755B2FA-C045-53A3-CBDA-207DCD1F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3D45B2B-C30E-E926-3727-E92367188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0E84D60-9122-EE18-6825-8B001F103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3AD2DBC-FB92-8CE8-A0EE-2AC9C626A4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4781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25E31FE-DB46-0C7A-D6D8-19426C24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7224DC75-44F0-1D79-431D-6B0F74C3B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D04C915-4288-9027-682C-9A708FD80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EFAA3620-E7DA-68E3-E04E-D55AC2B430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855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F14B4959-FB30-8786-6485-E573693A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E27087B-8F91-06BF-CE50-AF4931639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782979C-33BE-A3B8-4234-5424D5301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F6DE656-918F-4520-17A8-204B6B0111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8789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5DAEA2E-B34F-7F67-B577-8D7993D0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544C3E1-E234-BBDF-CF78-BEC211F8D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2B09B8A9-7319-DCD4-6899-102E2DA71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DB8A46D-2016-344F-5757-468D658190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9107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6F31E23-2FCC-8E5E-4635-5AE514DC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321274B-4A99-20DB-1489-905C47B0D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38D35C5-E402-CF46-11FA-CF9698ECF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9B36DBCC-6D23-DE8E-35B0-8C8E44C058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6753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40C6D73-A150-9568-387E-34F2C932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B1FB7F36-387D-1133-1A94-C32BF7D6B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2AB28EDA-4BBD-E5D5-5AEC-1A1A3A4BC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A0C05E6-DC40-E87D-EE16-BD538977E0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7658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E20307A-AFB1-B374-50A5-F3DE3AD9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E802A62-81C1-352B-1263-166D4EC33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A847973B-6A02-7EC9-1E6E-74A572491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D33EE97-8E83-149F-6FF7-D886BD223E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477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E00E7D2-D668-FA5D-FE75-4BDA2D2C5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0EABA441-DEAA-5236-126A-AC3E4E60C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0E8C57D-96E5-AE87-326D-5490038C2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E94DBC7-275F-F754-DEE0-CD19BF4EB3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95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 dirty="0"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YAD 95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59B18A0-2BE3-5A53-4A64-BC710DA71A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0556" y="786217"/>
            <a:ext cx="82028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Rôle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Engineer pour 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Laplace Immo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centraliser les transactions immobilières pour analyser le marché (prix/m², zones dynamiques).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Périmètre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Sur les données du 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1er semestre 2020.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Livrables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 SQLite + requêtes SQL + support de présentation (méthodo + résultats).</a:t>
            </a:r>
          </a:p>
        </p:txBody>
      </p:sp>
      <p:pic>
        <p:nvPicPr>
          <p:cNvPr id="13" name="Image 12" descr="Une image contenant texte, Police, capture d’écran, nombre">
            <a:extLst>
              <a:ext uri="{FF2B5EF4-FFF2-40B4-BE49-F238E27FC236}">
                <a16:creationId xmlns:a16="http://schemas.microsoft.com/office/drawing/2014/main" id="{E09B9A9B-742B-6A49-4272-E12BBB498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56" y="1906578"/>
            <a:ext cx="3576713" cy="30457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F830A3-8B6B-54F7-91D5-2878F1774314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321414" y="1322845"/>
            <a:ext cx="83776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de données stockée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local (SQLite)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le POC (simplicité, reproductibilité).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Sauvegarde : fichier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sqlite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exports CSV “propres” (région, département, commune, vente) +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versionning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(nommage par date).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RGPD : seules les variables nécessaires à l’analyse sont conservées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(pas de données personnelles type “nom de l’acquéreur”,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Résultats communiqués sous forme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agrégée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 région/département/commune).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FFF55E-73EB-F87D-4B82-DCB80A1C3B2A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389008" y="1112787"/>
            <a:ext cx="792717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Fichier DVF / Valeurs foncières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transactions (date, valeur,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type_local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surface, pièces, lots…).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Référentiel géographique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régions / départements / communes + population.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Périmètre d’étude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S1 2020 (POC). 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09BF16A-054D-A512-7F56-BBA64DDD3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662456"/>
              </p:ext>
            </p:extLst>
          </p:nvPr>
        </p:nvGraphicFramePr>
        <p:xfrm>
          <a:off x="132152" y="3588389"/>
          <a:ext cx="7886700" cy="1231010"/>
        </p:xfrm>
        <a:graphic>
          <a:graphicData uri="http://schemas.openxmlformats.org/drawingml/2006/table">
            <a:tbl>
              <a:tblPr/>
              <a:tblGrid>
                <a:gridCol w="1115830">
                  <a:extLst>
                    <a:ext uri="{9D8B030D-6E8A-4147-A177-3AD203B41FA5}">
                      <a16:colId xmlns:a16="http://schemas.microsoft.com/office/drawing/2014/main" val="785229951"/>
                    </a:ext>
                  </a:extLst>
                </a:gridCol>
                <a:gridCol w="609194">
                  <a:extLst>
                    <a:ext uri="{9D8B030D-6E8A-4147-A177-3AD203B41FA5}">
                      <a16:colId xmlns:a16="http://schemas.microsoft.com/office/drawing/2014/main" val="1373138526"/>
                    </a:ext>
                  </a:extLst>
                </a:gridCol>
                <a:gridCol w="697393">
                  <a:extLst>
                    <a:ext uri="{9D8B030D-6E8A-4147-A177-3AD203B41FA5}">
                      <a16:colId xmlns:a16="http://schemas.microsoft.com/office/drawing/2014/main" val="1748507241"/>
                    </a:ext>
                  </a:extLst>
                </a:gridCol>
                <a:gridCol w="648166">
                  <a:extLst>
                    <a:ext uri="{9D8B030D-6E8A-4147-A177-3AD203B41FA5}">
                      <a16:colId xmlns:a16="http://schemas.microsoft.com/office/drawing/2014/main" val="3079589265"/>
                    </a:ext>
                  </a:extLst>
                </a:gridCol>
                <a:gridCol w="664575">
                  <a:extLst>
                    <a:ext uri="{9D8B030D-6E8A-4147-A177-3AD203B41FA5}">
                      <a16:colId xmlns:a16="http://schemas.microsoft.com/office/drawing/2014/main" val="2277997488"/>
                    </a:ext>
                  </a:extLst>
                </a:gridCol>
                <a:gridCol w="557915">
                  <a:extLst>
                    <a:ext uri="{9D8B030D-6E8A-4147-A177-3AD203B41FA5}">
                      <a16:colId xmlns:a16="http://schemas.microsoft.com/office/drawing/2014/main" val="1972595999"/>
                    </a:ext>
                  </a:extLst>
                </a:gridCol>
                <a:gridCol w="787644">
                  <a:extLst>
                    <a:ext uri="{9D8B030D-6E8A-4147-A177-3AD203B41FA5}">
                      <a16:colId xmlns:a16="http://schemas.microsoft.com/office/drawing/2014/main" val="1168132730"/>
                    </a:ext>
                  </a:extLst>
                </a:gridCol>
                <a:gridCol w="902509">
                  <a:extLst>
                    <a:ext uri="{9D8B030D-6E8A-4147-A177-3AD203B41FA5}">
                      <a16:colId xmlns:a16="http://schemas.microsoft.com/office/drawing/2014/main" val="3756164800"/>
                    </a:ext>
                  </a:extLst>
                </a:gridCol>
                <a:gridCol w="492278">
                  <a:extLst>
                    <a:ext uri="{9D8B030D-6E8A-4147-A177-3AD203B41FA5}">
                      <a16:colId xmlns:a16="http://schemas.microsoft.com/office/drawing/2014/main" val="3060078273"/>
                    </a:ext>
                  </a:extLst>
                </a:gridCol>
                <a:gridCol w="787644">
                  <a:extLst>
                    <a:ext uri="{9D8B030D-6E8A-4147-A177-3AD203B41FA5}">
                      <a16:colId xmlns:a16="http://schemas.microsoft.com/office/drawing/2014/main" val="1089248251"/>
                    </a:ext>
                  </a:extLst>
                </a:gridCol>
                <a:gridCol w="623552">
                  <a:extLst>
                    <a:ext uri="{9D8B030D-6E8A-4147-A177-3AD203B41FA5}">
                      <a16:colId xmlns:a16="http://schemas.microsoft.com/office/drawing/2014/main" val="3055712281"/>
                    </a:ext>
                  </a:extLst>
                </a:gridCol>
              </a:tblGrid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id_codedep_codecommune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date_mutation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nature_mutation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valeur_fonciere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code_type_local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type_local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surface_reelle_bati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nb_pieces_principales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nb_lots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surface_carrez_lot1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surface_terrain</a:t>
                      </a:r>
                      <a:endParaRPr lang="fr-F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389707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01103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48.22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162640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06004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355680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39.11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833343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06088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229500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80.25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855970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06123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27.51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90778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13005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47.33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669908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13028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25.31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2053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13208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298100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70.84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58992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13212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163500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67.19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716679"/>
                  </a:ext>
                </a:extLst>
              </a:tr>
              <a:tr h="123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14338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02/01/2020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Vente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53000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Appartement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18.89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55" marR="6155" marT="61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218563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562FFCD-54E3-0399-3CE4-4B7694E06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629864"/>
              </p:ext>
            </p:extLst>
          </p:nvPr>
        </p:nvGraphicFramePr>
        <p:xfrm>
          <a:off x="132152" y="1851451"/>
          <a:ext cx="7886702" cy="16107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965">
                  <a:extLst>
                    <a:ext uri="{9D8B030D-6E8A-4147-A177-3AD203B41FA5}">
                      <a16:colId xmlns:a16="http://schemas.microsoft.com/office/drawing/2014/main" val="1009941922"/>
                    </a:ext>
                  </a:extLst>
                </a:gridCol>
                <a:gridCol w="210812">
                  <a:extLst>
                    <a:ext uri="{9D8B030D-6E8A-4147-A177-3AD203B41FA5}">
                      <a16:colId xmlns:a16="http://schemas.microsoft.com/office/drawing/2014/main" val="434673747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1880332284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3862339942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3870617111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637448332"/>
                    </a:ext>
                  </a:extLst>
                </a:gridCol>
                <a:gridCol w="138784">
                  <a:extLst>
                    <a:ext uri="{9D8B030D-6E8A-4147-A177-3AD203B41FA5}">
                      <a16:colId xmlns:a16="http://schemas.microsoft.com/office/drawing/2014/main" val="509038328"/>
                    </a:ext>
                  </a:extLst>
                </a:gridCol>
                <a:gridCol w="152253">
                  <a:extLst>
                    <a:ext uri="{9D8B030D-6E8A-4147-A177-3AD203B41FA5}">
                      <a16:colId xmlns:a16="http://schemas.microsoft.com/office/drawing/2014/main" val="4176701481"/>
                    </a:ext>
                  </a:extLst>
                </a:gridCol>
                <a:gridCol w="311533">
                  <a:extLst>
                    <a:ext uri="{9D8B030D-6E8A-4147-A177-3AD203B41FA5}">
                      <a16:colId xmlns:a16="http://schemas.microsoft.com/office/drawing/2014/main" val="251699324"/>
                    </a:ext>
                  </a:extLst>
                </a:gridCol>
                <a:gridCol w="173920">
                  <a:extLst>
                    <a:ext uri="{9D8B030D-6E8A-4147-A177-3AD203B41FA5}">
                      <a16:colId xmlns:a16="http://schemas.microsoft.com/office/drawing/2014/main" val="2688521823"/>
                    </a:ext>
                  </a:extLst>
                </a:gridCol>
                <a:gridCol w="159866">
                  <a:extLst>
                    <a:ext uri="{9D8B030D-6E8A-4147-A177-3AD203B41FA5}">
                      <a16:colId xmlns:a16="http://schemas.microsoft.com/office/drawing/2014/main" val="3325970441"/>
                    </a:ext>
                  </a:extLst>
                </a:gridCol>
                <a:gridCol w="89009">
                  <a:extLst>
                    <a:ext uri="{9D8B030D-6E8A-4147-A177-3AD203B41FA5}">
                      <a16:colId xmlns:a16="http://schemas.microsoft.com/office/drawing/2014/main" val="2485654343"/>
                    </a:ext>
                  </a:extLst>
                </a:gridCol>
                <a:gridCol w="74955">
                  <a:extLst>
                    <a:ext uri="{9D8B030D-6E8A-4147-A177-3AD203B41FA5}">
                      <a16:colId xmlns:a16="http://schemas.microsoft.com/office/drawing/2014/main" val="1578079868"/>
                    </a:ext>
                  </a:extLst>
                </a:gridCol>
                <a:gridCol w="185046">
                  <a:extLst>
                    <a:ext uri="{9D8B030D-6E8A-4147-A177-3AD203B41FA5}">
                      <a16:colId xmlns:a16="http://schemas.microsoft.com/office/drawing/2014/main" val="1346873685"/>
                    </a:ext>
                  </a:extLst>
                </a:gridCol>
                <a:gridCol w="135856">
                  <a:extLst>
                    <a:ext uri="{9D8B030D-6E8A-4147-A177-3AD203B41FA5}">
                      <a16:colId xmlns:a16="http://schemas.microsoft.com/office/drawing/2014/main" val="2303152896"/>
                    </a:ext>
                  </a:extLst>
                </a:gridCol>
                <a:gridCol w="110091">
                  <a:extLst>
                    <a:ext uri="{9D8B030D-6E8A-4147-A177-3AD203B41FA5}">
                      <a16:colId xmlns:a16="http://schemas.microsoft.com/office/drawing/2014/main" val="3282572451"/>
                    </a:ext>
                  </a:extLst>
                </a:gridCol>
                <a:gridCol w="251217">
                  <a:extLst>
                    <a:ext uri="{9D8B030D-6E8A-4147-A177-3AD203B41FA5}">
                      <a16:colId xmlns:a16="http://schemas.microsoft.com/office/drawing/2014/main" val="1120228506"/>
                    </a:ext>
                  </a:extLst>
                </a:gridCol>
                <a:gridCol w="187388">
                  <a:extLst>
                    <a:ext uri="{9D8B030D-6E8A-4147-A177-3AD203B41FA5}">
                      <a16:colId xmlns:a16="http://schemas.microsoft.com/office/drawing/2014/main" val="1824029957"/>
                    </a:ext>
                  </a:extLst>
                </a:gridCol>
                <a:gridCol w="124730">
                  <a:extLst>
                    <a:ext uri="{9D8B030D-6E8A-4147-A177-3AD203B41FA5}">
                      <a16:colId xmlns:a16="http://schemas.microsoft.com/office/drawing/2014/main" val="763159507"/>
                    </a:ext>
                  </a:extLst>
                </a:gridCol>
                <a:gridCol w="370092">
                  <a:extLst>
                    <a:ext uri="{9D8B030D-6E8A-4147-A177-3AD203B41FA5}">
                      <a16:colId xmlns:a16="http://schemas.microsoft.com/office/drawing/2014/main" val="1983240846"/>
                    </a:ext>
                  </a:extLst>
                </a:gridCol>
                <a:gridCol w="194415">
                  <a:extLst>
                    <a:ext uri="{9D8B030D-6E8A-4147-A177-3AD203B41FA5}">
                      <a16:colId xmlns:a16="http://schemas.microsoft.com/office/drawing/2014/main" val="3385868694"/>
                    </a:ext>
                  </a:extLst>
                </a:gridCol>
                <a:gridCol w="161622">
                  <a:extLst>
                    <a:ext uri="{9D8B030D-6E8A-4147-A177-3AD203B41FA5}">
                      <a16:colId xmlns:a16="http://schemas.microsoft.com/office/drawing/2014/main" val="287174346"/>
                    </a:ext>
                  </a:extLst>
                </a:gridCol>
                <a:gridCol w="182703">
                  <a:extLst>
                    <a:ext uri="{9D8B030D-6E8A-4147-A177-3AD203B41FA5}">
                      <a16:colId xmlns:a16="http://schemas.microsoft.com/office/drawing/2014/main" val="1249092463"/>
                    </a:ext>
                  </a:extLst>
                </a:gridCol>
                <a:gridCol w="84325">
                  <a:extLst>
                    <a:ext uri="{9D8B030D-6E8A-4147-A177-3AD203B41FA5}">
                      <a16:colId xmlns:a16="http://schemas.microsoft.com/office/drawing/2014/main" val="4169786586"/>
                    </a:ext>
                  </a:extLst>
                </a:gridCol>
                <a:gridCol w="89009">
                  <a:extLst>
                    <a:ext uri="{9D8B030D-6E8A-4147-A177-3AD203B41FA5}">
                      <a16:colId xmlns:a16="http://schemas.microsoft.com/office/drawing/2014/main" val="3547383617"/>
                    </a:ext>
                  </a:extLst>
                </a:gridCol>
                <a:gridCol w="121802">
                  <a:extLst>
                    <a:ext uri="{9D8B030D-6E8A-4147-A177-3AD203B41FA5}">
                      <a16:colId xmlns:a16="http://schemas.microsoft.com/office/drawing/2014/main" val="2294150298"/>
                    </a:ext>
                  </a:extLst>
                </a:gridCol>
                <a:gridCol w="100721">
                  <a:extLst>
                    <a:ext uri="{9D8B030D-6E8A-4147-A177-3AD203B41FA5}">
                      <a16:colId xmlns:a16="http://schemas.microsoft.com/office/drawing/2014/main" val="1261745903"/>
                    </a:ext>
                  </a:extLst>
                </a:gridCol>
                <a:gridCol w="251217">
                  <a:extLst>
                    <a:ext uri="{9D8B030D-6E8A-4147-A177-3AD203B41FA5}">
                      <a16:colId xmlns:a16="http://schemas.microsoft.com/office/drawing/2014/main" val="888247754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3038071145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1047367097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1142237465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2829485041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2479534554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2601071018"/>
                    </a:ext>
                  </a:extLst>
                </a:gridCol>
                <a:gridCol w="98379">
                  <a:extLst>
                    <a:ext uri="{9D8B030D-6E8A-4147-A177-3AD203B41FA5}">
                      <a16:colId xmlns:a16="http://schemas.microsoft.com/office/drawing/2014/main" val="2299367301"/>
                    </a:ext>
                  </a:extLst>
                </a:gridCol>
                <a:gridCol w="269371">
                  <a:extLst>
                    <a:ext uri="{9D8B030D-6E8A-4147-A177-3AD203B41FA5}">
                      <a16:colId xmlns:a16="http://schemas.microsoft.com/office/drawing/2014/main" val="520328240"/>
                    </a:ext>
                  </a:extLst>
                </a:gridCol>
                <a:gridCol w="159866">
                  <a:extLst>
                    <a:ext uri="{9D8B030D-6E8A-4147-A177-3AD203B41FA5}">
                      <a16:colId xmlns:a16="http://schemas.microsoft.com/office/drawing/2014/main" val="3533929048"/>
                    </a:ext>
                  </a:extLst>
                </a:gridCol>
                <a:gridCol w="159866">
                  <a:extLst>
                    <a:ext uri="{9D8B030D-6E8A-4147-A177-3AD203B41FA5}">
                      <a16:colId xmlns:a16="http://schemas.microsoft.com/office/drawing/2014/main" val="824176000"/>
                    </a:ext>
                  </a:extLst>
                </a:gridCol>
                <a:gridCol w="138199">
                  <a:extLst>
                    <a:ext uri="{9D8B030D-6E8A-4147-A177-3AD203B41FA5}">
                      <a16:colId xmlns:a16="http://schemas.microsoft.com/office/drawing/2014/main" val="3093048121"/>
                    </a:ext>
                  </a:extLst>
                </a:gridCol>
                <a:gridCol w="163965">
                  <a:extLst>
                    <a:ext uri="{9D8B030D-6E8A-4147-A177-3AD203B41FA5}">
                      <a16:colId xmlns:a16="http://schemas.microsoft.com/office/drawing/2014/main" val="1910117404"/>
                    </a:ext>
                  </a:extLst>
                </a:gridCol>
                <a:gridCol w="187388">
                  <a:extLst>
                    <a:ext uri="{9D8B030D-6E8A-4147-A177-3AD203B41FA5}">
                      <a16:colId xmlns:a16="http://schemas.microsoft.com/office/drawing/2014/main" val="441956273"/>
                    </a:ext>
                  </a:extLst>
                </a:gridCol>
                <a:gridCol w="264686">
                  <a:extLst>
                    <a:ext uri="{9D8B030D-6E8A-4147-A177-3AD203B41FA5}">
                      <a16:colId xmlns:a16="http://schemas.microsoft.com/office/drawing/2014/main" val="2862458352"/>
                    </a:ext>
                  </a:extLst>
                </a:gridCol>
                <a:gridCol w="152253">
                  <a:extLst>
                    <a:ext uri="{9D8B030D-6E8A-4147-A177-3AD203B41FA5}">
                      <a16:colId xmlns:a16="http://schemas.microsoft.com/office/drawing/2014/main" val="3820330678"/>
                    </a:ext>
                  </a:extLst>
                </a:gridCol>
                <a:gridCol w="234235">
                  <a:extLst>
                    <a:ext uri="{9D8B030D-6E8A-4147-A177-3AD203B41FA5}">
                      <a16:colId xmlns:a16="http://schemas.microsoft.com/office/drawing/2014/main" val="1938966957"/>
                    </a:ext>
                  </a:extLst>
                </a:gridCol>
                <a:gridCol w="156938">
                  <a:extLst>
                    <a:ext uri="{9D8B030D-6E8A-4147-A177-3AD203B41FA5}">
                      <a16:colId xmlns:a16="http://schemas.microsoft.com/office/drawing/2014/main" val="1108211564"/>
                    </a:ext>
                  </a:extLst>
                </a:gridCol>
                <a:gridCol w="217839">
                  <a:extLst>
                    <a:ext uri="{9D8B030D-6E8A-4147-A177-3AD203B41FA5}">
                      <a16:colId xmlns:a16="http://schemas.microsoft.com/office/drawing/2014/main" val="2795316150"/>
                    </a:ext>
                  </a:extLst>
                </a:gridCol>
              </a:tblGrid>
              <a:tr h="6365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service CH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Reference document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1 Articles CGI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2 Articles CGI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 Articles CGI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 Articles CGI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5 Articles CGI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disposition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Date mutation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Nature mutation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Valeur </a:t>
                      </a:r>
                      <a:r>
                        <a:rPr lang="fr-FR" sz="500" u="none" strike="noStrike" dirty="0" err="1">
                          <a:effectLst/>
                        </a:rPr>
                        <a:t>fonciere</a:t>
                      </a:r>
                      <a:endParaRPr lang="fr-FR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B/T/Q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type de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Type de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Voie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ID commune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postal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Commune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departement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commune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Préfixe de section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Section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plan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 Volume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1er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1er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2eme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3eme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4eme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5eme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Carrez du 5eme lot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Nombre de lots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Code type local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Type local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Identifiant local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reelle bati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Nombre pieces principales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Nature culture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Nature culture speciale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Surface terrain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Nom de l'acquereur</a:t>
                      </a:r>
                      <a:endParaRPr lang="fr-FR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/>
                </a:tc>
                <a:extLst>
                  <a:ext uri="{0D108BD9-81ED-4DB2-BD59-A6C34878D82A}">
                    <a16:rowId xmlns:a16="http://schemas.microsoft.com/office/drawing/2014/main" val="843260522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165000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347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RUE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DU CHATEAU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1170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CHEVRY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103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48,22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GUIRAO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2022533275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355680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BD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EDOUARD BAUDOIN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6160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ANTIBES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004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CP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186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132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39,11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HARNOIS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1415794729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229500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RUE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3975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MARCEAU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142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6000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NICE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088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LS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169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99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80,25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82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ROGIER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3672792100"/>
                  </a:ext>
                </a:extLst>
              </a:tr>
              <a:tr h="351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125000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550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1011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DES VESPINS RN7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228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6700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SAINT LAURENT DU VAR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123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AO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348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242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27,51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BOCQUIER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1010318566"/>
                  </a:ext>
                </a:extLst>
              </a:tr>
              <a:tr h="636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2020/01/02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Vente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90000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9300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RES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A084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LES ARPEGES BD DES ABA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326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13400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AUBAGNE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005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AW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224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218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47,33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1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Appartement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47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500" u="none" strike="noStrike">
                          <a:effectLst/>
                        </a:rPr>
                        <a:t>2</a:t>
                      </a: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500" u="none" strike="noStrike" dirty="0">
                          <a:effectLst/>
                        </a:rPr>
                        <a:t>GUILLOSSOU</a:t>
                      </a:r>
                      <a:endParaRPr lang="fr-FR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758" marR="1758" marT="1758" marB="0" anchor="b"/>
                </a:tc>
                <a:extLst>
                  <a:ext uri="{0D108BD9-81ED-4DB2-BD59-A6C34878D82A}">
                    <a16:rowId xmlns:a16="http://schemas.microsoft.com/office/drawing/2014/main" val="3511807806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AAFAE73D-F420-29E9-CEB1-095B71D29131}"/>
              </a:ext>
            </a:extLst>
          </p:cNvPr>
          <p:cNvSpPr txBox="1"/>
          <p:nvPr/>
        </p:nvSpPr>
        <p:spPr>
          <a:xfrm>
            <a:off x="8018852" y="2454321"/>
            <a:ext cx="1031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Avant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3D842EB-914F-293A-EFA8-B136D02FC48C}"/>
              </a:ext>
            </a:extLst>
          </p:cNvPr>
          <p:cNvSpPr txBox="1"/>
          <p:nvPr/>
        </p:nvSpPr>
        <p:spPr>
          <a:xfrm>
            <a:off x="8018853" y="3799880"/>
            <a:ext cx="1125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Après</a:t>
            </a:r>
            <a:endParaRPr lang="fr-FR" sz="1800" b="1" dirty="0">
              <a:solidFill>
                <a:srgbClr val="FF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CE7D5E-0C2C-8632-9B5C-12D479A0AD43}"/>
              </a:ext>
            </a:extLst>
          </p:cNvPr>
          <p:cNvSpPr txBox="1"/>
          <p:nvPr/>
        </p:nvSpPr>
        <p:spPr>
          <a:xfrm>
            <a:off x="8018851" y="4142013"/>
            <a:ext cx="1031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nettoyage</a:t>
            </a:r>
            <a:endParaRPr lang="fr-FR" sz="1100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5F742AF9-4459-D8F1-0CA8-26E24277D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>
            <a:extLst>
              <a:ext uri="{FF2B5EF4-FFF2-40B4-BE49-F238E27FC236}">
                <a16:creationId xmlns:a16="http://schemas.microsoft.com/office/drawing/2014/main" id="{002CEA59-E54B-3113-D7A0-CA0A0F4AF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0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Transformation des données</a:t>
            </a:r>
            <a:endParaRPr b="0" dirty="0"/>
          </a:p>
        </p:txBody>
      </p:sp>
      <p:sp>
        <p:nvSpPr>
          <p:cNvPr id="287" name="Google Shape;287;p36">
            <a:extLst>
              <a:ext uri="{FF2B5EF4-FFF2-40B4-BE49-F238E27FC236}">
                <a16:creationId xmlns:a16="http://schemas.microsoft.com/office/drawing/2014/main" id="{E35948CA-9769-122A-3A89-EDFD54F92F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>
            <a:extLst>
              <a:ext uri="{FF2B5EF4-FFF2-40B4-BE49-F238E27FC236}">
                <a16:creationId xmlns:a16="http://schemas.microsoft.com/office/drawing/2014/main" id="{F4E216F7-8B6C-FA86-544F-9A7676252F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2722F0F-5878-482D-DF76-A38F959659C3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526098" y="917227"/>
            <a:ext cx="870172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Sélection des colonnes utiles (suppression des colonnes redondantes).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des tables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departement / commune / vente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(3NF).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Suppression des doublons sur les dimensions (ex : régions/départements/communes).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des clés 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id_vente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auto-increment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côté SQLite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id_codedep_codecommune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concat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code_departement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code_commune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(avec zéros)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Nettoyages 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décimales : virgule → point (pour REAL)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gestion des valeurs manquantes (NULL)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création d’une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vente_clean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avec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date_iso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(filtrage T1/T2 fiable)</a:t>
            </a:r>
            <a:endParaRPr lang="fr-FR" altLang="fr-FR" sz="1200" dirty="0">
              <a:solidFill>
                <a:schemeClr val="tx1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Chargement dans l’ordre : </a:t>
            </a:r>
            <a:r>
              <a:rPr kumimoji="0" lang="fr-FR" altLang="fr-F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departement → commune → vente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Contrôles : clés primaires uniques +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keys OK.</a:t>
            </a:r>
          </a:p>
        </p:txBody>
      </p:sp>
    </p:spTree>
    <p:extLst>
      <p:ext uri="{BB962C8B-B14F-4D97-AF65-F5344CB8AC3E}">
        <p14:creationId xmlns:p14="http://schemas.microsoft.com/office/powerpoint/2010/main" val="154931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0"/>
            <a:ext cx="8189842" cy="389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400" b="0" dirty="0"/>
              <a:t>L’extrait du dictionnaire des données</a:t>
            </a:r>
            <a:endParaRPr sz="2400" b="0"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C955D4A-8194-4A59-B694-EA66F79FB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12723"/>
              </p:ext>
            </p:extLst>
          </p:nvPr>
        </p:nvGraphicFramePr>
        <p:xfrm>
          <a:off x="473527" y="577211"/>
          <a:ext cx="8594273" cy="16640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5468">
                  <a:extLst>
                    <a:ext uri="{9D8B030D-6E8A-4147-A177-3AD203B41FA5}">
                      <a16:colId xmlns:a16="http://schemas.microsoft.com/office/drawing/2014/main" val="1749108775"/>
                    </a:ext>
                  </a:extLst>
                </a:gridCol>
                <a:gridCol w="2351381">
                  <a:extLst>
                    <a:ext uri="{9D8B030D-6E8A-4147-A177-3AD203B41FA5}">
                      <a16:colId xmlns:a16="http://schemas.microsoft.com/office/drawing/2014/main" val="3777437666"/>
                    </a:ext>
                  </a:extLst>
                </a:gridCol>
                <a:gridCol w="422388">
                  <a:extLst>
                    <a:ext uri="{9D8B030D-6E8A-4147-A177-3AD203B41FA5}">
                      <a16:colId xmlns:a16="http://schemas.microsoft.com/office/drawing/2014/main" val="262460540"/>
                    </a:ext>
                  </a:extLst>
                </a:gridCol>
                <a:gridCol w="498764">
                  <a:extLst>
                    <a:ext uri="{9D8B030D-6E8A-4147-A177-3AD203B41FA5}">
                      <a16:colId xmlns:a16="http://schemas.microsoft.com/office/drawing/2014/main" val="3257469979"/>
                    </a:ext>
                  </a:extLst>
                </a:gridCol>
                <a:gridCol w="503530">
                  <a:extLst>
                    <a:ext uri="{9D8B030D-6E8A-4147-A177-3AD203B41FA5}">
                      <a16:colId xmlns:a16="http://schemas.microsoft.com/office/drawing/2014/main" val="3411529673"/>
                    </a:ext>
                  </a:extLst>
                </a:gridCol>
                <a:gridCol w="1995781">
                  <a:extLst>
                    <a:ext uri="{9D8B030D-6E8A-4147-A177-3AD203B41FA5}">
                      <a16:colId xmlns:a16="http://schemas.microsoft.com/office/drawing/2014/main" val="2237817304"/>
                    </a:ext>
                  </a:extLst>
                </a:gridCol>
                <a:gridCol w="786961">
                  <a:extLst>
                    <a:ext uri="{9D8B030D-6E8A-4147-A177-3AD203B41FA5}">
                      <a16:colId xmlns:a16="http://schemas.microsoft.com/office/drawing/2014/main" val="3802719215"/>
                    </a:ext>
                  </a:extLst>
                </a:gridCol>
              </a:tblGrid>
              <a:tr h="981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TYPE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LONGUEUR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NATURE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16394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id_vente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auto incrémentions de 1 jusqu’à la fin pour chaque ventes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Integer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Elémentaire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708925877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id_codedep_codecommune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concaténation entre Code departement et Code commune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departement + code communes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727899034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Date mutation (date_mutation)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Date de la vente / mutation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Date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Format date (AAAA-MM-JJ).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1795941468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Nature mutation (nature_mutation)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Type de mutation (vente, etc.)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5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et = à "Ventes"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447178782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Valeur fonciere (valeur_fonciere)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Prix de transaction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Decimal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nullable  =&gt;0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3929483159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type local (code_type_local)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du type de bien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1=Maison, 2=Appartement chiffre oblgrt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146631005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type local (type_local)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type de local du  bien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11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"Maison" ou "Appartement" 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854724145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reelle bati  (surface_reelle_bati)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bâtie (m²)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805496609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Nombre </a:t>
                      </a:r>
                      <a:r>
                        <a:rPr lang="fr-FR" sz="700" u="none" strike="noStrike" dirty="0" err="1">
                          <a:effectLst/>
                        </a:rPr>
                        <a:t>pieces</a:t>
                      </a:r>
                      <a:r>
                        <a:rPr lang="fr-FR" sz="700" u="none" strike="noStrike" dirty="0">
                          <a:effectLst/>
                        </a:rPr>
                        <a:t> principales (nb_pieces_principales)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Nb de pièces principales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639147159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Nombre de lots (nb_lots)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Nb de lots vendus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&gt;=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2650767311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Carrez du 1er lot (surface_carrez_lot1)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Carrez lot 1 (m²)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Decimal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&gt;= 0 chiffre obligatoirement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1926119836"/>
                  </a:ext>
                </a:extLst>
              </a:tr>
              <a:tr h="981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Surface terrain (</a:t>
                      </a:r>
                      <a:r>
                        <a:rPr lang="fr-FR" sz="700" u="none" strike="noStrike" dirty="0" err="1">
                          <a:effectLst/>
                        </a:rPr>
                        <a:t>surface_terrain</a:t>
                      </a:r>
                      <a:r>
                        <a:rPr lang="fr-FR" sz="700" u="none" strike="noStrike" dirty="0">
                          <a:effectLst/>
                        </a:rPr>
                        <a:t>)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Surface du terrain (m²)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Integer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Elémentaire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nul possible, (ex appartement =nul ou maison sans terrain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09" marR="4909" marT="4909" marB="0" anchor="b"/>
                </a:tc>
                <a:extLst>
                  <a:ext uri="{0D108BD9-81ED-4DB2-BD59-A6C34878D82A}">
                    <a16:rowId xmlns:a16="http://schemas.microsoft.com/office/drawing/2014/main" val="161782541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B36C0F6-C05B-3D3C-A7CD-5A4146FE2C51}"/>
              </a:ext>
            </a:extLst>
          </p:cNvPr>
          <p:cNvSpPr txBox="1"/>
          <p:nvPr/>
        </p:nvSpPr>
        <p:spPr>
          <a:xfrm>
            <a:off x="473527" y="364322"/>
            <a:ext cx="2176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‘vente’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B287EB5-EA97-F5AA-3BA5-7907DB61A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9512"/>
              </p:ext>
            </p:extLst>
          </p:nvPr>
        </p:nvGraphicFramePr>
        <p:xfrm>
          <a:off x="473526" y="2423288"/>
          <a:ext cx="6783179" cy="984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532">
                  <a:extLst>
                    <a:ext uri="{9D8B030D-6E8A-4147-A177-3AD203B41FA5}">
                      <a16:colId xmlns:a16="http://schemas.microsoft.com/office/drawing/2014/main" val="422313547"/>
                    </a:ext>
                  </a:extLst>
                </a:gridCol>
                <a:gridCol w="1945570">
                  <a:extLst>
                    <a:ext uri="{9D8B030D-6E8A-4147-A177-3AD203B41FA5}">
                      <a16:colId xmlns:a16="http://schemas.microsoft.com/office/drawing/2014/main" val="139573203"/>
                    </a:ext>
                  </a:extLst>
                </a:gridCol>
                <a:gridCol w="508891">
                  <a:extLst>
                    <a:ext uri="{9D8B030D-6E8A-4147-A177-3AD203B41FA5}">
                      <a16:colId xmlns:a16="http://schemas.microsoft.com/office/drawing/2014/main" val="3077773333"/>
                    </a:ext>
                  </a:extLst>
                </a:gridCol>
                <a:gridCol w="540632">
                  <a:extLst>
                    <a:ext uri="{9D8B030D-6E8A-4147-A177-3AD203B41FA5}">
                      <a16:colId xmlns:a16="http://schemas.microsoft.com/office/drawing/2014/main" val="1436834534"/>
                    </a:ext>
                  </a:extLst>
                </a:gridCol>
                <a:gridCol w="507295">
                  <a:extLst>
                    <a:ext uri="{9D8B030D-6E8A-4147-A177-3AD203B41FA5}">
                      <a16:colId xmlns:a16="http://schemas.microsoft.com/office/drawing/2014/main" val="3522232988"/>
                    </a:ext>
                  </a:extLst>
                </a:gridCol>
                <a:gridCol w="1235957">
                  <a:extLst>
                    <a:ext uri="{9D8B030D-6E8A-4147-A177-3AD203B41FA5}">
                      <a16:colId xmlns:a16="http://schemas.microsoft.com/office/drawing/2014/main" val="806482253"/>
                    </a:ext>
                  </a:extLst>
                </a:gridCol>
                <a:gridCol w="780302">
                  <a:extLst>
                    <a:ext uri="{9D8B030D-6E8A-4147-A177-3AD203B41FA5}">
                      <a16:colId xmlns:a16="http://schemas.microsoft.com/office/drawing/2014/main" val="440408286"/>
                    </a:ext>
                  </a:extLst>
                </a:gridCol>
              </a:tblGrid>
              <a:tr h="162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TYPE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LONGUEUR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NATURE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372888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id_codedep_codecommune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concaténation entre CODDEP et  CODCOM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Varchar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Elémentaire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CODDEP + CODCOM non nul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1148229310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CODDEP  (</a:t>
                      </a:r>
                      <a:r>
                        <a:rPr lang="fr-FR" sz="700" u="none" strike="noStrike" dirty="0" err="1">
                          <a:effectLst/>
                        </a:rPr>
                        <a:t>code_departement</a:t>
                      </a:r>
                      <a:r>
                        <a:rPr lang="fr-FR" sz="700" u="none" strike="noStrike" dirty="0">
                          <a:effectLst/>
                        </a:rPr>
                        <a:t>)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INSEE du département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461875890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CODCOM (</a:t>
                      </a:r>
                      <a:r>
                        <a:rPr lang="fr-FR" sz="700" u="none" strike="noStrike" dirty="0" err="1">
                          <a:effectLst/>
                        </a:rPr>
                        <a:t>code_commune</a:t>
                      </a:r>
                      <a:r>
                        <a:rPr lang="fr-FR" sz="700" u="none" strike="noStrike" dirty="0">
                          <a:effectLst/>
                        </a:rPr>
                        <a:t>)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commune dans le département (3 chiffres)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 3 caractères max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3426736809"/>
                  </a:ext>
                </a:extLst>
              </a:tr>
              <a:tr h="1626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COM (nom_commune)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Nom de la commune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100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1478928260"/>
                  </a:ext>
                </a:extLst>
              </a:tr>
              <a:tr h="891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PTOT (population_totale)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Population totale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INT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NC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91" marR="6791" marT="6791" marB="0" anchor="b"/>
                </a:tc>
                <a:extLst>
                  <a:ext uri="{0D108BD9-81ED-4DB2-BD59-A6C34878D82A}">
                    <a16:rowId xmlns:a16="http://schemas.microsoft.com/office/drawing/2014/main" val="607468601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11AC9867-BDE8-B421-60D8-BB772262AD89}"/>
              </a:ext>
            </a:extLst>
          </p:cNvPr>
          <p:cNvSpPr txBox="1"/>
          <p:nvPr/>
        </p:nvSpPr>
        <p:spPr>
          <a:xfrm>
            <a:off x="389008" y="2186454"/>
            <a:ext cx="24938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‘commune’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57D0E0E7-9237-3FEF-F6ED-94B10FB2B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9236"/>
              </p:ext>
            </p:extLst>
          </p:nvPr>
        </p:nvGraphicFramePr>
        <p:xfrm>
          <a:off x="473526" y="3607290"/>
          <a:ext cx="5795531" cy="6338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9338">
                  <a:extLst>
                    <a:ext uri="{9D8B030D-6E8A-4147-A177-3AD203B41FA5}">
                      <a16:colId xmlns:a16="http://schemas.microsoft.com/office/drawing/2014/main" val="1689553687"/>
                    </a:ext>
                  </a:extLst>
                </a:gridCol>
                <a:gridCol w="1185363">
                  <a:extLst>
                    <a:ext uri="{9D8B030D-6E8A-4147-A177-3AD203B41FA5}">
                      <a16:colId xmlns:a16="http://schemas.microsoft.com/office/drawing/2014/main" val="1090879948"/>
                    </a:ext>
                  </a:extLst>
                </a:gridCol>
                <a:gridCol w="516445">
                  <a:extLst>
                    <a:ext uri="{9D8B030D-6E8A-4147-A177-3AD203B41FA5}">
                      <a16:colId xmlns:a16="http://schemas.microsoft.com/office/drawing/2014/main" val="1880164706"/>
                    </a:ext>
                  </a:extLst>
                </a:gridCol>
                <a:gridCol w="642688">
                  <a:extLst>
                    <a:ext uri="{9D8B030D-6E8A-4147-A177-3AD203B41FA5}">
                      <a16:colId xmlns:a16="http://schemas.microsoft.com/office/drawing/2014/main" val="1408782247"/>
                    </a:ext>
                  </a:extLst>
                </a:gridCol>
                <a:gridCol w="507501">
                  <a:extLst>
                    <a:ext uri="{9D8B030D-6E8A-4147-A177-3AD203B41FA5}">
                      <a16:colId xmlns:a16="http://schemas.microsoft.com/office/drawing/2014/main" val="300210935"/>
                    </a:ext>
                  </a:extLst>
                </a:gridCol>
                <a:gridCol w="912313">
                  <a:extLst>
                    <a:ext uri="{9D8B030D-6E8A-4147-A177-3AD203B41FA5}">
                      <a16:colId xmlns:a16="http://schemas.microsoft.com/office/drawing/2014/main" val="1201640649"/>
                    </a:ext>
                  </a:extLst>
                </a:gridCol>
                <a:gridCol w="791883">
                  <a:extLst>
                    <a:ext uri="{9D8B030D-6E8A-4147-A177-3AD203B41FA5}">
                      <a16:colId xmlns:a16="http://schemas.microsoft.com/office/drawing/2014/main" val="1291995125"/>
                    </a:ext>
                  </a:extLst>
                </a:gridCol>
              </a:tblGrid>
              <a:tr h="1378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TYPE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LONGUEUR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NATURE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359949"/>
                  </a:ext>
                </a:extLst>
              </a:tr>
              <a:tr h="1378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code_departement (CODDEP)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INSEE du département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b"/>
                </a:tc>
                <a:extLst>
                  <a:ext uri="{0D108BD9-81ED-4DB2-BD59-A6C34878D82A}">
                    <a16:rowId xmlns:a16="http://schemas.microsoft.com/office/drawing/2014/main" val="2328351033"/>
                  </a:ext>
                </a:extLst>
              </a:tr>
              <a:tr h="1378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code_region (CODREG)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INSEE de la région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2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NC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b"/>
                </a:tc>
                <a:extLst>
                  <a:ext uri="{0D108BD9-81ED-4DB2-BD59-A6C34878D82A}">
                    <a16:rowId xmlns:a16="http://schemas.microsoft.com/office/drawing/2014/main" val="1455937055"/>
                  </a:ext>
                </a:extLst>
              </a:tr>
              <a:tr h="1378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 dirty="0" err="1">
                          <a:effectLst/>
                        </a:rPr>
                        <a:t>nom_departement</a:t>
                      </a:r>
                      <a:r>
                        <a:rPr lang="fr-FR" sz="700" u="none" strike="noStrike" dirty="0">
                          <a:effectLst/>
                        </a:rPr>
                        <a:t> (</a:t>
                      </a:r>
                      <a:r>
                        <a:rPr lang="fr-FR" sz="700" u="none" strike="noStrike" dirty="0" err="1">
                          <a:effectLst/>
                        </a:rPr>
                        <a:t>dep_nom</a:t>
                      </a:r>
                      <a:r>
                        <a:rPr lang="fr-FR" sz="700" u="none" strike="noStrike" dirty="0">
                          <a:effectLst/>
                        </a:rPr>
                        <a:t>)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Nom du département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50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 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94" marR="6894" marT="6894" marB="0" anchor="b"/>
                </a:tc>
                <a:extLst>
                  <a:ext uri="{0D108BD9-81ED-4DB2-BD59-A6C34878D82A}">
                    <a16:rowId xmlns:a16="http://schemas.microsoft.com/office/drawing/2014/main" val="2978208085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95BB49FC-11A2-AFB0-3C24-C021DE0CA838}"/>
              </a:ext>
            </a:extLst>
          </p:cNvPr>
          <p:cNvSpPr txBox="1"/>
          <p:nvPr/>
        </p:nvSpPr>
        <p:spPr>
          <a:xfrm>
            <a:off x="389008" y="3373440"/>
            <a:ext cx="3020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‘departement’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F6D3109-85AD-92D2-AE44-B3981591DBB5}"/>
              </a:ext>
            </a:extLst>
          </p:cNvPr>
          <p:cNvSpPr txBox="1"/>
          <p:nvPr/>
        </p:nvSpPr>
        <p:spPr>
          <a:xfrm>
            <a:off x="389008" y="4201942"/>
            <a:ext cx="24938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Extrait dictionnaire table ‘</a:t>
            </a:r>
            <a:r>
              <a:rPr lang="fr-FR" sz="1100" i="1" dirty="0" err="1"/>
              <a:t>region</a:t>
            </a:r>
            <a:r>
              <a:rPr lang="fr-FR" sz="1100" i="1" dirty="0"/>
              <a:t>’</a:t>
            </a: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3BD87C76-48D5-E45F-6B57-8667AE1B8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495790"/>
              </p:ext>
            </p:extLst>
          </p:nvPr>
        </p:nvGraphicFramePr>
        <p:xfrm>
          <a:off x="473526" y="4406225"/>
          <a:ext cx="5012874" cy="460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6267">
                  <a:extLst>
                    <a:ext uri="{9D8B030D-6E8A-4147-A177-3AD203B41FA5}">
                      <a16:colId xmlns:a16="http://schemas.microsoft.com/office/drawing/2014/main" val="3407942019"/>
                    </a:ext>
                  </a:extLst>
                </a:gridCol>
                <a:gridCol w="805784">
                  <a:extLst>
                    <a:ext uri="{9D8B030D-6E8A-4147-A177-3AD203B41FA5}">
                      <a16:colId xmlns:a16="http://schemas.microsoft.com/office/drawing/2014/main" val="2630184613"/>
                    </a:ext>
                  </a:extLst>
                </a:gridCol>
                <a:gridCol w="462884">
                  <a:extLst>
                    <a:ext uri="{9D8B030D-6E8A-4147-A177-3AD203B41FA5}">
                      <a16:colId xmlns:a16="http://schemas.microsoft.com/office/drawing/2014/main" val="486269378"/>
                    </a:ext>
                  </a:extLst>
                </a:gridCol>
                <a:gridCol w="539084">
                  <a:extLst>
                    <a:ext uri="{9D8B030D-6E8A-4147-A177-3AD203B41FA5}">
                      <a16:colId xmlns:a16="http://schemas.microsoft.com/office/drawing/2014/main" val="3002321360"/>
                    </a:ext>
                  </a:extLst>
                </a:gridCol>
                <a:gridCol w="545293">
                  <a:extLst>
                    <a:ext uri="{9D8B030D-6E8A-4147-A177-3AD203B41FA5}">
                      <a16:colId xmlns:a16="http://schemas.microsoft.com/office/drawing/2014/main" val="3694889826"/>
                    </a:ext>
                  </a:extLst>
                </a:gridCol>
                <a:gridCol w="910559">
                  <a:extLst>
                    <a:ext uri="{9D8B030D-6E8A-4147-A177-3AD203B41FA5}">
                      <a16:colId xmlns:a16="http://schemas.microsoft.com/office/drawing/2014/main" val="1150364078"/>
                    </a:ext>
                  </a:extLst>
                </a:gridCol>
                <a:gridCol w="793003">
                  <a:extLst>
                    <a:ext uri="{9D8B030D-6E8A-4147-A177-3AD203B41FA5}">
                      <a16:colId xmlns:a16="http://schemas.microsoft.com/office/drawing/2014/main" val="2094215240"/>
                    </a:ext>
                  </a:extLst>
                </a:gridCol>
              </a:tblGrid>
              <a:tr h="120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CODE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SIGNIFICATION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>
                          <a:effectLst/>
                        </a:rPr>
                        <a:t>TYPE</a:t>
                      </a:r>
                      <a:endParaRPr lang="fr-FR" sz="7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LONGUEUR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NATURE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GESTION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b="1" u="none" strike="noStrike" dirty="0">
                          <a:effectLst/>
                        </a:rPr>
                        <a:t>REGLE DE CALCUL</a:t>
                      </a:r>
                      <a:endParaRPr lang="fr-FR" sz="7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196775"/>
                  </a:ext>
                </a:extLst>
              </a:tr>
              <a:tr h="120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 err="1">
                          <a:effectLst/>
                        </a:rPr>
                        <a:t>reg_code</a:t>
                      </a:r>
                      <a:r>
                        <a:rPr lang="fr-FR" sz="700" u="none" strike="noStrike" dirty="0">
                          <a:effectLst/>
                        </a:rPr>
                        <a:t> (</a:t>
                      </a:r>
                      <a:r>
                        <a:rPr lang="fr-FR" sz="700" u="none" strike="noStrike" dirty="0" err="1">
                          <a:effectLst/>
                        </a:rPr>
                        <a:t>code_region</a:t>
                      </a:r>
                      <a:r>
                        <a:rPr lang="fr-FR" sz="700" u="none" strike="noStrike" dirty="0">
                          <a:effectLst/>
                        </a:rPr>
                        <a:t>) 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Code région INSEE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2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nul.  2 chiffres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 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extLst>
                  <a:ext uri="{0D108BD9-81ED-4DB2-BD59-A6C34878D82A}">
                    <a16:rowId xmlns:a16="http://schemas.microsoft.com/office/drawing/2014/main" val="477069985"/>
                  </a:ext>
                </a:extLst>
              </a:tr>
              <a:tr h="12034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reg_nom  (nom_region)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Nom de la région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VARCHAR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50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Élémentaire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>
                          <a:effectLst/>
                        </a:rPr>
                        <a:t>Non nul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u="none" strike="noStrike" dirty="0">
                          <a:effectLst/>
                        </a:rPr>
                        <a:t> </a:t>
                      </a:r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17" marR="6017" marT="6017" marB="0" anchor="b"/>
                </a:tc>
                <a:extLst>
                  <a:ext uri="{0D108BD9-81ED-4DB2-BD59-A6C34878D82A}">
                    <a16:rowId xmlns:a16="http://schemas.microsoft.com/office/drawing/2014/main" val="18558816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253897" y="132281"/>
            <a:ext cx="5615552" cy="4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 dirty="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97DAB8-41D1-6104-8804-5EA3BD06E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53" y="595198"/>
            <a:ext cx="7790775" cy="4514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2137288" y="271071"/>
            <a:ext cx="6328532" cy="620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nombre, ligne, capture d’écran">
            <a:extLst>
              <a:ext uri="{FF2B5EF4-FFF2-40B4-BE49-F238E27FC236}">
                <a16:creationId xmlns:a16="http://schemas.microsoft.com/office/drawing/2014/main" id="{68CB3DA2-1DDB-765D-4843-D0BDC8331B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80"/>
          <a:stretch>
            <a:fillRect/>
          </a:stretch>
        </p:blipFill>
        <p:spPr>
          <a:xfrm>
            <a:off x="228602" y="114538"/>
            <a:ext cx="1805697" cy="4789647"/>
          </a:xfrm>
          <a:prstGeom prst="rect">
            <a:avLst/>
          </a:prstGeom>
        </p:spPr>
      </p:pic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6790AECF-6163-C76E-C0C8-33F7278E7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17891"/>
              </p:ext>
            </p:extLst>
          </p:nvPr>
        </p:nvGraphicFramePr>
        <p:xfrm>
          <a:off x="2503170" y="1278731"/>
          <a:ext cx="2476500" cy="110680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346882898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177597493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Nombre de ligne par table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SQL hors en-tête CSV  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329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commune  :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34 991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0142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departement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564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region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772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-vente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34 169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46474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352FF20E-7FAA-7FD8-CB24-14A9C13C6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343266"/>
              </p:ext>
            </p:extLst>
          </p:nvPr>
        </p:nvGraphicFramePr>
        <p:xfrm>
          <a:off x="5248214" y="1278731"/>
          <a:ext cx="2476500" cy="110680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346882898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177597493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Nombre de ligne par table fichier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fr-F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CSV brut :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329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commune  :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34 992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0142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departement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564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region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772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-vente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34 170 lignes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464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90523" y="179631"/>
            <a:ext cx="4693532" cy="9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 dirty="0"/>
              <a:t>Les requêtes ou screenshot qui permettent de démontrer le bon chargement des données</a:t>
            </a:r>
            <a:endParaRPr sz="2400" b="0" dirty="0"/>
          </a:p>
        </p:txBody>
      </p:sp>
      <p:sp>
        <p:nvSpPr>
          <p:cNvPr id="322" name="Google Shape;322;p40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4623437" cy="117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SELECT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region) nb_regions,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departement) nb_departements,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commune) nb_communes,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n-US" sz="1400" dirty="0"/>
              <a:t> (SELECT COUNT(*) FROM vente) nb_ventes;</a:t>
            </a:r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2F114D-035C-A10E-91F8-8B388FE9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37" y="2699533"/>
            <a:ext cx="3439005" cy="457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 dirty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3277FD-02A5-E016-5F0C-B6ABD4AC2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8737" y="2846512"/>
            <a:ext cx="3528860" cy="682935"/>
          </a:xfrm>
        </p:spPr>
        <p:txBody>
          <a:bodyPr/>
          <a:lstStyle/>
          <a:p>
            <a:r>
              <a:rPr lang="fr-FR" dirty="0"/>
              <a:t>Une </a:t>
            </a:r>
            <a:r>
              <a:rPr lang="fr" dirty="0"/>
              <a:t>requête par slide</a:t>
            </a:r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40417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1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996575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Nombre total d’appartements vendus (S1 2020)</a:t>
            </a:r>
            <a:endParaRPr dirty="0"/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333500"/>
            <a:ext cx="6978592" cy="262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COUNT(*) AS nb_appart_vendus_S1_2020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type_local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nature_mutation = 'Vente’;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en-US" sz="1800" b="1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</a:t>
            </a:r>
            <a:endParaRPr lang="en-US"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ligne">
            <a:extLst>
              <a:ext uri="{FF2B5EF4-FFF2-40B4-BE49-F238E27FC236}">
                <a16:creationId xmlns:a16="http://schemas.microsoft.com/office/drawing/2014/main" id="{8A821B74-4A34-41E2-BB2D-EA4554519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064" y="2608327"/>
            <a:ext cx="1768515" cy="11156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6F514B0-ADB2-F02A-B479-7391B0DFE184}"/>
              </a:ext>
            </a:extLst>
          </p:cNvPr>
          <p:cNvSpPr txBox="1"/>
          <p:nvPr/>
        </p:nvSpPr>
        <p:spPr>
          <a:xfrm>
            <a:off x="389008" y="3874493"/>
            <a:ext cx="7502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Dans le premier semestre, 31 378 appartements ont été vendus.</a:t>
            </a:r>
          </a:p>
          <a:p>
            <a:r>
              <a:rPr lang="fr-FR" sz="1100" i="1" dirty="0"/>
              <a:t>Les données analysées concernent uniquement des mutations de type « Vente », ce qui permet de représenter fidèlement le marché immobilier.</a:t>
            </a:r>
          </a:p>
          <a:p>
            <a:endParaRPr lang="fr-FR" sz="11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E67DA11-57CC-9504-4C71-2F9FED2F3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DE52B2F3-731E-9EB6-0907-009E728695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387847" cy="452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r>
              <a:rPr lang="fr-FR" b="0" dirty="0"/>
              <a:t>Requête 2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BD95685-C482-AC25-3D74-1D9EFA000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EEB9E7D2-64DE-2E49-A036-E833C8F00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916" y="488646"/>
            <a:ext cx="6649101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dirty="0"/>
              <a:t>Le nombre de ventes d’appartement par région pour le 1</a:t>
            </a:r>
            <a:r>
              <a:rPr lang="fr-FR" baseline="30000" dirty="0"/>
              <a:t>er</a:t>
            </a:r>
            <a:r>
              <a:rPr lang="fr-FR" dirty="0"/>
              <a:t> semestre2020.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85119C1A-DEED-FA10-480E-3BB038967476}"/>
              </a:ext>
            </a:extLst>
          </p:cNvPr>
          <p:cNvSpPr txBox="1"/>
          <p:nvPr/>
        </p:nvSpPr>
        <p:spPr>
          <a:xfrm>
            <a:off x="389008" y="1193630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sz="1100" dirty="0"/>
              <a:t>SELECT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r.nom_region</a:t>
            </a:r>
            <a:r>
              <a:rPr lang="fr-FR" sz="1100" dirty="0"/>
              <a:t> AS </a:t>
            </a:r>
            <a:r>
              <a:rPr lang="fr-FR" sz="1100" dirty="0" err="1"/>
              <a:t>region</a:t>
            </a:r>
            <a:r>
              <a:rPr lang="fr-FR" sz="1100" dirty="0"/>
              <a:t>,</a:t>
            </a:r>
          </a:p>
          <a:p>
            <a:r>
              <a:rPr lang="fr-FR" sz="1100" dirty="0"/>
              <a:t>  COUNT(*) AS </a:t>
            </a:r>
            <a:r>
              <a:rPr lang="fr-FR" sz="1100" dirty="0" err="1"/>
              <a:t>nb_ventes_appart</a:t>
            </a:r>
            <a:endParaRPr lang="fr-FR" sz="1100" dirty="0"/>
          </a:p>
          <a:p>
            <a:r>
              <a:rPr lang="fr-FR" sz="1100" dirty="0"/>
              <a:t>FROM vente v</a:t>
            </a:r>
          </a:p>
          <a:p>
            <a:r>
              <a:rPr lang="fr-FR" sz="1100" dirty="0"/>
              <a:t>JOIN commune c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v.id_codedep_codecommune</a:t>
            </a:r>
            <a:r>
              <a:rPr lang="fr-FR" sz="1100" dirty="0"/>
              <a:t> = </a:t>
            </a:r>
            <a:r>
              <a:rPr lang="fr-FR" sz="1100" dirty="0" err="1"/>
              <a:t>c.id_codedep_codecommune</a:t>
            </a:r>
            <a:endParaRPr lang="fr-FR" sz="1100" dirty="0"/>
          </a:p>
          <a:p>
            <a:r>
              <a:rPr lang="fr-FR" sz="1100" dirty="0"/>
              <a:t>JOIN departement d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c.code_departement</a:t>
            </a:r>
            <a:r>
              <a:rPr lang="fr-FR" sz="1100" dirty="0"/>
              <a:t> = </a:t>
            </a:r>
            <a:r>
              <a:rPr lang="fr-FR" sz="1100" dirty="0" err="1"/>
              <a:t>d.code_departement</a:t>
            </a:r>
            <a:endParaRPr lang="fr-FR" sz="1100" dirty="0"/>
          </a:p>
          <a:p>
            <a:r>
              <a:rPr lang="fr-FR" sz="1100" dirty="0"/>
              <a:t>JOIN </a:t>
            </a:r>
            <a:r>
              <a:rPr lang="fr-FR" sz="1100" dirty="0" err="1"/>
              <a:t>region</a:t>
            </a:r>
            <a:r>
              <a:rPr lang="fr-FR" sz="1100" dirty="0"/>
              <a:t> r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d.code_region</a:t>
            </a:r>
            <a:r>
              <a:rPr lang="fr-FR" sz="1100" dirty="0"/>
              <a:t> = </a:t>
            </a:r>
            <a:r>
              <a:rPr lang="fr-FR" sz="1100" dirty="0" err="1"/>
              <a:t>r.code_region</a:t>
            </a:r>
            <a:endParaRPr lang="fr-FR" sz="1100" dirty="0"/>
          </a:p>
          <a:p>
            <a:r>
              <a:rPr lang="fr-FR" sz="1100" dirty="0"/>
              <a:t>WHERE </a:t>
            </a:r>
            <a:r>
              <a:rPr lang="fr-FR" sz="1100" dirty="0" err="1"/>
              <a:t>v.type_local</a:t>
            </a:r>
            <a:r>
              <a:rPr lang="fr-FR" sz="1100" dirty="0"/>
              <a:t> = 'Appartement'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v.nature_mutation</a:t>
            </a:r>
            <a:r>
              <a:rPr lang="fr-FR" sz="1100" dirty="0"/>
              <a:t> = 'Vente'</a:t>
            </a:r>
          </a:p>
          <a:p>
            <a:r>
              <a:rPr lang="fr-FR" sz="1100" dirty="0"/>
              <a:t>GROUP BY </a:t>
            </a:r>
            <a:r>
              <a:rPr lang="fr-FR" sz="1100" dirty="0" err="1"/>
              <a:t>r.nom_region</a:t>
            </a:r>
            <a:endParaRPr lang="fr-FR" sz="1100" dirty="0"/>
          </a:p>
          <a:p>
            <a:r>
              <a:rPr lang="fr-FR" sz="1100" dirty="0"/>
              <a:t>ORDER BY </a:t>
            </a:r>
            <a:r>
              <a:rPr lang="fr-FR" sz="1100" dirty="0" err="1"/>
              <a:t>nb_ventes_appart</a:t>
            </a:r>
            <a:r>
              <a:rPr lang="fr-FR" sz="1100" dirty="0"/>
              <a:t> DESC;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3166CE-8191-A176-C0E8-257388BF6132}"/>
              </a:ext>
            </a:extLst>
          </p:cNvPr>
          <p:cNvSpPr txBox="1"/>
          <p:nvPr/>
        </p:nvSpPr>
        <p:spPr>
          <a:xfrm>
            <a:off x="389008" y="4054602"/>
            <a:ext cx="7502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La région d’Ile de France concentre le plus grand nombre de ventes d’appartements sur la période étudiée.</a:t>
            </a:r>
            <a:br>
              <a:rPr lang="fr-FR" sz="1100" i="1" dirty="0"/>
            </a:br>
            <a:r>
              <a:rPr lang="fr-FR" sz="1100" i="1" dirty="0"/>
              <a:t>Cette répartition aide Laplace Immo à adapter ses actions commerciales selon l’activité régionale.</a:t>
            </a:r>
          </a:p>
          <a:p>
            <a:endParaRPr lang="fr-FR" sz="1100" dirty="0"/>
          </a:p>
        </p:txBody>
      </p:sp>
      <p:pic>
        <p:nvPicPr>
          <p:cNvPr id="4" name="Image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A8B78D6-5708-9E41-F625-AFAA178D0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22" y="1081133"/>
            <a:ext cx="2841212" cy="303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4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F96B591-414E-982E-8DC6-06A6B32EA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5A6C058-CA38-E58A-F255-68D7C8994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397434"/>
            <a:ext cx="8103828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Requête 3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13A58CF-66CF-3BEC-66C5-90D40D3A0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96124220-2665-D8B3-90CD-4E98110F2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Proportion d’appartements par le nombre de pièces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CBDE5D18-01DA-862E-C419-D9427C9DF7A2}"/>
              </a:ext>
            </a:extLst>
          </p:cNvPr>
          <p:cNvSpPr txBox="1"/>
          <p:nvPr/>
        </p:nvSpPr>
        <p:spPr>
          <a:xfrm>
            <a:off x="389008" y="1349836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sz="1100" dirty="0"/>
              <a:t>WITH app AS (</a:t>
            </a:r>
          </a:p>
          <a:p>
            <a:r>
              <a:rPr lang="fr-FR" sz="1100" dirty="0"/>
              <a:t>  SELECT </a:t>
            </a:r>
            <a:r>
              <a:rPr lang="fr-FR" sz="1100" dirty="0" err="1"/>
              <a:t>nb_pieces_principales</a:t>
            </a:r>
            <a:endParaRPr lang="fr-FR" sz="1100" dirty="0"/>
          </a:p>
          <a:p>
            <a:r>
              <a:rPr lang="fr-FR" sz="1100" dirty="0"/>
              <a:t>  FROM vente</a:t>
            </a:r>
          </a:p>
          <a:p>
            <a:r>
              <a:rPr lang="fr-FR" sz="1100" dirty="0"/>
              <a:t>  WHERE </a:t>
            </a:r>
            <a:r>
              <a:rPr lang="fr-FR" sz="1100" dirty="0" err="1"/>
              <a:t>type_local</a:t>
            </a:r>
            <a:r>
              <a:rPr lang="fr-FR" sz="1100" dirty="0"/>
              <a:t> = 'Appartement'</a:t>
            </a:r>
          </a:p>
          <a:p>
            <a:r>
              <a:rPr lang="fr-FR" sz="1100" dirty="0"/>
              <a:t>    AND </a:t>
            </a:r>
            <a:r>
              <a:rPr lang="fr-FR" sz="1100" dirty="0" err="1"/>
              <a:t>nature_mutation</a:t>
            </a:r>
            <a:r>
              <a:rPr lang="fr-FR" sz="1100" dirty="0"/>
              <a:t> = 'Vente'</a:t>
            </a:r>
          </a:p>
          <a:p>
            <a:r>
              <a:rPr lang="fr-FR" sz="1100" dirty="0"/>
              <a:t>    AND </a:t>
            </a:r>
            <a:r>
              <a:rPr lang="fr-FR" sz="1100" dirty="0" err="1"/>
              <a:t>nb_pieces_principales</a:t>
            </a:r>
            <a:r>
              <a:rPr lang="fr-FR" sz="1100" dirty="0"/>
              <a:t> IS NOT NULL</a:t>
            </a:r>
          </a:p>
          <a:p>
            <a:r>
              <a:rPr lang="fr-FR" sz="1100" dirty="0"/>
              <a:t>)</a:t>
            </a:r>
          </a:p>
          <a:p>
            <a:r>
              <a:rPr lang="fr-FR" sz="1100" dirty="0"/>
              <a:t>SELECT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nb_pieces_principales</a:t>
            </a:r>
            <a:r>
              <a:rPr lang="fr-FR" sz="1100" dirty="0"/>
              <a:t> AS </a:t>
            </a:r>
            <a:r>
              <a:rPr lang="fr-FR" sz="1100" dirty="0" err="1"/>
              <a:t>nb_pieces</a:t>
            </a:r>
            <a:r>
              <a:rPr lang="fr-FR" sz="1100" dirty="0"/>
              <a:t>,</a:t>
            </a:r>
          </a:p>
          <a:p>
            <a:r>
              <a:rPr lang="fr-FR" sz="1100" dirty="0"/>
              <a:t>  COUNT(*) AS </a:t>
            </a:r>
            <a:r>
              <a:rPr lang="fr-FR" sz="1100" dirty="0" err="1"/>
              <a:t>nb_ventes</a:t>
            </a:r>
            <a:r>
              <a:rPr lang="fr-FR" sz="1100" dirty="0"/>
              <a:t>,</a:t>
            </a:r>
          </a:p>
          <a:p>
            <a:r>
              <a:rPr lang="fr-FR" sz="1100" dirty="0"/>
              <a:t>  ROUND(100.0 * COUNT(*) / (SELECT COUNT(*) FROM app), 2) AS </a:t>
            </a:r>
            <a:r>
              <a:rPr lang="fr-FR" sz="1100" dirty="0" err="1"/>
              <a:t>proportion_pct</a:t>
            </a:r>
            <a:endParaRPr lang="fr-FR" sz="1100" dirty="0"/>
          </a:p>
          <a:p>
            <a:r>
              <a:rPr lang="fr-FR" sz="1100" dirty="0"/>
              <a:t>FROM app</a:t>
            </a:r>
          </a:p>
          <a:p>
            <a:r>
              <a:rPr lang="fr-FR" sz="1100" dirty="0"/>
              <a:t>GROUP BY </a:t>
            </a:r>
            <a:r>
              <a:rPr lang="fr-FR" sz="1100" dirty="0" err="1"/>
              <a:t>nb_pieces_principales</a:t>
            </a:r>
            <a:endParaRPr lang="fr-FR" sz="1100" dirty="0"/>
          </a:p>
          <a:p>
            <a:r>
              <a:rPr lang="fr-FR" sz="1100" dirty="0"/>
              <a:t>ORDER BY </a:t>
            </a:r>
            <a:r>
              <a:rPr lang="fr-FR" sz="1100" dirty="0" err="1"/>
              <a:t>nb_pieces_principales</a:t>
            </a:r>
            <a:r>
              <a:rPr lang="fr-FR" sz="1100" dirty="0"/>
              <a:t>;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56D3CF1-2B14-86D9-6B82-6FD80B83F206}"/>
              </a:ext>
            </a:extLst>
          </p:cNvPr>
          <p:cNvSpPr txBox="1"/>
          <p:nvPr/>
        </p:nvSpPr>
        <p:spPr>
          <a:xfrm>
            <a:off x="389008" y="4054602"/>
            <a:ext cx="7502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Les appartements de 2 et 3 pièces représentent la plus grande part des ventes.</a:t>
            </a:r>
            <a:br>
              <a:rPr lang="fr-FR" sz="1100" i="1" dirty="0"/>
            </a:br>
            <a:r>
              <a:rPr lang="fr-FR" sz="1100" i="1" dirty="0"/>
              <a:t>Cela indique que la demande se concentre majoritairement sur les typologies </a:t>
            </a:r>
            <a:r>
              <a:rPr lang="fr-FR" sz="1100" b="1" i="1" dirty="0"/>
              <a:t>[petites/moyennes] surfaces</a:t>
            </a:r>
            <a:r>
              <a:rPr lang="fr-FR" sz="1100" i="1" dirty="0"/>
              <a:t> (selon ton résultat).</a:t>
            </a:r>
          </a:p>
          <a:p>
            <a:endParaRPr lang="fr-FR" sz="1100" i="1" dirty="0"/>
          </a:p>
        </p:txBody>
      </p:sp>
      <p:pic>
        <p:nvPicPr>
          <p:cNvPr id="4" name="Image 3" descr="Une image contenant texte, nombre, capture d’écran, Police">
            <a:extLst>
              <a:ext uri="{FF2B5EF4-FFF2-40B4-BE49-F238E27FC236}">
                <a16:creationId xmlns:a16="http://schemas.microsoft.com/office/drawing/2014/main" id="{9DE9BF2D-1701-D18B-2DE3-363100C34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817" y="1712678"/>
            <a:ext cx="2139404" cy="231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75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6143111-29D2-0FAC-9D7E-226D3099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CF509B7-1AE9-3231-8BB6-BC245BB460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6780719" cy="538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lvl="0"/>
            <a:r>
              <a:rPr lang="fr-FR" b="0" dirty="0"/>
              <a:t>Requête 4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8C46D96-F3E3-836F-4232-29C6A25C06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78735495-3757-99DB-0C4A-23CDC43DB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8" y="852445"/>
            <a:ext cx="5526447" cy="29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Liste des 10 départements où le prix du mètre carré est le plus élevé.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E04B9C07-C67B-C177-ECE8-5BA7C3690EAA}"/>
              </a:ext>
            </a:extLst>
          </p:cNvPr>
          <p:cNvSpPr txBox="1"/>
          <p:nvPr/>
        </p:nvSpPr>
        <p:spPr>
          <a:xfrm>
            <a:off x="389008" y="1304170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sz="1100" dirty="0"/>
              <a:t>SELECT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d.code_departement</a:t>
            </a:r>
            <a:r>
              <a:rPr lang="fr-FR" sz="1100" dirty="0"/>
              <a:t>,</a:t>
            </a:r>
          </a:p>
          <a:p>
            <a:r>
              <a:rPr lang="fr-FR" sz="1100" dirty="0"/>
              <a:t>  </a:t>
            </a:r>
            <a:r>
              <a:rPr lang="fr-FR" sz="1100" dirty="0" err="1"/>
              <a:t>d.nom_departement</a:t>
            </a:r>
            <a:r>
              <a:rPr lang="fr-FR" sz="1100" dirty="0"/>
              <a:t>,</a:t>
            </a:r>
          </a:p>
          <a:p>
            <a:r>
              <a:rPr lang="fr-FR" sz="1100" dirty="0"/>
              <a:t>  ROUND(AVG(</a:t>
            </a:r>
            <a:r>
              <a:rPr lang="fr-FR" sz="1100" dirty="0" err="1"/>
              <a:t>v.valeur_fonciere</a:t>
            </a:r>
            <a:r>
              <a:rPr lang="fr-FR" sz="1100" dirty="0"/>
              <a:t> / </a:t>
            </a:r>
            <a:r>
              <a:rPr lang="fr-FR" sz="1100" dirty="0" err="1"/>
              <a:t>v.surface_reelle_bati</a:t>
            </a:r>
            <a:r>
              <a:rPr lang="fr-FR" sz="1100" dirty="0"/>
              <a:t>), 2) AS prix_m2_moyen</a:t>
            </a:r>
          </a:p>
          <a:p>
            <a:r>
              <a:rPr lang="fr-FR" sz="1100" dirty="0"/>
              <a:t>FROM vente v</a:t>
            </a:r>
          </a:p>
          <a:p>
            <a:r>
              <a:rPr lang="fr-FR" sz="1100" dirty="0"/>
              <a:t>JOIN commune c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v.id_codedep_codecommune</a:t>
            </a:r>
            <a:r>
              <a:rPr lang="fr-FR" sz="1100" dirty="0"/>
              <a:t> = </a:t>
            </a:r>
            <a:r>
              <a:rPr lang="fr-FR" sz="1100" dirty="0" err="1"/>
              <a:t>c.id_codedep_codecommune</a:t>
            </a:r>
            <a:endParaRPr lang="fr-FR" sz="1100" dirty="0"/>
          </a:p>
          <a:p>
            <a:r>
              <a:rPr lang="fr-FR" sz="1100" dirty="0"/>
              <a:t>JOIN departement d</a:t>
            </a:r>
          </a:p>
          <a:p>
            <a:r>
              <a:rPr lang="fr-FR" sz="1100" dirty="0"/>
              <a:t>  ON </a:t>
            </a:r>
            <a:r>
              <a:rPr lang="fr-FR" sz="1100" dirty="0" err="1"/>
              <a:t>c.code_departement</a:t>
            </a:r>
            <a:r>
              <a:rPr lang="fr-FR" sz="1100" dirty="0"/>
              <a:t> = </a:t>
            </a:r>
            <a:r>
              <a:rPr lang="fr-FR" sz="1100" dirty="0" err="1"/>
              <a:t>d.code_departement</a:t>
            </a:r>
            <a:endParaRPr lang="fr-FR" sz="1100" dirty="0"/>
          </a:p>
          <a:p>
            <a:r>
              <a:rPr lang="fr-FR" sz="1100" dirty="0"/>
              <a:t>WHERE </a:t>
            </a:r>
            <a:r>
              <a:rPr lang="fr-FR" sz="1100" dirty="0" err="1"/>
              <a:t>v.nature_mutation</a:t>
            </a:r>
            <a:r>
              <a:rPr lang="fr-FR" sz="1100" dirty="0"/>
              <a:t> = 'Vente'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v.valeur_fonciere</a:t>
            </a:r>
            <a:r>
              <a:rPr lang="fr-FR" sz="1100" dirty="0"/>
              <a:t> IS NOT NULL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v.surface_reelle_bati</a:t>
            </a:r>
            <a:r>
              <a:rPr lang="fr-FR" sz="1100" dirty="0"/>
              <a:t> IS NOT NULL</a:t>
            </a:r>
          </a:p>
          <a:p>
            <a:r>
              <a:rPr lang="fr-FR" sz="1100" dirty="0"/>
              <a:t>  AND </a:t>
            </a:r>
            <a:r>
              <a:rPr lang="fr-FR" sz="1100" dirty="0" err="1"/>
              <a:t>v.surface_reelle_bati</a:t>
            </a:r>
            <a:r>
              <a:rPr lang="fr-FR" sz="1100" dirty="0"/>
              <a:t> &gt; 0</a:t>
            </a:r>
          </a:p>
          <a:p>
            <a:r>
              <a:rPr lang="fr-FR" sz="1100" dirty="0"/>
              <a:t>GROUP BY </a:t>
            </a:r>
            <a:r>
              <a:rPr lang="fr-FR" sz="1100" dirty="0" err="1"/>
              <a:t>d.code_departement</a:t>
            </a:r>
            <a:r>
              <a:rPr lang="fr-FR" sz="1100" dirty="0"/>
              <a:t>, </a:t>
            </a:r>
            <a:r>
              <a:rPr lang="fr-FR" sz="1100" dirty="0" err="1"/>
              <a:t>d.nom_departement</a:t>
            </a:r>
            <a:endParaRPr lang="fr-FR" sz="1100" dirty="0"/>
          </a:p>
          <a:p>
            <a:r>
              <a:rPr lang="fr-FR" sz="1100" dirty="0"/>
              <a:t>ORDER BY prix_m2_moyen DESC</a:t>
            </a:r>
          </a:p>
          <a:p>
            <a:r>
              <a:rPr lang="fr-FR" sz="1100" dirty="0"/>
              <a:t>LIMIT 10;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CEE609B-FC73-DEC8-A4CC-C1A1392D378A}"/>
              </a:ext>
            </a:extLst>
          </p:cNvPr>
          <p:cNvSpPr txBox="1"/>
          <p:nvPr/>
        </p:nvSpPr>
        <p:spPr>
          <a:xfrm>
            <a:off x="389008" y="4247079"/>
            <a:ext cx="7502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Les départements les plus chers au m² sont principalement situés dans les zones urbaines et tendues.</a:t>
            </a:r>
            <a:br>
              <a:rPr lang="fr-FR" sz="1100" i="1" dirty="0"/>
            </a:br>
            <a:r>
              <a:rPr lang="fr-FR" sz="1100" i="1" dirty="0"/>
              <a:t>Ce classement permet d’identifier les marchés où le pouvoir d’achat immobilier est le plus élevé.</a:t>
            </a:r>
          </a:p>
        </p:txBody>
      </p:sp>
      <p:pic>
        <p:nvPicPr>
          <p:cNvPr id="4" name="Image 3" descr="Une image contenant texte, capture d’écran, nombre, Police">
            <a:extLst>
              <a:ext uri="{FF2B5EF4-FFF2-40B4-BE49-F238E27FC236}">
                <a16:creationId xmlns:a16="http://schemas.microsoft.com/office/drawing/2014/main" id="{1B8053FD-83EB-73FF-F406-CA61C619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702" y="1664678"/>
            <a:ext cx="3524742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0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0B65700-82BE-0F80-1579-396C3F6D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36873CC-EF03-3055-6DA0-C6A3DDCC7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260785"/>
            <a:ext cx="624991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lvl="0"/>
            <a:r>
              <a:rPr lang="fr-FR" b="0" dirty="0"/>
              <a:t>Requête 5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E71AEB2-6797-A78E-8609-8B961B247C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C2200343-87FC-4333-6FA7-54FE4A0C0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9008" y="906930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fr-FR" dirty="0"/>
              <a:t>Prix moyen du mètre carré d’une maison en Île-de-France.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8951D30A-5A12-C23A-9031-5F24DB0292E5}"/>
              </a:ext>
            </a:extLst>
          </p:cNvPr>
          <p:cNvSpPr txBox="1"/>
          <p:nvPr/>
        </p:nvSpPr>
        <p:spPr>
          <a:xfrm>
            <a:off x="389008" y="1332991"/>
            <a:ext cx="6978592" cy="232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ROUND(AVG(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2) AS prix_m2_maison_IDF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v.type_local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'Maison'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'Ile-de-France'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0;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 descr="Une image contenant texte, capture d’écran, Police, ligne">
            <a:extLst>
              <a:ext uri="{FF2B5EF4-FFF2-40B4-BE49-F238E27FC236}">
                <a16:creationId xmlns:a16="http://schemas.microsoft.com/office/drawing/2014/main" id="{E2B7B819-2121-40B2-2AC4-8F97C63FC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744" y="2812473"/>
            <a:ext cx="2247071" cy="92526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0CEBAC7-901D-246E-86B1-289C5C0BDECF}"/>
              </a:ext>
            </a:extLst>
          </p:cNvPr>
          <p:cNvSpPr txBox="1"/>
          <p:nvPr/>
        </p:nvSpPr>
        <p:spPr>
          <a:xfrm>
            <a:off x="534481" y="3969374"/>
            <a:ext cx="7502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prix moyen du m² pour une maison en Île-de-France est particulièrement élevé, ce qui reflète la forte tension immobilière dans cette région.</a:t>
            </a:r>
            <a:br>
              <a:rPr lang="fr-FR" sz="1100" i="1" dirty="0"/>
            </a:br>
            <a:r>
              <a:rPr lang="fr-FR" sz="1100" i="1" dirty="0"/>
              <a:t>Cette information est utile pour accompagner les clients dans l’estimation de leur budget.</a:t>
            </a:r>
          </a:p>
        </p:txBody>
      </p:sp>
    </p:spTree>
    <p:extLst>
      <p:ext uri="{BB962C8B-B14F-4D97-AF65-F5344CB8AC3E}">
        <p14:creationId xmlns:p14="http://schemas.microsoft.com/office/powerpoint/2010/main" val="2325751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D175A6C-86C6-6E6B-E04C-41003FA8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B8CA0C0-E0E6-C28E-F352-C6ECB1F80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F7CAE3F-9A97-0141-479B-9084DC4CDF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5BDFE13C-AA60-AA41-2700-189A5AAAE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592061"/>
            <a:ext cx="720869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dirty="0"/>
              <a:t>Liste des 10 appartements les plus chers avec la région et le nombre de mètres carrés.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0BD0C8D7-96FE-2F69-ED3D-003372550D81}"/>
              </a:ext>
            </a:extLst>
          </p:cNvPr>
          <p:cNvSpPr txBox="1"/>
          <p:nvPr/>
        </p:nvSpPr>
        <p:spPr>
          <a:xfrm>
            <a:off x="350149" y="1048732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v.id_vente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metres_carres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v.type_local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v.surface_reelle_bati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10;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88EF10C-607C-5B40-4934-A7C8EDF86DFD}"/>
              </a:ext>
            </a:extLst>
          </p:cNvPr>
          <p:cNvSpPr txBox="1"/>
          <p:nvPr/>
        </p:nvSpPr>
        <p:spPr>
          <a:xfrm>
            <a:off x="346230" y="4030080"/>
            <a:ext cx="812461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Les 10 appartements les plus chers se situent majoritairement dans des régions à forte tension immobilière (IDF).</a:t>
            </a:r>
          </a:p>
          <a:p>
            <a:r>
              <a:rPr lang="fr-FR" sz="1100" i="1" dirty="0"/>
              <a:t>L’ajout de la surface permet de contextualiser : un prix élevé peut venir soit d’un bien très grand, soit d’un prix au m² très élevé.</a:t>
            </a:r>
          </a:p>
          <a:p>
            <a:r>
              <a:rPr lang="fr-FR" sz="1100" i="1" dirty="0"/>
              <a:t>On observe un </a:t>
            </a:r>
            <a:r>
              <a:rPr lang="fr-FR" sz="1100" i="1" dirty="0" err="1"/>
              <a:t>outlier</a:t>
            </a:r>
            <a:r>
              <a:rPr lang="fr-FR" sz="1100" i="1" dirty="0"/>
              <a:t> important : un appartement vendu 9 000 000 € pour une surface de 10 m², soit un prix au m² irréaliste. Cette valeur est donc considérée comme une anomalie (erreur de déclaration ou transaction particulière) et devra être filtrée lors du nettoyage des données.</a:t>
            </a:r>
          </a:p>
        </p:txBody>
      </p:sp>
      <p:pic>
        <p:nvPicPr>
          <p:cNvPr id="6" name="Image 5" descr="Une image contenant texte, capture d’écran, nombre, Police">
            <a:extLst>
              <a:ext uri="{FF2B5EF4-FFF2-40B4-BE49-F238E27FC236}">
                <a16:creationId xmlns:a16="http://schemas.microsoft.com/office/drawing/2014/main" id="{966BF19F-0689-A61B-1D1E-5F662AF86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535" y="1211869"/>
            <a:ext cx="3458058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28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2E67DF4-EBF8-A9F3-BAD7-C7AC239F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791E9FF-5E5A-A2D6-34F2-567DF277F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C187E304-63EC-94EF-0D73-7FD3CFD69B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1DE1D7AA-4122-7C24-6F13-916A202D1F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4" y="690924"/>
            <a:ext cx="546995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Taux d’évolution du nombre de ventes entre le premier et le second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trimestre de 2020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02CF658B-5CC2-F595-9790-03FD57C11450}"/>
              </a:ext>
            </a:extLst>
          </p:cNvPr>
          <p:cNvSpPr txBox="1"/>
          <p:nvPr/>
        </p:nvSpPr>
        <p:spPr>
          <a:xfrm>
            <a:off x="445941" y="2474601"/>
            <a:ext cx="6978592" cy="133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VIEW IF NOT EXISTS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v.*,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substr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7, 4) || '-' ||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substr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4, 2) || '-' ||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substr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1, 2)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TRIM(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&lt;&gt; '';</a:t>
            </a:r>
          </a:p>
        </p:txBody>
      </p:sp>
      <p:sp>
        <p:nvSpPr>
          <p:cNvPr id="2" name="Google Shape;344;p42">
            <a:extLst>
              <a:ext uri="{FF2B5EF4-FFF2-40B4-BE49-F238E27FC236}">
                <a16:creationId xmlns:a16="http://schemas.microsoft.com/office/drawing/2014/main" id="{80227241-2E1E-6060-BB2C-FCF2335B7192}"/>
              </a:ext>
            </a:extLst>
          </p:cNvPr>
          <p:cNvSpPr txBox="1">
            <a:spLocks/>
          </p:cNvSpPr>
          <p:nvPr/>
        </p:nvSpPr>
        <p:spPr>
          <a:xfrm>
            <a:off x="350148" y="1241547"/>
            <a:ext cx="8447488" cy="827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fr-FR" sz="1400" dirty="0">
                <a:solidFill>
                  <a:schemeClr val="bg2">
                    <a:lumMod val="10000"/>
                  </a:schemeClr>
                </a:solidFill>
              </a:rPr>
              <a:t>Avant de répondre a la requête n°7, J’ai créé une « view » à partir de la table « vente » afin de convertir la colonne date_mutation, qui était au format texte (DD/MM/YYYY), en un format ISO (YYYY-MM-DD).Cette transformation permet de trier et comparer correctement les dates, notamment pour obtenir la date maximale après le 31 mars 2020, ce qui n’était pas possible avec le format initial.</a:t>
            </a:r>
          </a:p>
        </p:txBody>
      </p:sp>
      <p:pic>
        <p:nvPicPr>
          <p:cNvPr id="6" name="Image 5" descr="Une image contenant texte, capture d’écran, logiciel, Police">
            <a:extLst>
              <a:ext uri="{FF2B5EF4-FFF2-40B4-BE49-F238E27FC236}">
                <a16:creationId xmlns:a16="http://schemas.microsoft.com/office/drawing/2014/main" id="{AE821075-50A1-AE9A-7CB1-5B25A8BA7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690" y="2335660"/>
            <a:ext cx="2191056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35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48E9125-425E-22A6-FF65-0A38A83F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E81B40C-9026-A2DD-3B24-7D016818D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552724A0-F38A-5AA4-8FE5-07B6D41DC3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F05B9769-D60F-F975-13DD-1B2E5EAE8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4" y="690924"/>
            <a:ext cx="546995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Taux d’évolution du nombre de ventes entre le premier et le second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trimestre de 2020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4C824073-BC03-86F1-1681-9CA02CE85591}"/>
              </a:ext>
            </a:extLst>
          </p:cNvPr>
          <p:cNvSpPr txBox="1"/>
          <p:nvPr/>
        </p:nvSpPr>
        <p:spPr>
          <a:xfrm>
            <a:off x="390523" y="1241547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SUM(CASE WHEN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&gt;= '2020-01-01'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'2020-04-01' THEN 1 ELSE 0 END) AS ventes_T1,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SUM(CASE WHEN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&gt;= '2020-04-01' AND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date_iso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'2020-07-01' THEN 1 ELSE 0 END) AS ventes_T2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WHERE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nature_mutation</a:t>
            </a: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ventes_T1,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ventes_T2,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ROUND(100.0 * (ventes_T2 - ventes_T1) / NULLIF(ventes_T1, 0), 2) AS </a:t>
            </a:r>
            <a:r>
              <a:rPr lang="fr-F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taux_evolution_pct</a:t>
            </a:r>
            <a:endParaRPr lang="fr-FR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7449D4-23FD-D884-F16D-71E84E3CDFFA}"/>
              </a:ext>
            </a:extLst>
          </p:cNvPr>
          <p:cNvSpPr txBox="1"/>
          <p:nvPr/>
        </p:nvSpPr>
        <p:spPr>
          <a:xfrm>
            <a:off x="534481" y="3969374"/>
            <a:ext cx="75022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nombre de ventes immobilières augmente de 3,68 % entre le premier et le second trimestre 2020.Cette légère hausse peut s’expliquer par un rattrapage des transactions après le ralentissement observé en début d’année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AD6482-4FC1-C0B0-5646-C913F577C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242" y="3120013"/>
            <a:ext cx="2695951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22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B486A22-32CE-FF7F-B808-FF84CEC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46107E9A-CC45-9A04-2AC7-77DBE092D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B7FA59F6-E399-6344-D23C-0A38CCE43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2C9CEDD-8E80-EF4C-58C9-0C5F6DE5E3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3" y="690924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 classement des régions par rapport au prix au mètre carré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appartement de plus de 4 pièces.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30D69013-7F2C-0116-39B7-4B3F57861D3A}"/>
              </a:ext>
            </a:extLst>
          </p:cNvPr>
          <p:cNvSpPr txBox="1"/>
          <p:nvPr/>
        </p:nvSpPr>
        <p:spPr>
          <a:xfrm>
            <a:off x="390523" y="1241547"/>
            <a:ext cx="6978592" cy="267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r.nom_region AS region,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ROUND(AVG(v.valeur_fonciere / v.surface_reelle_bati), 2) AS prix_m2_moyen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vente_clean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v.id_codedep_codecommune = c.id_codedep_codecommune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c.code_departement = d.code_departement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region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d.code_region = r.code_region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v.type_local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v.nature_mutation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v.nb_pieces_principales &gt; 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v.valeur_fonciere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v.surface_reelle_bati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v.surface_reelle_bati &gt; 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r.nom_region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prix_m2_moyen DESC;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B337CD5-0E98-B5E8-E890-2AA9C0A5908A}"/>
              </a:ext>
            </a:extLst>
          </p:cNvPr>
          <p:cNvSpPr txBox="1"/>
          <p:nvPr/>
        </p:nvSpPr>
        <p:spPr>
          <a:xfrm>
            <a:off x="534481" y="3969374"/>
            <a:ext cx="7502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prix moyen au m² en Île-de-France est de 8 015 €, ce qui reste le plus </a:t>
            </a:r>
            <a:r>
              <a:rPr lang="fr-FR" sz="1100" i="1" dirty="0" err="1"/>
              <a:t>élevé.Cette</a:t>
            </a:r>
            <a:r>
              <a:rPr lang="fr-FR" sz="1100" i="1" dirty="0"/>
              <a:t> valeur correspond uniquement aux appartements de plus de 4 pièces et à l’ensemble de la région, ce qui réduit la moyenne par rapport à Paris intra-muros.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76FAD97-D5C5-BEB0-3E90-AC44E19FE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640" y="742436"/>
            <a:ext cx="2572109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0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7FC10BB-FBBE-AD3E-0179-61ECF71C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C0E60ECD-9CC4-016D-E812-F9AAF9F8B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95195856-62ED-A0DE-EB7F-2589F49CF87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E189E456-0408-337F-4F4B-03D200D6D0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6EED0F1B-9B45-F824-C213-A653C49B0C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4" y="690924"/>
            <a:ext cx="3540128" cy="27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Liste des communes ayant eu au moins 50 ventes au 1er trimestre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70597095-3746-8223-7640-DFE51E3D50FE}"/>
              </a:ext>
            </a:extLst>
          </p:cNvPr>
          <p:cNvSpPr txBox="1"/>
          <p:nvPr/>
        </p:nvSpPr>
        <p:spPr>
          <a:xfrm>
            <a:off x="4897034" y="964929"/>
            <a:ext cx="3702048" cy="357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 commune                      </a:t>
            </a:r>
            <a:r>
              <a:rPr lang="fr-FR" sz="5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r>
              <a:rPr lang="fr-FR" sz="5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nom_region</a:t>
            </a: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nb_ventes_T1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fr-FR" sz="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17e Arrondissement	75	Ile-de-France	228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15e Arrondissement	75	Ile-de-France	215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18e Arrondissement	75	Ile-de-France	209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Nice	6	Provence-Alpes-Côte d'Azur	173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11e Arrondissement	75	Ile-de-France	169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16e Arrondissement	75	Ile-de-France	165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Bordeaux	33	Nouvelle-Aquitaine	157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14e Arrondissement	75	Ile-de-France	146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20e Arrondissement	75	Ile-de-France	127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Nantes	44	Pays de la Loire	119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19e Arrondissement	75	Ile-de-France	116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12e Arrondissement	75	Ile-de-France	110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10e Arrondissement	75	Ile-de-France	109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Grenoble	38	Auvergne-Rhône-Alpes	106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9e Arrondissement	75	Ile-de-France	106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Boulogne-Billancourt	92	Ile-de-France	99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13e Arrondissement	75	Ile-de-France	94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7e Arrondissement	75	Ile-de-France	87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6e Arrondissement	75	Ile-de-France	86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Asnières-sur-Seine	92	Ile-de-France	81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8e Arrondissement	13	Provence-Alpes-Côte d'Azur	81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Courbevoie	92	Ile-de-France	80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3e Arrondissement	75	Ile-de-France	79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5e Arrondissement	75	Ile-de-France	79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Toulouse	31	Occitanie	78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Antibes	6	Provence-Alpes-Côte d'Azur	77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4e Arrondissement	13	Provence-Alpes-Côte d'Azur	72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1er Arrondissement	13	Provence-Alpes-Côte d'Azur	71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Rueil-Malmaison	92	Ile-de-France	68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Vincennes	94	Ile-de-France	68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Lille	59	Hauts-de-France	67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Marseille 9e Arrondissement	13	Provence-Alpes-Côte d'Azur	66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Montreuil	93	Ile-de-France	65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Angers	49	Pays de la Loire	64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Nîmes	30	Occitanie	63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Ciotat	13	Provence-Alpes-Côte d'Azur	62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8e Arrondissement	75	Ile-de-France	62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Sète	34	Occitanie	62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2e Arrondissement	75	Ile-de-France	61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Rennes	35	Bretagne	61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Paris 4e Arrondissement	75	Ile-de-France	60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Levallois-Perret	92	Ile-de-France	59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Toulon	83	Provence-Alpes-Côte d'Azur	59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Saint-Maur-des-Fossés	94	Ile-de-France	56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Ajaccio	2A	Corse	54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Versailles	78	Ile-de-France	54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Puteaux	92	Ile-de-France	53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Issy-les-Moulineaux	92	Ile-de-France	50</a:t>
            </a:r>
            <a:endParaRPr sz="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34F64E-2EEF-A4D5-B4E7-3C8AA4FE9842}"/>
              </a:ext>
            </a:extLst>
          </p:cNvPr>
          <p:cNvSpPr txBox="1"/>
          <p:nvPr/>
        </p:nvSpPr>
        <p:spPr>
          <a:xfrm>
            <a:off x="253897" y="3969374"/>
            <a:ext cx="40819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i="1" dirty="0"/>
              <a:t>Certaines grandes communes concentrent un volume important de transactions immobilières au T1 2020.Cette information permet d’identifier les zones les plus dynamiques du marché pour les agences Laplace Immo.</a:t>
            </a:r>
          </a:p>
        </p:txBody>
      </p:sp>
      <p:sp>
        <p:nvSpPr>
          <p:cNvPr id="2" name="Google Shape;345;p42">
            <a:extLst>
              <a:ext uri="{FF2B5EF4-FFF2-40B4-BE49-F238E27FC236}">
                <a16:creationId xmlns:a16="http://schemas.microsoft.com/office/drawing/2014/main" id="{33B6C621-7B6E-AF50-35E3-65C450C0B761}"/>
              </a:ext>
            </a:extLst>
          </p:cNvPr>
          <p:cNvSpPr txBox="1"/>
          <p:nvPr/>
        </p:nvSpPr>
        <p:spPr>
          <a:xfrm>
            <a:off x="390523" y="1241547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COUNT(*) AS nb_ventes_T1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v.date_iso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&gt;= '2020-01-01'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v.date_iso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 '2020-04-01'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 COUNT(*) &gt;= 50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nb_ventes_T1 DESC;</a:t>
            </a:r>
          </a:p>
        </p:txBody>
      </p:sp>
    </p:spTree>
    <p:extLst>
      <p:ext uri="{BB962C8B-B14F-4D97-AF65-F5344CB8AC3E}">
        <p14:creationId xmlns:p14="http://schemas.microsoft.com/office/powerpoint/2010/main" val="4255313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BFEE35A-31FD-B637-4A0D-1D17CAD3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43A5AE3C-C71A-6B76-D4A6-954C2AD2D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A5D94D1-49EB-38E3-BF7C-9C3CA0F9BC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E88A8CD9-9B51-4B0D-8C4B-EF42EBA69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3" y="690924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Différence en pourcentage du prix au mètre carré entre un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appartement de 2 pièces et un appartement de 3 pièces.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D28B5C8D-4A8C-7B43-AF0E-B85FAC411A3C}"/>
              </a:ext>
            </a:extLst>
          </p:cNvPr>
          <p:cNvSpPr txBox="1"/>
          <p:nvPr/>
        </p:nvSpPr>
        <p:spPr>
          <a:xfrm>
            <a:off x="390523" y="1126430"/>
            <a:ext cx="3914778" cy="3584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prix_m2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nb_pieces_principales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AVG(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surface_reelle_bati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AS prix_m2_moyen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type_local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'Appartement'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nature_mutation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nb_pieces_principales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(2, 3)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surface_reelle_bati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surface_reelle_bati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GROUP BY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nb_pieces_principales</a:t>
            </a: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2), 2) AS prix_m2_2p,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3), 2) AS prix_m2_3p,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endParaRPr lang="fr-FR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100.0 *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3)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-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(SELECT prix_m2_moyen FROM prix_m2 WHERE </a:t>
            </a:r>
            <a:r>
              <a:rPr lang="fr-FR" sz="9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nb_pieces</a:t>
            </a: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, 2) AS diff_pct_3p_vs_2p;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C3BFE9-F9AD-44EB-0847-914CE869865C}"/>
              </a:ext>
            </a:extLst>
          </p:cNvPr>
          <p:cNvSpPr txBox="1"/>
          <p:nvPr/>
        </p:nvSpPr>
        <p:spPr>
          <a:xfrm>
            <a:off x="4921251" y="1565096"/>
            <a:ext cx="484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/>
              <a:t>Résultat : </a:t>
            </a:r>
            <a:endParaRPr lang="fr-FR" sz="18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E1700F-121E-DAD4-476E-399DF03A993A}"/>
              </a:ext>
            </a:extLst>
          </p:cNvPr>
          <p:cNvSpPr txBox="1"/>
          <p:nvPr/>
        </p:nvSpPr>
        <p:spPr>
          <a:xfrm>
            <a:off x="4572000" y="3772164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prix moyen au m² d’un appartement 2 pièces est de 4932.85 €/m², contre 4285.37 €/m² pour un 3 pièces. Les 3 pièces sont donc en moyenne 13,13 % moins chers au m², ce qui s’explique par le fait que les petites surfaces sont généralement plus valorisées.</a:t>
            </a:r>
          </a:p>
        </p:txBody>
      </p:sp>
      <p:pic>
        <p:nvPicPr>
          <p:cNvPr id="8" name="Image 7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F1ACF7C-18CC-E427-72BA-2F6EBBE058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17" b="32829"/>
          <a:stretch>
            <a:fillRect/>
          </a:stretch>
        </p:blipFill>
        <p:spPr>
          <a:xfrm>
            <a:off x="4921251" y="1857237"/>
            <a:ext cx="2730499" cy="4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75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5CB7E7F-2D22-5174-D201-1DA63E86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3D9A218B-4597-5E30-4C9F-50FE10A2D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FE1C61B3-1614-C6C9-B445-FC1452CCB2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56D8B9A-D77B-A950-6CF1-4C5EC7F7E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0149" y="656335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moyennes de valeurs foncières pour le top 3 des communes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départements 6, 13, 33, 59 et 69.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E93C2D68-6112-F609-5F37-082B3434F4C1}"/>
              </a:ext>
            </a:extLst>
          </p:cNvPr>
          <p:cNvSpPr txBox="1"/>
          <p:nvPr/>
        </p:nvSpPr>
        <p:spPr>
          <a:xfrm>
            <a:off x="434973" y="1113006"/>
            <a:ext cx="4591397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moyennes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AVG(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AS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JOIN commune c ON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JOIN departement d ON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WHERE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v.valeur_fonciere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NULL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AND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('06','13','33','59','69')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GROUP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classement AS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*,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ROW_NUMBER() OVER (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PARTITION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ORDER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) AS rang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FROM moyennes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nom_commune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2) AS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endParaRPr lang="fr-FR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classement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rang &lt;= 3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code_departement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fr-FR" sz="1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valeur_fonciere_moy</a:t>
            </a:r>
            <a:r>
              <a:rPr lang="fr-F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1E2229-53CA-527A-384D-CCFE22E89E99}"/>
              </a:ext>
            </a:extLst>
          </p:cNvPr>
          <p:cNvSpPr txBox="1"/>
          <p:nvPr/>
        </p:nvSpPr>
        <p:spPr>
          <a:xfrm>
            <a:off x="3848099" y="3997822"/>
            <a:ext cx="50077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Le département 06 ne contient aucune vente exploitable dans la base de données (valeur foncière non renseignée ou pas  de transactions).Il n’a donc pas été possible de calculer un top 3 de communes pour ce département.</a:t>
            </a:r>
          </a:p>
        </p:txBody>
      </p:sp>
      <p:pic>
        <p:nvPicPr>
          <p:cNvPr id="3" name="Image 2" descr="Une image contenant texte, capture d’écran, nombre, Police">
            <a:extLst>
              <a:ext uri="{FF2B5EF4-FFF2-40B4-BE49-F238E27FC236}">
                <a16:creationId xmlns:a16="http://schemas.microsoft.com/office/drawing/2014/main" id="{D909BCEF-2E38-A969-D02C-090481117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70" y="1344111"/>
            <a:ext cx="3333858" cy="250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76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608D18C-1BCD-DA2A-CFDF-33A51292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1FB26BA-4184-73E1-52FF-A5B49DA4B4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149" y="191813"/>
            <a:ext cx="6249917" cy="55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3559280-A6B6-BF6F-2DA1-CB0376E1E8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14D53F2-3380-7F81-A137-022303020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523" y="690924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Les 20 communes avec le plus de transactions pour 1000 habitants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pour les communes qui dépassent les 10 000 habitants.</a:t>
            </a:r>
            <a:endParaRPr dirty="0"/>
          </a:p>
        </p:txBody>
      </p:sp>
      <p:sp>
        <p:nvSpPr>
          <p:cNvPr id="345" name="Google Shape;345;p42">
            <a:extLst>
              <a:ext uri="{FF2B5EF4-FFF2-40B4-BE49-F238E27FC236}">
                <a16:creationId xmlns:a16="http://schemas.microsoft.com/office/drawing/2014/main" id="{396AB695-256F-80AF-F227-5B751C289DF8}"/>
              </a:ext>
            </a:extLst>
          </p:cNvPr>
          <p:cNvSpPr txBox="1"/>
          <p:nvPr/>
        </p:nvSpPr>
        <p:spPr>
          <a:xfrm>
            <a:off x="350149" y="1147595"/>
            <a:ext cx="6978592" cy="245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COUNT(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v.id_vente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AS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nb_transactions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ROUND(1000.0 * COUNT(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v.id_vente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/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3) AS transactions_pour_1000_hab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vente_clean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commune 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v.id_codedep_codecommune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c.id_codedep_codecommune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departement d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ON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r.code_region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v.nature_mutation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'Vente'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AND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 10000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BY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c.nom_commune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d.code_departement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r.nom_region</a:t>
            </a: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fr-FR" sz="10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c.population_totale</a:t>
            </a:r>
            <a:endParaRPr lang="fr-F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BY transactions_pour_1000_hab DESC</a:t>
            </a:r>
          </a:p>
          <a:p>
            <a:pPr lvl="0">
              <a:lnSpc>
                <a:spcPct val="90000"/>
              </a:lnSpc>
              <a:buClr>
                <a:srgbClr val="2E7A40"/>
              </a:buClr>
              <a:buSzPts val="1800"/>
            </a:pPr>
            <a:r>
              <a:rPr lang="fr-F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20;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056069-D4FE-68C3-0064-7EEED3D2DD9B}"/>
              </a:ext>
            </a:extLst>
          </p:cNvPr>
          <p:cNvSpPr txBox="1"/>
          <p:nvPr/>
        </p:nvSpPr>
        <p:spPr>
          <a:xfrm>
            <a:off x="4723610" y="1083394"/>
            <a:ext cx="40298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/>
              <a:t>Certaines communes présentent un nombre de transactions très élevé rapporté à leur population. Cet indicateur met en évidence des communes à forte rotation immobilière, souvent liées à des zones touristiques ou à des marchés très dynamiques.</a:t>
            </a:r>
          </a:p>
        </p:txBody>
      </p:sp>
      <p:pic>
        <p:nvPicPr>
          <p:cNvPr id="3" name="Image 2" descr="Une image contenant texte, capture d’écran, nombre, Police">
            <a:extLst>
              <a:ext uri="{FF2B5EF4-FFF2-40B4-BE49-F238E27FC236}">
                <a16:creationId xmlns:a16="http://schemas.microsoft.com/office/drawing/2014/main" id="{9642F1A5-A66C-79DB-0EB4-BAF393E3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601" y="2373199"/>
            <a:ext cx="3324065" cy="266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72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4594</Words>
  <Application>Microsoft Office PowerPoint</Application>
  <PresentationFormat>Affichage à l'écran (16:9)</PresentationFormat>
  <Paragraphs>900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Calibri</vt:lpstr>
      <vt:lpstr>Arial Black</vt:lpstr>
      <vt:lpstr>Arial</vt:lpstr>
      <vt:lpstr>Arial Unicode MS</vt:lpstr>
      <vt:lpstr>Simple Light</vt:lpstr>
      <vt:lpstr>Thème Office</vt:lpstr>
      <vt:lpstr>Création et utilisation de la base de données</vt:lpstr>
      <vt:lpstr>Présentation PowerPoint</vt:lpstr>
      <vt:lpstr>La stratégie de sauvegarde et la conformité RGPD</vt:lpstr>
      <vt:lpstr>Les données initiales</vt:lpstr>
      <vt:lpstr>Transformation des données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7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alican yilmaz</cp:lastModifiedBy>
  <cp:revision>20</cp:revision>
  <dcterms:modified xsi:type="dcterms:W3CDTF">2026-03-13T15:25:22Z</dcterms:modified>
</cp:coreProperties>
</file>