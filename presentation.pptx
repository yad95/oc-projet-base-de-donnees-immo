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  <p:sldMasterId id="2147483679" r:id="rId2"/>
  </p:sldMasterIdLst>
  <p:notesMasterIdLst>
    <p:notesMasterId r:id="rId27"/>
  </p:notesMasterIdLst>
  <p:sldIdLst>
    <p:sldId id="256" r:id="rId3"/>
    <p:sldId id="257" r:id="rId4"/>
    <p:sldId id="258" r:id="rId5"/>
    <p:sldId id="259" r:id="rId6"/>
    <p:sldId id="279" r:id="rId7"/>
    <p:sldId id="260" r:id="rId8"/>
    <p:sldId id="261" r:id="rId9"/>
    <p:sldId id="262" r:id="rId10"/>
    <p:sldId id="263" r:id="rId11"/>
    <p:sldId id="264" r:id="rId12"/>
    <p:sldId id="265" r:id="rId13"/>
    <p:sldId id="268" r:id="rId14"/>
    <p:sldId id="267" r:id="rId15"/>
    <p:sldId id="269" r:id="rId16"/>
    <p:sldId id="271" r:id="rId17"/>
    <p:sldId id="270" r:id="rId18"/>
    <p:sldId id="272" r:id="rId19"/>
    <p:sldId id="278" r:id="rId20"/>
    <p:sldId id="273" r:id="rId21"/>
    <p:sldId id="274" r:id="rId22"/>
    <p:sldId id="275" r:id="rId23"/>
    <p:sldId id="276" r:id="rId24"/>
    <p:sldId id="277" r:id="rId25"/>
    <p:sldId id="266" r:id="rId26"/>
  </p:sldIdLst>
  <p:sldSz cx="9144000" cy="5143500" type="screen16x9"/>
  <p:notesSz cx="6858000" cy="9144000"/>
  <p:embeddedFontLst>
    <p:embeddedFont>
      <p:font typeface="Arial Black" panose="020B0A04020102020204" pitchFamily="34" charset="0"/>
      <p:regular r:id="rId28"/>
      <p:bold r:id="rId29"/>
    </p:embeddedFont>
    <p:embeddedFont>
      <p:font typeface="Arial Unicode MS" panose="020B0604020202020204" pitchFamily="34" charset="-128"/>
      <p:regular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font" Target="fonts/font1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25c099360e7_3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50" name="Google Shape;250;g25c099360e7_3_19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g25c099360e7_3_19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25c099360e7_3_2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62" name="Google Shape;262;g25c099360e7_3_20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g25c099360e7_3_20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25c099360e7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73" name="Google Shape;273;g25c099360e7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5c099360e7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5c099360e7_3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82" name="Google Shape;282;g25c099360e7_3_2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g25c099360e7_3_22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>
          <a:extLst>
            <a:ext uri="{FF2B5EF4-FFF2-40B4-BE49-F238E27FC236}">
              <a16:creationId xmlns:a16="http://schemas.microsoft.com/office/drawing/2014/main" id="{51A52CD1-35FE-9C48-4105-CB469E8E7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5c099360e7_3_227:notes">
            <a:extLst>
              <a:ext uri="{FF2B5EF4-FFF2-40B4-BE49-F238E27FC236}">
                <a16:creationId xmlns:a16="http://schemas.microsoft.com/office/drawing/2014/main" id="{61F84B96-CABA-F5CD-D2C1-43975CF7C3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82" name="Google Shape;282;g25c099360e7_3_227:notes">
            <a:extLst>
              <a:ext uri="{FF2B5EF4-FFF2-40B4-BE49-F238E27FC236}">
                <a16:creationId xmlns:a16="http://schemas.microsoft.com/office/drawing/2014/main" id="{F324767D-0844-9661-43E8-50A892A375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g25c099360e7_3_227:notes">
            <a:extLst>
              <a:ext uri="{FF2B5EF4-FFF2-40B4-BE49-F238E27FC236}">
                <a16:creationId xmlns:a16="http://schemas.microsoft.com/office/drawing/2014/main" id="{434C8FA7-9A37-CE5B-210D-8070D190312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878471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25c099360e7_3_2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91" name="Google Shape;291;g25c099360e7_3_2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g25c099360e7_3_23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5c099360e7_3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300" name="Google Shape;300;g25c099360e7_3_2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g25c099360e7_3_2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25c099360e7_3_2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309" name="Google Shape;309;g25c099360e7_3_2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g25c099360e7_3_2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25c099360e7_3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318" name="Google Shape;318;g25c099360e7_3_2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g25c099360e7_3_25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5c099360e7_3_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327" name="Google Shape;327;g25c099360e7_3_26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g25c099360e7_3_26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25c099360e7_3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338" name="Google Shape;338;g25c099360e7_3_2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g25c099360e7_3_27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7B043A95-5E3C-5D9E-CDF9-EE82471AE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25c099360e7_3_277:notes">
            <a:extLst>
              <a:ext uri="{FF2B5EF4-FFF2-40B4-BE49-F238E27FC236}">
                <a16:creationId xmlns:a16="http://schemas.microsoft.com/office/drawing/2014/main" id="{5DF2AE6C-AA42-84A5-41A2-ABC59FC891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338" name="Google Shape;338;g25c099360e7_3_277:notes">
            <a:extLst>
              <a:ext uri="{FF2B5EF4-FFF2-40B4-BE49-F238E27FC236}">
                <a16:creationId xmlns:a16="http://schemas.microsoft.com/office/drawing/2014/main" id="{67B2F5D6-6BE1-733D-DEBD-BD12539A12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g25c099360e7_3_277:notes">
            <a:extLst>
              <a:ext uri="{FF2B5EF4-FFF2-40B4-BE49-F238E27FC236}">
                <a16:creationId xmlns:a16="http://schemas.microsoft.com/office/drawing/2014/main" id="{C1D9380E-B62E-7A07-9B50-75C664C4AF3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282898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9CC2E8F2-E0AA-CEED-4CD5-32631AF6B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25c099360e7_3_277:notes">
            <a:extLst>
              <a:ext uri="{FF2B5EF4-FFF2-40B4-BE49-F238E27FC236}">
                <a16:creationId xmlns:a16="http://schemas.microsoft.com/office/drawing/2014/main" id="{56DA442D-0CC3-D8FB-AD22-7F0291163C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338" name="Google Shape;338;g25c099360e7_3_277:notes">
            <a:extLst>
              <a:ext uri="{FF2B5EF4-FFF2-40B4-BE49-F238E27FC236}">
                <a16:creationId xmlns:a16="http://schemas.microsoft.com/office/drawing/2014/main" id="{9D7BCCC8-C660-E33D-1064-11C98FD2FC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g25c099360e7_3_277:notes">
            <a:extLst>
              <a:ext uri="{FF2B5EF4-FFF2-40B4-BE49-F238E27FC236}">
                <a16:creationId xmlns:a16="http://schemas.microsoft.com/office/drawing/2014/main" id="{38E8935B-95A5-43F5-6C4A-5BA90D8786A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86177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BC78212C-557F-8F92-7D3A-16EC9C6B4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25c099360e7_3_277:notes">
            <a:extLst>
              <a:ext uri="{FF2B5EF4-FFF2-40B4-BE49-F238E27FC236}">
                <a16:creationId xmlns:a16="http://schemas.microsoft.com/office/drawing/2014/main" id="{6CA9A2A3-644A-A911-DEA2-410E0337DE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338" name="Google Shape;338;g25c099360e7_3_277:notes">
            <a:extLst>
              <a:ext uri="{FF2B5EF4-FFF2-40B4-BE49-F238E27FC236}">
                <a16:creationId xmlns:a16="http://schemas.microsoft.com/office/drawing/2014/main" id="{401FCC53-3777-A205-1C66-257DE20F6D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g25c099360e7_3_277:notes">
            <a:extLst>
              <a:ext uri="{FF2B5EF4-FFF2-40B4-BE49-F238E27FC236}">
                <a16:creationId xmlns:a16="http://schemas.microsoft.com/office/drawing/2014/main" id="{932BDFC9-9700-BD12-8DF1-484C9B6479D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692250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05A96530-DD08-BFBF-CD40-0551870C1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25c099360e7_3_277:notes">
            <a:extLst>
              <a:ext uri="{FF2B5EF4-FFF2-40B4-BE49-F238E27FC236}">
                <a16:creationId xmlns:a16="http://schemas.microsoft.com/office/drawing/2014/main" id="{BA6B558F-EFB6-0C9F-D651-B36B59D296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338" name="Google Shape;338;g25c099360e7_3_277:notes">
            <a:extLst>
              <a:ext uri="{FF2B5EF4-FFF2-40B4-BE49-F238E27FC236}">
                <a16:creationId xmlns:a16="http://schemas.microsoft.com/office/drawing/2014/main" id="{C02C859A-3657-5C16-73F3-CB6CCBAAE3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g25c099360e7_3_277:notes">
            <a:extLst>
              <a:ext uri="{FF2B5EF4-FFF2-40B4-BE49-F238E27FC236}">
                <a16:creationId xmlns:a16="http://schemas.microsoft.com/office/drawing/2014/main" id="{5A99D95B-CA9B-CBAB-4E73-21FB0B53712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48332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2755B2FA-C045-53A3-CBDA-207DCD1F8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25c099360e7_3_277:notes">
            <a:extLst>
              <a:ext uri="{FF2B5EF4-FFF2-40B4-BE49-F238E27FC236}">
                <a16:creationId xmlns:a16="http://schemas.microsoft.com/office/drawing/2014/main" id="{03D45B2B-C30E-E926-3727-E92367188B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338" name="Google Shape;338;g25c099360e7_3_277:notes">
            <a:extLst>
              <a:ext uri="{FF2B5EF4-FFF2-40B4-BE49-F238E27FC236}">
                <a16:creationId xmlns:a16="http://schemas.microsoft.com/office/drawing/2014/main" id="{50E84D60-9122-EE18-6825-8B001F1034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g25c099360e7_3_277:notes">
            <a:extLst>
              <a:ext uri="{FF2B5EF4-FFF2-40B4-BE49-F238E27FC236}">
                <a16:creationId xmlns:a16="http://schemas.microsoft.com/office/drawing/2014/main" id="{03AD2DBC-FB92-8CE8-A0EE-2AC9C626A4D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547818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725E31FE-DB46-0C7A-D6D8-19426C24E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25c099360e7_3_277:notes">
            <a:extLst>
              <a:ext uri="{FF2B5EF4-FFF2-40B4-BE49-F238E27FC236}">
                <a16:creationId xmlns:a16="http://schemas.microsoft.com/office/drawing/2014/main" id="{7224DC75-44F0-1D79-431D-6B0F74C3B5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338" name="Google Shape;338;g25c099360e7_3_277:notes">
            <a:extLst>
              <a:ext uri="{FF2B5EF4-FFF2-40B4-BE49-F238E27FC236}">
                <a16:creationId xmlns:a16="http://schemas.microsoft.com/office/drawing/2014/main" id="{CD04C915-4288-9027-682C-9A708FD801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g25c099360e7_3_277:notes">
            <a:extLst>
              <a:ext uri="{FF2B5EF4-FFF2-40B4-BE49-F238E27FC236}">
                <a16:creationId xmlns:a16="http://schemas.microsoft.com/office/drawing/2014/main" id="{EFAA3620-E7DA-68E3-E04E-D55AC2B4303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88558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F14B4959-FB30-8786-6485-E573693AE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25c099360e7_3_277:notes">
            <a:extLst>
              <a:ext uri="{FF2B5EF4-FFF2-40B4-BE49-F238E27FC236}">
                <a16:creationId xmlns:a16="http://schemas.microsoft.com/office/drawing/2014/main" id="{6E27087B-8F91-06BF-CE50-AF4931639A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338" name="Google Shape;338;g25c099360e7_3_277:notes">
            <a:extLst>
              <a:ext uri="{FF2B5EF4-FFF2-40B4-BE49-F238E27FC236}">
                <a16:creationId xmlns:a16="http://schemas.microsoft.com/office/drawing/2014/main" id="{B782979C-33BE-A3B8-4234-5424D53013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g25c099360e7_3_277:notes">
            <a:extLst>
              <a:ext uri="{FF2B5EF4-FFF2-40B4-BE49-F238E27FC236}">
                <a16:creationId xmlns:a16="http://schemas.microsoft.com/office/drawing/2014/main" id="{1F6DE656-918F-4520-17A8-204B6B0111A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187897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15DAEA2E-B34F-7F67-B577-8D7993D0B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25c099360e7_3_277:notes">
            <a:extLst>
              <a:ext uri="{FF2B5EF4-FFF2-40B4-BE49-F238E27FC236}">
                <a16:creationId xmlns:a16="http://schemas.microsoft.com/office/drawing/2014/main" id="{3544C3E1-E234-BBDF-CF78-BEC211F8D0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338" name="Google Shape;338;g25c099360e7_3_277:notes">
            <a:extLst>
              <a:ext uri="{FF2B5EF4-FFF2-40B4-BE49-F238E27FC236}">
                <a16:creationId xmlns:a16="http://schemas.microsoft.com/office/drawing/2014/main" id="{2B09B8A9-7319-DCD4-6899-102E2DA712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g25c099360e7_3_277:notes">
            <a:extLst>
              <a:ext uri="{FF2B5EF4-FFF2-40B4-BE49-F238E27FC236}">
                <a16:creationId xmlns:a16="http://schemas.microsoft.com/office/drawing/2014/main" id="{8DB8A46D-2016-344F-5757-468D6581904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791072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A6F31E23-2FCC-8E5E-4635-5AE514DC8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25c099360e7_3_277:notes">
            <a:extLst>
              <a:ext uri="{FF2B5EF4-FFF2-40B4-BE49-F238E27FC236}">
                <a16:creationId xmlns:a16="http://schemas.microsoft.com/office/drawing/2014/main" id="{A321274B-4A99-20DB-1489-905C47B0D5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338" name="Google Shape;338;g25c099360e7_3_277:notes">
            <a:extLst>
              <a:ext uri="{FF2B5EF4-FFF2-40B4-BE49-F238E27FC236}">
                <a16:creationId xmlns:a16="http://schemas.microsoft.com/office/drawing/2014/main" id="{538D35C5-E402-CF46-11FA-CF9698ECFA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g25c099360e7_3_277:notes">
            <a:extLst>
              <a:ext uri="{FF2B5EF4-FFF2-40B4-BE49-F238E27FC236}">
                <a16:creationId xmlns:a16="http://schemas.microsoft.com/office/drawing/2014/main" id="{9B36DBCC-6D23-DE8E-35B0-8C8E44C058B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667535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940C6D73-A150-9568-387E-34F2C9321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25c099360e7_3_277:notes">
            <a:extLst>
              <a:ext uri="{FF2B5EF4-FFF2-40B4-BE49-F238E27FC236}">
                <a16:creationId xmlns:a16="http://schemas.microsoft.com/office/drawing/2014/main" id="{B1FB7F36-387D-1133-1A94-C32BF7D6B2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338" name="Google Shape;338;g25c099360e7_3_277:notes">
            <a:extLst>
              <a:ext uri="{FF2B5EF4-FFF2-40B4-BE49-F238E27FC236}">
                <a16:creationId xmlns:a16="http://schemas.microsoft.com/office/drawing/2014/main" id="{2AB28EDA-4BBD-E5D5-5AEC-1A1A3A4BC8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g25c099360e7_3_277:notes">
            <a:extLst>
              <a:ext uri="{FF2B5EF4-FFF2-40B4-BE49-F238E27FC236}">
                <a16:creationId xmlns:a16="http://schemas.microsoft.com/office/drawing/2014/main" id="{6A0C05E6-DC40-E87D-EE16-BD538977E0C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765831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4E20307A-AFB1-B374-50A5-F3DE3AD9C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25c099360e7_3_277:notes">
            <a:extLst>
              <a:ext uri="{FF2B5EF4-FFF2-40B4-BE49-F238E27FC236}">
                <a16:creationId xmlns:a16="http://schemas.microsoft.com/office/drawing/2014/main" id="{0E802A62-81C1-352B-1263-166D4EC336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338" name="Google Shape;338;g25c099360e7_3_277:notes">
            <a:extLst>
              <a:ext uri="{FF2B5EF4-FFF2-40B4-BE49-F238E27FC236}">
                <a16:creationId xmlns:a16="http://schemas.microsoft.com/office/drawing/2014/main" id="{A847973B-6A02-7EC9-1E6E-74A572491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g25c099360e7_3_277:notes">
            <a:extLst>
              <a:ext uri="{FF2B5EF4-FFF2-40B4-BE49-F238E27FC236}">
                <a16:creationId xmlns:a16="http://schemas.microsoft.com/office/drawing/2014/main" id="{8D33EE97-8E83-149F-6FF7-D886BD223E7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544774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1E00E7D2-D668-FA5D-FE75-4BDA2D2C5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25c099360e7_3_277:notes">
            <a:extLst>
              <a:ext uri="{FF2B5EF4-FFF2-40B4-BE49-F238E27FC236}">
                <a16:creationId xmlns:a16="http://schemas.microsoft.com/office/drawing/2014/main" id="{0EABA441-DEAA-5236-126A-AC3E4E60C2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338" name="Google Shape;338;g25c099360e7_3_277:notes">
            <a:extLst>
              <a:ext uri="{FF2B5EF4-FFF2-40B4-BE49-F238E27FC236}">
                <a16:creationId xmlns:a16="http://schemas.microsoft.com/office/drawing/2014/main" id="{90E8C57D-96E5-AE87-326D-5490038C29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g25c099360e7_3_277:notes">
            <a:extLst>
              <a:ext uri="{FF2B5EF4-FFF2-40B4-BE49-F238E27FC236}">
                <a16:creationId xmlns:a16="http://schemas.microsoft.com/office/drawing/2014/main" id="{DE94DBC7-275F-F754-DEE0-CD19BF4EB37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1959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5c099360e7_3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348" name="Google Shape;348;g25c099360e7_3_28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g25c099360e7_3_28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24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 avec image">
  <p:cSld name="Diapositive de titre avec image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/>
          <p:nvPr/>
        </p:nvSpPr>
        <p:spPr>
          <a:xfrm rot="10800000" flipH="1">
            <a:off x="0" y="-4"/>
            <a:ext cx="7968996" cy="4053083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6" name="Google Shape;56;p14"/>
          <p:cNvCxnSpPr/>
          <p:nvPr/>
        </p:nvCxnSpPr>
        <p:spPr>
          <a:xfrm rot="10800000" flipH="1">
            <a:off x="0" y="0"/>
            <a:ext cx="4523015" cy="2253342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7" name="Google Shape;57;p14"/>
          <p:cNvSpPr>
            <a:spLocks noGrp="1"/>
          </p:cNvSpPr>
          <p:nvPr>
            <p:ph type="pic" idx="2"/>
          </p:nvPr>
        </p:nvSpPr>
        <p:spPr>
          <a:xfrm>
            <a:off x="1262549" y="645708"/>
            <a:ext cx="3321392" cy="3852817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cxnSp>
        <p:nvCxnSpPr>
          <p:cNvPr id="58" name="Google Shape;58;p14"/>
          <p:cNvCxnSpPr/>
          <p:nvPr/>
        </p:nvCxnSpPr>
        <p:spPr>
          <a:xfrm rot="10800000" flipH="1">
            <a:off x="6753226" y="2943224"/>
            <a:ext cx="2390775" cy="1266825"/>
          </a:xfrm>
          <a:prstGeom prst="straightConnector1">
            <a:avLst/>
          </a:prstGeom>
          <a:noFill/>
          <a:ln w="9525" cap="flat" cmpd="sng">
            <a:solidFill>
              <a:srgbClr val="EE957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9" name="Google Shape;59;p14" title="Titre"/>
          <p:cNvSpPr txBox="1">
            <a:spLocks noGrp="1"/>
          </p:cNvSpPr>
          <p:nvPr>
            <p:ph type="ctrTitle"/>
          </p:nvPr>
        </p:nvSpPr>
        <p:spPr>
          <a:xfrm>
            <a:off x="4781791" y="1504563"/>
            <a:ext cx="3640180" cy="1212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 title="Sous-titre"/>
          <p:cNvSpPr txBox="1">
            <a:spLocks noGrp="1"/>
          </p:cNvSpPr>
          <p:nvPr>
            <p:ph type="subTitle" idx="1"/>
          </p:nvPr>
        </p:nvSpPr>
        <p:spPr>
          <a:xfrm>
            <a:off x="4781411" y="2730749"/>
            <a:ext cx="3640754" cy="943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61" name="Google Shape;61;p14"/>
          <p:cNvCxnSpPr/>
          <p:nvPr/>
        </p:nvCxnSpPr>
        <p:spPr>
          <a:xfrm rot="10800000" flipH="1">
            <a:off x="-13378" y="3525012"/>
            <a:ext cx="1439842" cy="750790"/>
          </a:xfrm>
          <a:prstGeom prst="straightConnector1">
            <a:avLst/>
          </a:prstGeom>
          <a:noFill/>
          <a:ln w="9525" cap="flat" cmpd="sng">
            <a:solidFill>
              <a:srgbClr val="E26064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5653">
          <p15:clr>
            <a:srgbClr val="FBAE40"/>
          </p15:clr>
        </p15:guide>
        <p15:guide id="3" pos="103">
          <p15:clr>
            <a:srgbClr val="FBAE40"/>
          </p15:clr>
        </p15:guide>
        <p15:guide id="4" orient="horz" pos="3133">
          <p15:clr>
            <a:srgbClr val="FBAE40"/>
          </p15:clr>
        </p15:guide>
        <p15:guide id="5" orient="horz" pos="107">
          <p15:clr>
            <a:srgbClr val="FBAE40"/>
          </p15:clr>
        </p15:guide>
        <p15:guide id="6" pos="1843">
          <p15:clr>
            <a:srgbClr val="FBAE40"/>
          </p15:clr>
        </p15:guide>
        <p15:guide id="7" pos="32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POSITION DU TEXTE 01">
  <p:cSld name="DISPOSITION DU TEXTE 01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 title="Puces"/>
          <p:cNvSpPr txBox="1">
            <a:spLocks noGrp="1"/>
          </p:cNvSpPr>
          <p:nvPr>
            <p:ph type="body" idx="1"/>
          </p:nvPr>
        </p:nvSpPr>
        <p:spPr>
          <a:xfrm>
            <a:off x="398533" y="2397686"/>
            <a:ext cx="3707122" cy="22187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15"/>
          <p:cNvSpPr/>
          <p:nvPr/>
        </p:nvSpPr>
        <p:spPr>
          <a:xfrm rot="10800000">
            <a:off x="1379765" y="-4"/>
            <a:ext cx="7764236" cy="4229105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/>
          <p:nvPr/>
        </p:nvSpPr>
        <p:spPr>
          <a:xfrm flipH="1">
            <a:off x="2233613" y="-4"/>
            <a:ext cx="3090863" cy="981079"/>
          </a:xfrm>
          <a:prstGeom prst="parallelogram">
            <a:avLst>
              <a:gd name="adj" fmla="val 186380"/>
            </a:avLst>
          </a:prstGeom>
          <a:solidFill>
            <a:srgbClr val="E2606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6" name="Google Shape;66;p15"/>
          <p:cNvCxnSpPr/>
          <p:nvPr/>
        </p:nvCxnSpPr>
        <p:spPr>
          <a:xfrm rot="10800000" flipH="1">
            <a:off x="4781550" y="3785308"/>
            <a:ext cx="1143431" cy="1352550"/>
          </a:xfrm>
          <a:prstGeom prst="straightConnector1">
            <a:avLst/>
          </a:prstGeom>
          <a:noFill/>
          <a:ln w="9525" cap="flat" cmpd="sng">
            <a:solidFill>
              <a:srgbClr val="EE957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7" name="Google Shape;67;p15" title="Sous-titre"/>
          <p:cNvSpPr txBox="1">
            <a:spLocks noGrp="1"/>
          </p:cNvSpPr>
          <p:nvPr>
            <p:ph type="body" idx="2"/>
          </p:nvPr>
        </p:nvSpPr>
        <p:spPr>
          <a:xfrm>
            <a:off x="398534" y="1922608"/>
            <a:ext cx="5506973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5" title="Titre "/>
          <p:cNvSpPr txBox="1">
            <a:spLocks noGrp="1"/>
          </p:cNvSpPr>
          <p:nvPr>
            <p:ph type="title"/>
          </p:nvPr>
        </p:nvSpPr>
        <p:spPr>
          <a:xfrm>
            <a:off x="398533" y="981363"/>
            <a:ext cx="5506967" cy="911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  <a:defRPr sz="33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5"/>
          <p:cNvSpPr>
            <a:spLocks noGrp="1"/>
          </p:cNvSpPr>
          <p:nvPr>
            <p:ph type="pic" idx="3"/>
          </p:nvPr>
        </p:nvSpPr>
        <p:spPr>
          <a:xfrm>
            <a:off x="4953000" y="0"/>
            <a:ext cx="4191000" cy="51541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70" name="Google Shape;70;p15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7">
          <p15:clr>
            <a:srgbClr val="FBAE40"/>
          </p15:clr>
        </p15:guide>
        <p15:guide id="2" pos="2880">
          <p15:clr>
            <a:srgbClr val="FBAE40"/>
          </p15:clr>
        </p15:guide>
        <p15:guide id="3" pos="31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 avec sous-titre">
  <p:cSld name="Comparaison avec sous-titre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" name="Google Shape;73;p16"/>
          <p:cNvCxnSpPr/>
          <p:nvPr/>
        </p:nvCxnSpPr>
        <p:spPr>
          <a:xfrm rot="10800000">
            <a:off x="-6935" y="2725475"/>
            <a:ext cx="1434464" cy="1179742"/>
          </a:xfrm>
          <a:prstGeom prst="straightConnector1">
            <a:avLst/>
          </a:prstGeom>
          <a:noFill/>
          <a:ln w="9525" cap="flat" cmpd="sng">
            <a:solidFill>
              <a:srgbClr val="EE957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74" name="Google Shape;74;p16"/>
          <p:cNvGrpSpPr/>
          <p:nvPr/>
        </p:nvGrpSpPr>
        <p:grpSpPr>
          <a:xfrm flipH="1">
            <a:off x="5670996" y="0"/>
            <a:ext cx="3572983" cy="2655755"/>
            <a:chOff x="-124265" y="-2"/>
            <a:chExt cx="4763978" cy="3367272"/>
          </a:xfrm>
        </p:grpSpPr>
        <p:sp>
          <p:nvSpPr>
            <p:cNvPr id="75" name="Google Shape;75;p16"/>
            <p:cNvSpPr/>
            <p:nvPr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76" name="Google Shape;76;p16"/>
            <p:cNvCxnSpPr/>
            <p:nvPr/>
          </p:nvCxnSpPr>
          <p:spPr>
            <a:xfrm rot="10800000" flipH="1">
              <a:off x="1433638" y="-2"/>
              <a:ext cx="1240971" cy="916595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77" name="Google Shape;77;p16"/>
            <p:cNvSpPr/>
            <p:nvPr/>
          </p:nvSpPr>
          <p:spPr>
            <a:xfrm rot="-2178838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rgbClr val="EE957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8" name="Google Shape;78;p16"/>
          <p:cNvSpPr txBox="1">
            <a:spLocks noGrp="1"/>
          </p:cNvSpPr>
          <p:nvPr>
            <p:ph type="body" idx="1"/>
          </p:nvPr>
        </p:nvSpPr>
        <p:spPr>
          <a:xfrm>
            <a:off x="390524" y="1578666"/>
            <a:ext cx="4106468" cy="5858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A40"/>
              </a:buClr>
              <a:buSzPts val="2100"/>
              <a:buFont typeface="Arial"/>
              <a:buNone/>
              <a:defRPr sz="2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6" title="Puces"/>
          <p:cNvSpPr txBox="1">
            <a:spLocks noGrp="1"/>
          </p:cNvSpPr>
          <p:nvPr>
            <p:ph type="body" idx="2"/>
          </p:nvPr>
        </p:nvSpPr>
        <p:spPr>
          <a:xfrm>
            <a:off x="390524" y="2164557"/>
            <a:ext cx="4106468" cy="2424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body" idx="3"/>
          </p:nvPr>
        </p:nvSpPr>
        <p:spPr>
          <a:xfrm>
            <a:off x="4640035" y="1578666"/>
            <a:ext cx="4106700" cy="5858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2100"/>
              <a:buFont typeface="Arial"/>
              <a:buNone/>
              <a:defRPr sz="2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6" title="Puces"/>
          <p:cNvSpPr txBox="1">
            <a:spLocks noGrp="1"/>
          </p:cNvSpPr>
          <p:nvPr>
            <p:ph type="body" idx="4"/>
          </p:nvPr>
        </p:nvSpPr>
        <p:spPr>
          <a:xfrm>
            <a:off x="4640035" y="2164557"/>
            <a:ext cx="4106700" cy="2424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6" title="Sous-titre"/>
          <p:cNvSpPr txBox="1">
            <a:spLocks noGrp="1"/>
          </p:cNvSpPr>
          <p:nvPr>
            <p:ph type="body" idx="5"/>
          </p:nvPr>
        </p:nvSpPr>
        <p:spPr>
          <a:xfrm>
            <a:off x="390370" y="1032699"/>
            <a:ext cx="5526447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6"/>
          <p:cNvSpPr/>
          <p:nvPr/>
        </p:nvSpPr>
        <p:spPr>
          <a:xfrm flipH="1">
            <a:off x="5009931" y="1"/>
            <a:ext cx="1085850" cy="479298"/>
          </a:xfrm>
          <a:prstGeom prst="parallelogram">
            <a:avLst>
              <a:gd name="adj" fmla="val 135617"/>
            </a:avLst>
          </a:prstGeom>
          <a:solidFill>
            <a:srgbClr val="E2606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6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86" name="Google Shape;86;p16" title="Titre 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6249917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  <a:defRPr sz="33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95">
          <p15:clr>
            <a:srgbClr val="FBAE40"/>
          </p15:clr>
        </p15:guide>
        <p15:guide id="4" pos="5567">
          <p15:clr>
            <a:srgbClr val="FBAE40"/>
          </p15:clr>
        </p15:guide>
        <p15:guide id="5" orient="horz" pos="583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-tête de section avec image">
  <p:cSld name="En-tête de section avec image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7"/>
          <p:cNvSpPr/>
          <p:nvPr/>
        </p:nvSpPr>
        <p:spPr>
          <a:xfrm rot="10800000" flipH="1">
            <a:off x="0" y="-4"/>
            <a:ext cx="7968996" cy="4053083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7"/>
          <p:cNvSpPr/>
          <p:nvPr/>
        </p:nvSpPr>
        <p:spPr>
          <a:xfrm rot="-1641210">
            <a:off x="-477993" y="2691132"/>
            <a:ext cx="2895122" cy="1310214"/>
          </a:xfrm>
          <a:prstGeom prst="parallelogram">
            <a:avLst>
              <a:gd name="adj" fmla="val 53218"/>
            </a:avLst>
          </a:prstGeom>
          <a:solidFill>
            <a:srgbClr val="EE957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0" name="Google Shape;90;p17"/>
          <p:cNvCxnSpPr/>
          <p:nvPr/>
        </p:nvCxnSpPr>
        <p:spPr>
          <a:xfrm rot="10800000" flipH="1">
            <a:off x="0" y="757568"/>
            <a:ext cx="1338943" cy="680629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1" name="Google Shape;91;p17" title="Titre"/>
          <p:cNvSpPr txBox="1">
            <a:spLocks noGrp="1"/>
          </p:cNvSpPr>
          <p:nvPr>
            <p:ph type="title"/>
          </p:nvPr>
        </p:nvSpPr>
        <p:spPr>
          <a:xfrm>
            <a:off x="4712882" y="1490565"/>
            <a:ext cx="3683725" cy="1342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libri"/>
              <a:buNone/>
              <a:defRPr sz="3000" b="1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7" title="Sous-titre"/>
          <p:cNvSpPr txBox="1">
            <a:spLocks noGrp="1"/>
          </p:cNvSpPr>
          <p:nvPr>
            <p:ph type="body" idx="1"/>
          </p:nvPr>
        </p:nvSpPr>
        <p:spPr>
          <a:xfrm>
            <a:off x="4712882" y="2844035"/>
            <a:ext cx="3683725" cy="682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0909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0909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0909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0909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93" name="Google Shape;93;p17"/>
          <p:cNvCxnSpPr/>
          <p:nvPr/>
        </p:nvCxnSpPr>
        <p:spPr>
          <a:xfrm rot="10800000" flipH="1">
            <a:off x="6753226" y="2943224"/>
            <a:ext cx="2390775" cy="1266825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4" name="Google Shape;94;p17"/>
          <p:cNvSpPr/>
          <p:nvPr/>
        </p:nvSpPr>
        <p:spPr>
          <a:xfrm>
            <a:off x="5815584" y="0"/>
            <a:ext cx="1693926" cy="557114"/>
          </a:xfrm>
          <a:prstGeom prst="parallelogram">
            <a:avLst>
              <a:gd name="adj" fmla="val 195850"/>
            </a:avLst>
          </a:prstGeom>
          <a:solidFill>
            <a:srgbClr val="E2606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5" name="Google Shape;95;p17"/>
          <p:cNvCxnSpPr/>
          <p:nvPr/>
        </p:nvCxnSpPr>
        <p:spPr>
          <a:xfrm rot="10800000" flipH="1">
            <a:off x="0" y="306422"/>
            <a:ext cx="4946515" cy="2552361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6" name="Google Shape;96;p17"/>
          <p:cNvSpPr>
            <a:spLocks noGrp="1"/>
          </p:cNvSpPr>
          <p:nvPr>
            <p:ph type="pic" idx="2"/>
          </p:nvPr>
        </p:nvSpPr>
        <p:spPr>
          <a:xfrm>
            <a:off x="1262549" y="645708"/>
            <a:ext cx="3321392" cy="3852817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cxnSp>
        <p:nvCxnSpPr>
          <p:cNvPr id="97" name="Google Shape;97;p17"/>
          <p:cNvCxnSpPr/>
          <p:nvPr/>
        </p:nvCxnSpPr>
        <p:spPr>
          <a:xfrm rot="10800000" flipH="1">
            <a:off x="-13378" y="3950208"/>
            <a:ext cx="1439842" cy="75079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8" name="Google Shape;98;p17"/>
          <p:cNvSpPr/>
          <p:nvPr/>
        </p:nvSpPr>
        <p:spPr>
          <a:xfrm rot="-1641210">
            <a:off x="-104276" y="2555284"/>
            <a:ext cx="1078799" cy="177435"/>
          </a:xfrm>
          <a:prstGeom prst="parallelogram">
            <a:avLst>
              <a:gd name="adj" fmla="val 53218"/>
            </a:avLst>
          </a:prstGeom>
          <a:solidFill>
            <a:srgbClr val="A5A5A5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37">
          <p15:clr>
            <a:srgbClr val="FBAE40"/>
          </p15:clr>
        </p15:guide>
        <p15:guide id="2" pos="2880">
          <p15:clr>
            <a:srgbClr val="FBAE40"/>
          </p15:clr>
        </p15:guide>
        <p15:guide id="3" pos="107">
          <p15:clr>
            <a:srgbClr val="FBAE40"/>
          </p15:clr>
        </p15:guide>
        <p15:guide id="4" orient="horz" pos="3127">
          <p15:clr>
            <a:srgbClr val="FBAE40"/>
          </p15:clr>
        </p15:guide>
        <p15:guide id="5" pos="5653">
          <p15:clr>
            <a:srgbClr val="FBAE40"/>
          </p15:clr>
        </p15:guide>
        <p15:guide id="6" orient="horz" pos="10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phique">
  <p:cSld name="Graphique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8"/>
          <p:cNvGrpSpPr/>
          <p:nvPr/>
        </p:nvGrpSpPr>
        <p:grpSpPr>
          <a:xfrm flipH="1">
            <a:off x="5670996" y="0"/>
            <a:ext cx="3572983" cy="2655755"/>
            <a:chOff x="-124265" y="-2"/>
            <a:chExt cx="4763978" cy="3367272"/>
          </a:xfrm>
        </p:grpSpPr>
        <p:sp>
          <p:nvSpPr>
            <p:cNvPr id="101" name="Google Shape;101;p18"/>
            <p:cNvSpPr/>
            <p:nvPr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02" name="Google Shape;102;p18"/>
            <p:cNvCxnSpPr/>
            <p:nvPr/>
          </p:nvCxnSpPr>
          <p:spPr>
            <a:xfrm rot="10800000" flipH="1">
              <a:off x="1433638" y="-2"/>
              <a:ext cx="1240971" cy="916595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03" name="Google Shape;103;p18"/>
            <p:cNvSpPr/>
            <p:nvPr/>
          </p:nvSpPr>
          <p:spPr>
            <a:xfrm rot="-2178838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rgbClr val="EE957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4" name="Google Shape;104;p18"/>
          <p:cNvSpPr/>
          <p:nvPr/>
        </p:nvSpPr>
        <p:spPr>
          <a:xfrm flipH="1">
            <a:off x="5009931" y="1"/>
            <a:ext cx="1085850" cy="479298"/>
          </a:xfrm>
          <a:prstGeom prst="parallelogram">
            <a:avLst>
              <a:gd name="adj" fmla="val 135617"/>
            </a:avLst>
          </a:prstGeom>
          <a:solidFill>
            <a:srgbClr val="E2606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8" title="Sous-titre"/>
          <p:cNvSpPr txBox="1">
            <a:spLocks noGrp="1"/>
          </p:cNvSpPr>
          <p:nvPr>
            <p:ph type="body" idx="1"/>
          </p:nvPr>
        </p:nvSpPr>
        <p:spPr>
          <a:xfrm>
            <a:off x="390370" y="1032699"/>
            <a:ext cx="5526447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6" name="Google Shape;106;p18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8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08" name="Google Shape;108;p18" title="Titre 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6249917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  <a:defRPr sz="33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18"/>
          <p:cNvSpPr txBox="1">
            <a:spLocks noGrp="1"/>
          </p:cNvSpPr>
          <p:nvPr>
            <p:ph type="body" idx="2"/>
          </p:nvPr>
        </p:nvSpPr>
        <p:spPr>
          <a:xfrm>
            <a:off x="398860" y="1504321"/>
            <a:ext cx="3919323" cy="3062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0" name="Google Shape;110;p18" title="Graphique"/>
          <p:cNvSpPr>
            <a:spLocks noGrp="1"/>
          </p:cNvSpPr>
          <p:nvPr>
            <p:ph type="chart" idx="3"/>
          </p:nvPr>
        </p:nvSpPr>
        <p:spPr>
          <a:xfrm>
            <a:off x="4347086" y="1504322"/>
            <a:ext cx="4289548" cy="3063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7">
          <p15:clr>
            <a:srgbClr val="FBAE40"/>
          </p15:clr>
        </p15:guide>
        <p15:guide id="2" pos="2880">
          <p15:clr>
            <a:srgbClr val="FBAE40"/>
          </p15:clr>
        </p15:guide>
        <p15:guide id="3" pos="583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position du texte 02">
  <p:cSld name="Disposition du texte 02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9"/>
          <p:cNvSpPr/>
          <p:nvPr/>
        </p:nvSpPr>
        <p:spPr>
          <a:xfrm rot="10800000">
            <a:off x="1379765" y="-4"/>
            <a:ext cx="7764236" cy="4229105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9"/>
          <p:cNvSpPr>
            <a:spLocks noGrp="1"/>
          </p:cNvSpPr>
          <p:nvPr>
            <p:ph type="pic" idx="2"/>
          </p:nvPr>
        </p:nvSpPr>
        <p:spPr>
          <a:xfrm>
            <a:off x="4627633" y="1076325"/>
            <a:ext cx="4516366" cy="4067175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14" name="Google Shape;114;p19" title="Puces"/>
          <p:cNvSpPr txBox="1">
            <a:spLocks noGrp="1"/>
          </p:cNvSpPr>
          <p:nvPr>
            <p:ph type="body" idx="1"/>
          </p:nvPr>
        </p:nvSpPr>
        <p:spPr>
          <a:xfrm>
            <a:off x="398533" y="2397686"/>
            <a:ext cx="3707122" cy="22187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19"/>
          <p:cNvSpPr/>
          <p:nvPr/>
        </p:nvSpPr>
        <p:spPr>
          <a:xfrm flipH="1">
            <a:off x="2233613" y="-4"/>
            <a:ext cx="3090863" cy="981079"/>
          </a:xfrm>
          <a:prstGeom prst="parallelogram">
            <a:avLst>
              <a:gd name="adj" fmla="val 186380"/>
            </a:avLst>
          </a:prstGeom>
          <a:solidFill>
            <a:srgbClr val="E2606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6" name="Google Shape;116;p19"/>
          <p:cNvCxnSpPr/>
          <p:nvPr/>
        </p:nvCxnSpPr>
        <p:spPr>
          <a:xfrm rot="10800000" flipH="1">
            <a:off x="7764236" y="889089"/>
            <a:ext cx="1379764" cy="1225461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7" name="Google Shape;117;p19" title="Sous-titre"/>
          <p:cNvSpPr txBox="1">
            <a:spLocks noGrp="1"/>
          </p:cNvSpPr>
          <p:nvPr>
            <p:ph type="body" idx="3"/>
          </p:nvPr>
        </p:nvSpPr>
        <p:spPr>
          <a:xfrm>
            <a:off x="398534" y="1922608"/>
            <a:ext cx="5506966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8" name="Google Shape;118;p19"/>
          <p:cNvSpPr txBox="1"/>
          <p:nvPr/>
        </p:nvSpPr>
        <p:spPr>
          <a:xfrm>
            <a:off x="8305038" y="178308"/>
            <a:ext cx="61098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i="0" u="none" strike="noStrike" cap="none">
                <a:solidFill>
                  <a:schemeClr val="accent1"/>
                </a:solidFill>
                <a:latin typeface="Arial Black"/>
                <a:ea typeface="Arial Black"/>
                <a:cs typeface="Arial Black"/>
                <a:sym typeface="Arial Black"/>
              </a:rPr>
              <a:t>FR</a:t>
            </a:r>
            <a:endParaRPr sz="1100"/>
          </a:p>
        </p:txBody>
      </p:sp>
      <p:sp>
        <p:nvSpPr>
          <p:cNvPr id="119" name="Google Shape;119;p19" title="Titre "/>
          <p:cNvSpPr txBox="1">
            <a:spLocks noGrp="1"/>
          </p:cNvSpPr>
          <p:nvPr>
            <p:ph type="title"/>
          </p:nvPr>
        </p:nvSpPr>
        <p:spPr>
          <a:xfrm>
            <a:off x="398533" y="981363"/>
            <a:ext cx="5506967" cy="911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  <a:defRPr sz="33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9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19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7">
          <p15:clr>
            <a:srgbClr val="FBAE40"/>
          </p15:clr>
        </p15:guide>
        <p15:guide id="2" pos="2880">
          <p15:clr>
            <a:srgbClr val="FBAE40"/>
          </p15:clr>
        </p15:guide>
        <p15:guide id="3" pos="31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au">
  <p:cSld name="Tableau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0" title="Tableau"/>
          <p:cNvSpPr>
            <a:spLocks noGrp="1"/>
          </p:cNvSpPr>
          <p:nvPr>
            <p:ph type="tbl" idx="2"/>
          </p:nvPr>
        </p:nvSpPr>
        <p:spPr>
          <a:xfrm>
            <a:off x="398533" y="1998602"/>
            <a:ext cx="8245031" cy="257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24" name="Google Shape;124;p20"/>
          <p:cNvGrpSpPr/>
          <p:nvPr/>
        </p:nvGrpSpPr>
        <p:grpSpPr>
          <a:xfrm flipH="1">
            <a:off x="5670996" y="0"/>
            <a:ext cx="3572983" cy="2655755"/>
            <a:chOff x="-124265" y="-2"/>
            <a:chExt cx="4763978" cy="3367272"/>
          </a:xfrm>
        </p:grpSpPr>
        <p:sp>
          <p:nvSpPr>
            <p:cNvPr id="125" name="Google Shape;125;p20"/>
            <p:cNvSpPr/>
            <p:nvPr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26" name="Google Shape;126;p20"/>
            <p:cNvCxnSpPr/>
            <p:nvPr/>
          </p:nvCxnSpPr>
          <p:spPr>
            <a:xfrm rot="10800000" flipH="1">
              <a:off x="1433638" y="-2"/>
              <a:ext cx="1240971" cy="916595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27" name="Google Shape;127;p20"/>
            <p:cNvSpPr/>
            <p:nvPr/>
          </p:nvSpPr>
          <p:spPr>
            <a:xfrm rot="-2178838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8" name="Google Shape;128;p20"/>
          <p:cNvSpPr/>
          <p:nvPr/>
        </p:nvSpPr>
        <p:spPr>
          <a:xfrm flipH="1">
            <a:off x="5009931" y="1"/>
            <a:ext cx="1085850" cy="479298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0" title="Sous-titre"/>
          <p:cNvSpPr txBox="1">
            <a:spLocks noGrp="1"/>
          </p:cNvSpPr>
          <p:nvPr>
            <p:ph type="body" idx="1"/>
          </p:nvPr>
        </p:nvSpPr>
        <p:spPr>
          <a:xfrm>
            <a:off x="390370" y="1032699"/>
            <a:ext cx="5526447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0" name="Google Shape;130;p20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0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32" name="Google Shape;132;p20" title="Titre 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6249917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  <a:defRPr sz="33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7">
          <p15:clr>
            <a:srgbClr val="FBAE40"/>
          </p15:clr>
        </p15:guide>
        <p15:guide id="2" pos="2880">
          <p15:clr>
            <a:srgbClr val="FBAE40"/>
          </p15:clr>
        </p15:guide>
        <p15:guide id="3" pos="583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nde photo">
  <p:cSld name="Grande photo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/>
        </p:nvSpPr>
        <p:spPr>
          <a:xfrm rot="10800000" flipH="1">
            <a:off x="0" y="-4"/>
            <a:ext cx="8810625" cy="4724402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1" title="Image"/>
          <p:cNvSpPr>
            <a:spLocks noGrp="1"/>
          </p:cNvSpPr>
          <p:nvPr>
            <p:ph type="pic" idx="2"/>
          </p:nvPr>
        </p:nvSpPr>
        <p:spPr>
          <a:xfrm>
            <a:off x="269422" y="244928"/>
            <a:ext cx="8605156" cy="4653644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cxnSp>
        <p:nvCxnSpPr>
          <p:cNvPr id="136" name="Google Shape;136;p21"/>
          <p:cNvCxnSpPr/>
          <p:nvPr/>
        </p:nvCxnSpPr>
        <p:spPr>
          <a:xfrm rot="10800000" flipH="1">
            <a:off x="0" y="4008665"/>
            <a:ext cx="1771650" cy="930729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37" name="Google Shape;137;p21" title="Titre "/>
          <p:cNvSpPr txBox="1">
            <a:spLocks noGrp="1"/>
          </p:cNvSpPr>
          <p:nvPr>
            <p:ph type="title"/>
          </p:nvPr>
        </p:nvSpPr>
        <p:spPr>
          <a:xfrm>
            <a:off x="269422" y="419101"/>
            <a:ext cx="6249917" cy="704849"/>
          </a:xfrm>
          <a:prstGeom prst="rect">
            <a:avLst/>
          </a:prstGeom>
          <a:solidFill>
            <a:schemeClr val="lt1">
              <a:alpha val="89803"/>
            </a:schemeClr>
          </a:solidFill>
          <a:ln>
            <a:noFill/>
          </a:ln>
        </p:spPr>
        <p:txBody>
          <a:bodyPr spcFirstLastPara="1" wrap="square" lIns="216000" tIns="34275" rIns="68575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  <a:defRPr sz="27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erci">
  <p:cSld name="Merci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2"/>
          <p:cNvSpPr txBox="1">
            <a:spLocks noGrp="1"/>
          </p:cNvSpPr>
          <p:nvPr>
            <p:ph type="body" idx="1"/>
          </p:nvPr>
        </p:nvSpPr>
        <p:spPr>
          <a:xfrm>
            <a:off x="5117197" y="2595872"/>
            <a:ext cx="258433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0" name="Google Shape;140;p22"/>
          <p:cNvSpPr txBox="1">
            <a:spLocks noGrp="1"/>
          </p:cNvSpPr>
          <p:nvPr>
            <p:ph type="body" idx="2"/>
          </p:nvPr>
        </p:nvSpPr>
        <p:spPr>
          <a:xfrm>
            <a:off x="5117197" y="2879588"/>
            <a:ext cx="258433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1" name="Google Shape;141;p22"/>
          <p:cNvSpPr txBox="1">
            <a:spLocks noGrp="1"/>
          </p:cNvSpPr>
          <p:nvPr>
            <p:ph type="body" idx="3"/>
          </p:nvPr>
        </p:nvSpPr>
        <p:spPr>
          <a:xfrm>
            <a:off x="5117196" y="3162502"/>
            <a:ext cx="2584337" cy="216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2" name="Google Shape;142;p22"/>
          <p:cNvSpPr txBox="1">
            <a:spLocks noGrp="1"/>
          </p:cNvSpPr>
          <p:nvPr>
            <p:ph type="body" idx="4"/>
          </p:nvPr>
        </p:nvSpPr>
        <p:spPr>
          <a:xfrm>
            <a:off x="5117197" y="3446218"/>
            <a:ext cx="258433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3" name="Google Shape;143;p22"/>
          <p:cNvSpPr/>
          <p:nvPr/>
        </p:nvSpPr>
        <p:spPr>
          <a:xfrm>
            <a:off x="4844204" y="2628935"/>
            <a:ext cx="194156" cy="194156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7958" y="17505"/>
                </a:moveTo>
                <a:cubicBezTo>
                  <a:pt x="17372" y="16944"/>
                  <a:pt x="16242" y="15945"/>
                  <a:pt x="15117" y="15413"/>
                </a:cubicBezTo>
                <a:cubicBezTo>
                  <a:pt x="14189" y="14975"/>
                  <a:pt x="13657" y="14531"/>
                  <a:pt x="13491" y="14057"/>
                </a:cubicBezTo>
                <a:cubicBezTo>
                  <a:pt x="13377" y="13728"/>
                  <a:pt x="13428" y="13351"/>
                  <a:pt x="13649" y="12904"/>
                </a:cubicBezTo>
                <a:cubicBezTo>
                  <a:pt x="13815" y="12567"/>
                  <a:pt x="13972" y="12286"/>
                  <a:pt x="14117" y="12028"/>
                </a:cubicBezTo>
                <a:cubicBezTo>
                  <a:pt x="14730" y="10934"/>
                  <a:pt x="15203" y="10145"/>
                  <a:pt x="15203" y="7348"/>
                </a:cubicBezTo>
                <a:cubicBezTo>
                  <a:pt x="15203" y="3162"/>
                  <a:pt x="12787" y="2951"/>
                  <a:pt x="12309" y="2951"/>
                </a:cubicBezTo>
                <a:cubicBezTo>
                  <a:pt x="11917" y="2951"/>
                  <a:pt x="11672" y="3037"/>
                  <a:pt x="11435" y="3121"/>
                </a:cubicBezTo>
                <a:cubicBezTo>
                  <a:pt x="11175" y="3213"/>
                  <a:pt x="10907" y="3309"/>
                  <a:pt x="10296" y="3319"/>
                </a:cubicBezTo>
                <a:cubicBezTo>
                  <a:pt x="9190" y="3337"/>
                  <a:pt x="6873" y="3375"/>
                  <a:pt x="6873" y="7226"/>
                </a:cubicBezTo>
                <a:cubicBezTo>
                  <a:pt x="6873" y="9919"/>
                  <a:pt x="7574" y="11156"/>
                  <a:pt x="8125" y="12150"/>
                </a:cubicBezTo>
                <a:cubicBezTo>
                  <a:pt x="8266" y="12404"/>
                  <a:pt x="8399" y="12645"/>
                  <a:pt x="8505" y="12885"/>
                </a:cubicBezTo>
                <a:cubicBezTo>
                  <a:pt x="8973" y="13949"/>
                  <a:pt x="8631" y="14693"/>
                  <a:pt x="7426" y="15224"/>
                </a:cubicBezTo>
                <a:cubicBezTo>
                  <a:pt x="5905" y="15897"/>
                  <a:pt x="5188" y="16247"/>
                  <a:pt x="3693" y="17562"/>
                </a:cubicBezTo>
                <a:cubicBezTo>
                  <a:pt x="2017" y="15800"/>
                  <a:pt x="982" y="13423"/>
                  <a:pt x="982" y="10800"/>
                </a:cubicBezTo>
                <a:cubicBezTo>
                  <a:pt x="982" y="5377"/>
                  <a:pt x="5377" y="982"/>
                  <a:pt x="10800" y="982"/>
                </a:cubicBezTo>
                <a:cubicBezTo>
                  <a:pt x="16223" y="982"/>
                  <a:pt x="20618" y="5377"/>
                  <a:pt x="20618" y="10800"/>
                </a:cubicBezTo>
                <a:cubicBezTo>
                  <a:pt x="20618" y="13395"/>
                  <a:pt x="19603" y="15749"/>
                  <a:pt x="17958" y="17505"/>
                </a:cubicBezTo>
                <a:moveTo>
                  <a:pt x="10800" y="20618"/>
                </a:moveTo>
                <a:cubicBezTo>
                  <a:pt x="8356" y="20618"/>
                  <a:pt x="6125" y="19720"/>
                  <a:pt x="4407" y="18242"/>
                </a:cubicBezTo>
                <a:cubicBezTo>
                  <a:pt x="5730" y="17084"/>
                  <a:pt x="6362" y="16767"/>
                  <a:pt x="7823" y="16122"/>
                </a:cubicBezTo>
                <a:cubicBezTo>
                  <a:pt x="9515" y="15375"/>
                  <a:pt x="10091" y="14051"/>
                  <a:pt x="9403" y="12489"/>
                </a:cubicBezTo>
                <a:cubicBezTo>
                  <a:pt x="9279" y="12208"/>
                  <a:pt x="9136" y="11949"/>
                  <a:pt x="8984" y="11674"/>
                </a:cubicBezTo>
                <a:cubicBezTo>
                  <a:pt x="8461" y="10732"/>
                  <a:pt x="7855" y="9665"/>
                  <a:pt x="7855" y="7226"/>
                </a:cubicBezTo>
                <a:cubicBezTo>
                  <a:pt x="7855" y="4341"/>
                  <a:pt x="9224" y="4318"/>
                  <a:pt x="10312" y="4300"/>
                </a:cubicBezTo>
                <a:cubicBezTo>
                  <a:pt x="11084" y="4287"/>
                  <a:pt x="11461" y="4154"/>
                  <a:pt x="11763" y="4047"/>
                </a:cubicBezTo>
                <a:cubicBezTo>
                  <a:pt x="11964" y="3975"/>
                  <a:pt x="12086" y="3933"/>
                  <a:pt x="12309" y="3933"/>
                </a:cubicBezTo>
                <a:cubicBezTo>
                  <a:pt x="13218" y="3933"/>
                  <a:pt x="14221" y="4830"/>
                  <a:pt x="14221" y="7348"/>
                </a:cubicBezTo>
                <a:cubicBezTo>
                  <a:pt x="14221" y="9888"/>
                  <a:pt x="13840" y="10513"/>
                  <a:pt x="13261" y="11548"/>
                </a:cubicBezTo>
                <a:cubicBezTo>
                  <a:pt x="13108" y="11820"/>
                  <a:pt x="12943" y="12115"/>
                  <a:pt x="12768" y="12470"/>
                </a:cubicBezTo>
                <a:cubicBezTo>
                  <a:pt x="12430" y="13155"/>
                  <a:pt x="12362" y="13798"/>
                  <a:pt x="12565" y="14380"/>
                </a:cubicBezTo>
                <a:cubicBezTo>
                  <a:pt x="12825" y="15126"/>
                  <a:pt x="13502" y="15737"/>
                  <a:pt x="14696" y="16302"/>
                </a:cubicBezTo>
                <a:cubicBezTo>
                  <a:pt x="15675" y="16764"/>
                  <a:pt x="16700" y="17667"/>
                  <a:pt x="17251" y="18189"/>
                </a:cubicBezTo>
                <a:cubicBezTo>
                  <a:pt x="15525" y="19697"/>
                  <a:pt x="13272" y="20618"/>
                  <a:pt x="10800" y="20618"/>
                </a:cubicBezTo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4"/>
                  <a:pt x="4835" y="21600"/>
                  <a:pt x="10800" y="21600"/>
                </a:cubicBezTo>
                <a:cubicBezTo>
                  <a:pt x="16765" y="21600"/>
                  <a:pt x="21600" y="16764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28575" tIns="28575" rIns="28575" bIns="285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2"/>
          <p:cNvSpPr/>
          <p:nvPr/>
        </p:nvSpPr>
        <p:spPr>
          <a:xfrm>
            <a:off x="4880717" y="2923490"/>
            <a:ext cx="121130" cy="222071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1700" y="1473"/>
                </a:moveTo>
                <a:lnTo>
                  <a:pt x="9900" y="1473"/>
                </a:lnTo>
                <a:cubicBezTo>
                  <a:pt x="9403" y="1473"/>
                  <a:pt x="9000" y="1692"/>
                  <a:pt x="9000" y="1964"/>
                </a:cubicBezTo>
                <a:cubicBezTo>
                  <a:pt x="9000" y="2235"/>
                  <a:pt x="9403" y="2455"/>
                  <a:pt x="9900" y="2455"/>
                </a:cubicBezTo>
                <a:lnTo>
                  <a:pt x="11700" y="2455"/>
                </a:lnTo>
                <a:cubicBezTo>
                  <a:pt x="12197" y="2455"/>
                  <a:pt x="12600" y="2235"/>
                  <a:pt x="12600" y="1964"/>
                </a:cubicBezTo>
                <a:cubicBezTo>
                  <a:pt x="12600" y="1692"/>
                  <a:pt x="12197" y="1473"/>
                  <a:pt x="11700" y="1473"/>
                </a:cubicBezTo>
                <a:moveTo>
                  <a:pt x="19800" y="2945"/>
                </a:moveTo>
                <a:lnTo>
                  <a:pt x="1800" y="2945"/>
                </a:lnTo>
                <a:lnTo>
                  <a:pt x="1800" y="1964"/>
                </a:lnTo>
                <a:cubicBezTo>
                  <a:pt x="1800" y="1422"/>
                  <a:pt x="2605" y="982"/>
                  <a:pt x="3600" y="982"/>
                </a:cubicBezTo>
                <a:lnTo>
                  <a:pt x="18000" y="982"/>
                </a:lnTo>
                <a:cubicBezTo>
                  <a:pt x="18993" y="982"/>
                  <a:pt x="19800" y="1422"/>
                  <a:pt x="19800" y="1964"/>
                </a:cubicBezTo>
                <a:cubicBezTo>
                  <a:pt x="19800" y="1964"/>
                  <a:pt x="19800" y="2945"/>
                  <a:pt x="19800" y="2945"/>
                </a:cubicBezTo>
                <a:close/>
                <a:moveTo>
                  <a:pt x="19800" y="17673"/>
                </a:moveTo>
                <a:lnTo>
                  <a:pt x="1800" y="17673"/>
                </a:lnTo>
                <a:lnTo>
                  <a:pt x="1800" y="3927"/>
                </a:lnTo>
                <a:lnTo>
                  <a:pt x="19800" y="3927"/>
                </a:lnTo>
                <a:cubicBezTo>
                  <a:pt x="19800" y="3927"/>
                  <a:pt x="19800" y="17673"/>
                  <a:pt x="19800" y="17673"/>
                </a:cubicBezTo>
                <a:close/>
                <a:moveTo>
                  <a:pt x="19800" y="19636"/>
                </a:moveTo>
                <a:cubicBezTo>
                  <a:pt x="19800" y="20179"/>
                  <a:pt x="18993" y="20618"/>
                  <a:pt x="18000" y="20618"/>
                </a:cubicBezTo>
                <a:lnTo>
                  <a:pt x="3600" y="20618"/>
                </a:lnTo>
                <a:cubicBezTo>
                  <a:pt x="2605" y="20618"/>
                  <a:pt x="1800" y="20179"/>
                  <a:pt x="1800" y="19636"/>
                </a:cubicBezTo>
                <a:lnTo>
                  <a:pt x="1800" y="18655"/>
                </a:lnTo>
                <a:lnTo>
                  <a:pt x="19800" y="18655"/>
                </a:lnTo>
                <a:cubicBezTo>
                  <a:pt x="19800" y="18655"/>
                  <a:pt x="19800" y="19636"/>
                  <a:pt x="19800" y="19636"/>
                </a:cubicBezTo>
                <a:close/>
                <a:moveTo>
                  <a:pt x="18000" y="0"/>
                </a:moveTo>
                <a:lnTo>
                  <a:pt x="3600" y="0"/>
                </a:lnTo>
                <a:cubicBezTo>
                  <a:pt x="1612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1"/>
                  <a:pt x="1612" y="21600"/>
                  <a:pt x="3600" y="21600"/>
                </a:cubicBezTo>
                <a:lnTo>
                  <a:pt x="18000" y="21600"/>
                </a:lnTo>
                <a:cubicBezTo>
                  <a:pt x="19988" y="21600"/>
                  <a:pt x="21600" y="20721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19988" y="0"/>
                  <a:pt x="18000" y="0"/>
                </a:cubicBezTo>
                <a:moveTo>
                  <a:pt x="10800" y="20127"/>
                </a:moveTo>
                <a:cubicBezTo>
                  <a:pt x="11297" y="20127"/>
                  <a:pt x="11700" y="19908"/>
                  <a:pt x="11700" y="19636"/>
                </a:cubicBezTo>
                <a:cubicBezTo>
                  <a:pt x="11700" y="19366"/>
                  <a:pt x="11297" y="19145"/>
                  <a:pt x="10800" y="19145"/>
                </a:cubicBezTo>
                <a:cubicBezTo>
                  <a:pt x="10303" y="19145"/>
                  <a:pt x="9900" y="19366"/>
                  <a:pt x="9900" y="19636"/>
                </a:cubicBezTo>
                <a:cubicBezTo>
                  <a:pt x="9900" y="19908"/>
                  <a:pt x="10303" y="20127"/>
                  <a:pt x="10800" y="20127"/>
                </a:cubicBezTo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28575" tIns="28575" rIns="28575" bIns="285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22"/>
          <p:cNvSpPr/>
          <p:nvPr/>
        </p:nvSpPr>
        <p:spPr>
          <a:xfrm>
            <a:off x="4844204" y="3245959"/>
            <a:ext cx="194156" cy="141205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20618" y="18900"/>
                </a:moveTo>
                <a:cubicBezTo>
                  <a:pt x="20618" y="18980"/>
                  <a:pt x="20611" y="19058"/>
                  <a:pt x="20601" y="19135"/>
                </a:cubicBezTo>
                <a:lnTo>
                  <a:pt x="14539" y="10800"/>
                </a:lnTo>
                <a:lnTo>
                  <a:pt x="20601" y="2465"/>
                </a:lnTo>
                <a:cubicBezTo>
                  <a:pt x="20611" y="2542"/>
                  <a:pt x="20618" y="2620"/>
                  <a:pt x="20618" y="2700"/>
                </a:cubicBezTo>
                <a:cubicBezTo>
                  <a:pt x="20618" y="2700"/>
                  <a:pt x="20618" y="18900"/>
                  <a:pt x="20618" y="18900"/>
                </a:cubicBezTo>
                <a:close/>
                <a:moveTo>
                  <a:pt x="19636" y="20250"/>
                </a:moveTo>
                <a:lnTo>
                  <a:pt x="1964" y="20250"/>
                </a:lnTo>
                <a:cubicBezTo>
                  <a:pt x="1849" y="20250"/>
                  <a:pt x="1739" y="20218"/>
                  <a:pt x="1637" y="20168"/>
                </a:cubicBezTo>
                <a:lnTo>
                  <a:pt x="7755" y="11754"/>
                </a:lnTo>
                <a:lnTo>
                  <a:pt x="9440" y="14072"/>
                </a:lnTo>
                <a:cubicBezTo>
                  <a:pt x="9816" y="14589"/>
                  <a:pt x="10308" y="14847"/>
                  <a:pt x="10800" y="14847"/>
                </a:cubicBezTo>
                <a:cubicBezTo>
                  <a:pt x="11292" y="14847"/>
                  <a:pt x="11784" y="14589"/>
                  <a:pt x="12159" y="14072"/>
                </a:cubicBezTo>
                <a:lnTo>
                  <a:pt x="13845" y="11754"/>
                </a:lnTo>
                <a:lnTo>
                  <a:pt x="19964" y="20168"/>
                </a:lnTo>
                <a:cubicBezTo>
                  <a:pt x="19861" y="20218"/>
                  <a:pt x="19752" y="20250"/>
                  <a:pt x="19636" y="20250"/>
                </a:cubicBezTo>
                <a:moveTo>
                  <a:pt x="982" y="18900"/>
                </a:moveTo>
                <a:lnTo>
                  <a:pt x="982" y="2700"/>
                </a:lnTo>
                <a:cubicBezTo>
                  <a:pt x="982" y="2620"/>
                  <a:pt x="989" y="2542"/>
                  <a:pt x="999" y="2465"/>
                </a:cubicBezTo>
                <a:lnTo>
                  <a:pt x="7061" y="10800"/>
                </a:lnTo>
                <a:lnTo>
                  <a:pt x="999" y="19135"/>
                </a:lnTo>
                <a:cubicBezTo>
                  <a:pt x="989" y="19058"/>
                  <a:pt x="982" y="18980"/>
                  <a:pt x="982" y="18900"/>
                </a:cubicBezTo>
                <a:moveTo>
                  <a:pt x="1964" y="1350"/>
                </a:moveTo>
                <a:lnTo>
                  <a:pt x="19636" y="1350"/>
                </a:lnTo>
                <a:cubicBezTo>
                  <a:pt x="19752" y="1350"/>
                  <a:pt x="19861" y="1382"/>
                  <a:pt x="19964" y="1433"/>
                </a:cubicBezTo>
                <a:lnTo>
                  <a:pt x="11465" y="13118"/>
                </a:lnTo>
                <a:cubicBezTo>
                  <a:pt x="11288" y="13362"/>
                  <a:pt x="11051" y="13497"/>
                  <a:pt x="10800" y="13497"/>
                </a:cubicBezTo>
                <a:cubicBezTo>
                  <a:pt x="10549" y="13497"/>
                  <a:pt x="10312" y="13362"/>
                  <a:pt x="10134" y="13118"/>
                </a:cubicBezTo>
                <a:lnTo>
                  <a:pt x="1637" y="1433"/>
                </a:lnTo>
                <a:cubicBezTo>
                  <a:pt x="1739" y="1382"/>
                  <a:pt x="1849" y="1350"/>
                  <a:pt x="1964" y="1350"/>
                </a:cubicBezTo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1209"/>
                  <a:pt x="0" y="2700"/>
                </a:cubicBezTo>
                <a:lnTo>
                  <a:pt x="0" y="18900"/>
                </a:lnTo>
                <a:cubicBezTo>
                  <a:pt x="0" y="2039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391"/>
                  <a:pt x="21600" y="18900"/>
                </a:cubicBezTo>
                <a:lnTo>
                  <a:pt x="21600" y="2700"/>
                </a:lnTo>
                <a:cubicBezTo>
                  <a:pt x="21600" y="1209"/>
                  <a:pt x="20721" y="0"/>
                  <a:pt x="19636" y="0"/>
                </a:cubicBezTo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28575" tIns="28575" rIns="28575" bIns="285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2"/>
          <p:cNvSpPr/>
          <p:nvPr/>
        </p:nvSpPr>
        <p:spPr>
          <a:xfrm>
            <a:off x="4853787" y="3487561"/>
            <a:ext cx="174989" cy="174989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7850" y="17620"/>
                </a:moveTo>
                <a:cubicBezTo>
                  <a:pt x="17270" y="17122"/>
                  <a:pt x="16604" y="16682"/>
                  <a:pt x="15855" y="16324"/>
                </a:cubicBezTo>
                <a:cubicBezTo>
                  <a:pt x="15868" y="16284"/>
                  <a:pt x="15882" y="16244"/>
                  <a:pt x="15896" y="16203"/>
                </a:cubicBezTo>
                <a:cubicBezTo>
                  <a:pt x="16131" y="15456"/>
                  <a:pt x="16320" y="14656"/>
                  <a:pt x="16454" y="13811"/>
                </a:cubicBezTo>
                <a:cubicBezTo>
                  <a:pt x="16471" y="13704"/>
                  <a:pt x="16484" y="13596"/>
                  <a:pt x="16499" y="13488"/>
                </a:cubicBezTo>
                <a:cubicBezTo>
                  <a:pt x="16544" y="13166"/>
                  <a:pt x="16581" y="12839"/>
                  <a:pt x="16610" y="12507"/>
                </a:cubicBezTo>
                <a:cubicBezTo>
                  <a:pt x="16621" y="12383"/>
                  <a:pt x="16632" y="12260"/>
                  <a:pt x="16641" y="12135"/>
                </a:cubicBezTo>
                <a:cubicBezTo>
                  <a:pt x="16660" y="11858"/>
                  <a:pt x="16664" y="11574"/>
                  <a:pt x="16673" y="11291"/>
                </a:cubicBezTo>
                <a:lnTo>
                  <a:pt x="20598" y="11291"/>
                </a:lnTo>
                <a:cubicBezTo>
                  <a:pt x="20476" y="13747"/>
                  <a:pt x="19450" y="15962"/>
                  <a:pt x="17850" y="17620"/>
                </a:cubicBezTo>
                <a:moveTo>
                  <a:pt x="13714" y="20178"/>
                </a:moveTo>
                <a:cubicBezTo>
                  <a:pt x="13925" y="19957"/>
                  <a:pt x="14127" y="19710"/>
                  <a:pt x="14321" y="19444"/>
                </a:cubicBezTo>
                <a:cubicBezTo>
                  <a:pt x="14339" y="19419"/>
                  <a:pt x="14357" y="19394"/>
                  <a:pt x="14375" y="19369"/>
                </a:cubicBezTo>
                <a:cubicBezTo>
                  <a:pt x="14764" y="18822"/>
                  <a:pt x="15116" y="18192"/>
                  <a:pt x="15420" y="17488"/>
                </a:cubicBezTo>
                <a:cubicBezTo>
                  <a:pt x="15436" y="17450"/>
                  <a:pt x="15451" y="17410"/>
                  <a:pt x="15467" y="17372"/>
                </a:cubicBezTo>
                <a:cubicBezTo>
                  <a:pt x="15485" y="17329"/>
                  <a:pt x="15499" y="17282"/>
                  <a:pt x="15517" y="17239"/>
                </a:cubicBezTo>
                <a:cubicBezTo>
                  <a:pt x="16123" y="17535"/>
                  <a:pt x="16665" y="17890"/>
                  <a:pt x="17142" y="18285"/>
                </a:cubicBezTo>
                <a:cubicBezTo>
                  <a:pt x="16149" y="19129"/>
                  <a:pt x="14989" y="19782"/>
                  <a:pt x="13714" y="20178"/>
                </a:cubicBezTo>
                <a:moveTo>
                  <a:pt x="11291" y="20569"/>
                </a:moveTo>
                <a:lnTo>
                  <a:pt x="11291" y="16221"/>
                </a:lnTo>
                <a:cubicBezTo>
                  <a:pt x="12498" y="16271"/>
                  <a:pt x="13638" y="16493"/>
                  <a:pt x="14652" y="16869"/>
                </a:cubicBezTo>
                <a:cubicBezTo>
                  <a:pt x="13850" y="18909"/>
                  <a:pt x="12654" y="20298"/>
                  <a:pt x="11291" y="20569"/>
                </a:cubicBezTo>
                <a:moveTo>
                  <a:pt x="11291" y="11291"/>
                </a:moveTo>
                <a:lnTo>
                  <a:pt x="15697" y="11291"/>
                </a:lnTo>
                <a:cubicBezTo>
                  <a:pt x="15655" y="12995"/>
                  <a:pt x="15392" y="14581"/>
                  <a:pt x="14971" y="15948"/>
                </a:cubicBezTo>
                <a:cubicBezTo>
                  <a:pt x="13855" y="15534"/>
                  <a:pt x="12608" y="15291"/>
                  <a:pt x="11291" y="15240"/>
                </a:cubicBezTo>
                <a:cubicBezTo>
                  <a:pt x="11291" y="15240"/>
                  <a:pt x="11291" y="11291"/>
                  <a:pt x="11291" y="11291"/>
                </a:cubicBezTo>
                <a:close/>
                <a:moveTo>
                  <a:pt x="11291" y="6360"/>
                </a:moveTo>
                <a:cubicBezTo>
                  <a:pt x="12608" y="6309"/>
                  <a:pt x="13855" y="6066"/>
                  <a:pt x="14971" y="5652"/>
                </a:cubicBezTo>
                <a:cubicBezTo>
                  <a:pt x="15392" y="7019"/>
                  <a:pt x="15655" y="8605"/>
                  <a:pt x="15697" y="10309"/>
                </a:cubicBezTo>
                <a:lnTo>
                  <a:pt x="11291" y="10309"/>
                </a:lnTo>
                <a:cubicBezTo>
                  <a:pt x="11291" y="10309"/>
                  <a:pt x="11291" y="6360"/>
                  <a:pt x="11291" y="6360"/>
                </a:cubicBezTo>
                <a:close/>
                <a:moveTo>
                  <a:pt x="11291" y="1031"/>
                </a:moveTo>
                <a:cubicBezTo>
                  <a:pt x="12654" y="1302"/>
                  <a:pt x="13850" y="2691"/>
                  <a:pt x="14652" y="4731"/>
                </a:cubicBezTo>
                <a:cubicBezTo>
                  <a:pt x="13638" y="5107"/>
                  <a:pt x="12498" y="5329"/>
                  <a:pt x="11291" y="5379"/>
                </a:cubicBezTo>
                <a:cubicBezTo>
                  <a:pt x="11291" y="5379"/>
                  <a:pt x="11291" y="1031"/>
                  <a:pt x="11291" y="1031"/>
                </a:cubicBezTo>
                <a:close/>
                <a:moveTo>
                  <a:pt x="17142" y="3315"/>
                </a:moveTo>
                <a:cubicBezTo>
                  <a:pt x="16665" y="3711"/>
                  <a:pt x="16123" y="4065"/>
                  <a:pt x="15517" y="4361"/>
                </a:cubicBezTo>
                <a:cubicBezTo>
                  <a:pt x="15499" y="4318"/>
                  <a:pt x="15485" y="4271"/>
                  <a:pt x="15467" y="4229"/>
                </a:cubicBezTo>
                <a:cubicBezTo>
                  <a:pt x="15451" y="4190"/>
                  <a:pt x="15436" y="4151"/>
                  <a:pt x="15420" y="4112"/>
                </a:cubicBezTo>
                <a:cubicBezTo>
                  <a:pt x="15116" y="3408"/>
                  <a:pt x="14764" y="2778"/>
                  <a:pt x="14375" y="2231"/>
                </a:cubicBezTo>
                <a:cubicBezTo>
                  <a:pt x="14357" y="2206"/>
                  <a:pt x="14339" y="2181"/>
                  <a:pt x="14321" y="2156"/>
                </a:cubicBezTo>
                <a:cubicBezTo>
                  <a:pt x="14127" y="1890"/>
                  <a:pt x="13925" y="1643"/>
                  <a:pt x="13714" y="1422"/>
                </a:cubicBezTo>
                <a:cubicBezTo>
                  <a:pt x="14989" y="1818"/>
                  <a:pt x="16149" y="2471"/>
                  <a:pt x="17142" y="3315"/>
                </a:cubicBezTo>
                <a:moveTo>
                  <a:pt x="20598" y="10309"/>
                </a:moveTo>
                <a:lnTo>
                  <a:pt x="16673" y="10309"/>
                </a:lnTo>
                <a:cubicBezTo>
                  <a:pt x="16664" y="10027"/>
                  <a:pt x="16660" y="9742"/>
                  <a:pt x="16641" y="9465"/>
                </a:cubicBezTo>
                <a:cubicBezTo>
                  <a:pt x="16632" y="9340"/>
                  <a:pt x="16621" y="9217"/>
                  <a:pt x="16610" y="9093"/>
                </a:cubicBezTo>
                <a:cubicBezTo>
                  <a:pt x="16581" y="8761"/>
                  <a:pt x="16544" y="8434"/>
                  <a:pt x="16499" y="8112"/>
                </a:cubicBezTo>
                <a:cubicBezTo>
                  <a:pt x="16484" y="8005"/>
                  <a:pt x="16471" y="7896"/>
                  <a:pt x="16454" y="7789"/>
                </a:cubicBezTo>
                <a:cubicBezTo>
                  <a:pt x="16320" y="6944"/>
                  <a:pt x="16131" y="6144"/>
                  <a:pt x="15896" y="5397"/>
                </a:cubicBezTo>
                <a:cubicBezTo>
                  <a:pt x="15882" y="5357"/>
                  <a:pt x="15868" y="5317"/>
                  <a:pt x="15855" y="5276"/>
                </a:cubicBezTo>
                <a:cubicBezTo>
                  <a:pt x="16604" y="4918"/>
                  <a:pt x="17270" y="4478"/>
                  <a:pt x="17850" y="3981"/>
                </a:cubicBezTo>
                <a:cubicBezTo>
                  <a:pt x="19450" y="5638"/>
                  <a:pt x="20476" y="7853"/>
                  <a:pt x="20598" y="10309"/>
                </a:cubicBezTo>
                <a:moveTo>
                  <a:pt x="10309" y="5379"/>
                </a:moveTo>
                <a:cubicBezTo>
                  <a:pt x="9101" y="5329"/>
                  <a:pt x="7961" y="5107"/>
                  <a:pt x="6947" y="4731"/>
                </a:cubicBezTo>
                <a:cubicBezTo>
                  <a:pt x="7749" y="2691"/>
                  <a:pt x="8945" y="1302"/>
                  <a:pt x="10309" y="1031"/>
                </a:cubicBezTo>
                <a:cubicBezTo>
                  <a:pt x="10309" y="1031"/>
                  <a:pt x="10309" y="5379"/>
                  <a:pt x="10309" y="5379"/>
                </a:cubicBezTo>
                <a:close/>
                <a:moveTo>
                  <a:pt x="10309" y="10309"/>
                </a:moveTo>
                <a:lnTo>
                  <a:pt x="5903" y="10309"/>
                </a:lnTo>
                <a:cubicBezTo>
                  <a:pt x="5945" y="8605"/>
                  <a:pt x="6207" y="7019"/>
                  <a:pt x="6629" y="5652"/>
                </a:cubicBezTo>
                <a:cubicBezTo>
                  <a:pt x="7745" y="6066"/>
                  <a:pt x="8991" y="6309"/>
                  <a:pt x="10309" y="6360"/>
                </a:cubicBezTo>
                <a:cubicBezTo>
                  <a:pt x="10309" y="6360"/>
                  <a:pt x="10309" y="10309"/>
                  <a:pt x="10309" y="10309"/>
                </a:cubicBezTo>
                <a:close/>
                <a:moveTo>
                  <a:pt x="10309" y="15240"/>
                </a:moveTo>
                <a:cubicBezTo>
                  <a:pt x="8991" y="15291"/>
                  <a:pt x="7745" y="15534"/>
                  <a:pt x="6629" y="15948"/>
                </a:cubicBezTo>
                <a:cubicBezTo>
                  <a:pt x="6207" y="14581"/>
                  <a:pt x="5945" y="12995"/>
                  <a:pt x="5903" y="11291"/>
                </a:cubicBezTo>
                <a:lnTo>
                  <a:pt x="10309" y="11291"/>
                </a:lnTo>
                <a:cubicBezTo>
                  <a:pt x="10309" y="11291"/>
                  <a:pt x="10309" y="15240"/>
                  <a:pt x="10309" y="15240"/>
                </a:cubicBezTo>
                <a:close/>
                <a:moveTo>
                  <a:pt x="10309" y="20569"/>
                </a:moveTo>
                <a:cubicBezTo>
                  <a:pt x="8945" y="20298"/>
                  <a:pt x="7749" y="18909"/>
                  <a:pt x="6947" y="16869"/>
                </a:cubicBezTo>
                <a:cubicBezTo>
                  <a:pt x="7961" y="16493"/>
                  <a:pt x="9101" y="16271"/>
                  <a:pt x="10309" y="16221"/>
                </a:cubicBezTo>
                <a:cubicBezTo>
                  <a:pt x="10309" y="16221"/>
                  <a:pt x="10309" y="20569"/>
                  <a:pt x="10309" y="20569"/>
                </a:cubicBezTo>
                <a:close/>
                <a:moveTo>
                  <a:pt x="4458" y="18285"/>
                </a:moveTo>
                <a:cubicBezTo>
                  <a:pt x="4934" y="17890"/>
                  <a:pt x="5476" y="17535"/>
                  <a:pt x="6083" y="17239"/>
                </a:cubicBezTo>
                <a:cubicBezTo>
                  <a:pt x="6100" y="17282"/>
                  <a:pt x="6115" y="17329"/>
                  <a:pt x="6132" y="17372"/>
                </a:cubicBezTo>
                <a:cubicBezTo>
                  <a:pt x="6149" y="17410"/>
                  <a:pt x="6163" y="17450"/>
                  <a:pt x="6180" y="17488"/>
                </a:cubicBezTo>
                <a:cubicBezTo>
                  <a:pt x="6484" y="18192"/>
                  <a:pt x="6835" y="18822"/>
                  <a:pt x="7224" y="19369"/>
                </a:cubicBezTo>
                <a:cubicBezTo>
                  <a:pt x="7242" y="19394"/>
                  <a:pt x="7261" y="19419"/>
                  <a:pt x="7279" y="19444"/>
                </a:cubicBezTo>
                <a:cubicBezTo>
                  <a:pt x="7472" y="19710"/>
                  <a:pt x="7674" y="19957"/>
                  <a:pt x="7886" y="20178"/>
                </a:cubicBezTo>
                <a:cubicBezTo>
                  <a:pt x="6610" y="19782"/>
                  <a:pt x="5451" y="19129"/>
                  <a:pt x="4458" y="18285"/>
                </a:cubicBezTo>
                <a:moveTo>
                  <a:pt x="1002" y="11291"/>
                </a:moveTo>
                <a:lnTo>
                  <a:pt x="4927" y="11291"/>
                </a:lnTo>
                <a:cubicBezTo>
                  <a:pt x="4935" y="11574"/>
                  <a:pt x="4940" y="11858"/>
                  <a:pt x="4958" y="12135"/>
                </a:cubicBezTo>
                <a:cubicBezTo>
                  <a:pt x="4967" y="12260"/>
                  <a:pt x="4979" y="12383"/>
                  <a:pt x="4989" y="12507"/>
                </a:cubicBezTo>
                <a:cubicBezTo>
                  <a:pt x="5018" y="12839"/>
                  <a:pt x="5055" y="13166"/>
                  <a:pt x="5100" y="13488"/>
                </a:cubicBezTo>
                <a:cubicBezTo>
                  <a:pt x="5116" y="13596"/>
                  <a:pt x="5129" y="13704"/>
                  <a:pt x="5146" y="13811"/>
                </a:cubicBezTo>
                <a:cubicBezTo>
                  <a:pt x="5280" y="14656"/>
                  <a:pt x="5468" y="15456"/>
                  <a:pt x="5704" y="16203"/>
                </a:cubicBezTo>
                <a:cubicBezTo>
                  <a:pt x="5718" y="16244"/>
                  <a:pt x="5731" y="16284"/>
                  <a:pt x="5744" y="16324"/>
                </a:cubicBezTo>
                <a:cubicBezTo>
                  <a:pt x="4996" y="16682"/>
                  <a:pt x="4330" y="17122"/>
                  <a:pt x="3749" y="17620"/>
                </a:cubicBezTo>
                <a:cubicBezTo>
                  <a:pt x="2150" y="15962"/>
                  <a:pt x="1123" y="13747"/>
                  <a:pt x="1002" y="11291"/>
                </a:cubicBezTo>
                <a:moveTo>
                  <a:pt x="3749" y="3981"/>
                </a:moveTo>
                <a:cubicBezTo>
                  <a:pt x="4330" y="4478"/>
                  <a:pt x="4996" y="4918"/>
                  <a:pt x="5744" y="5276"/>
                </a:cubicBezTo>
                <a:cubicBezTo>
                  <a:pt x="5731" y="5317"/>
                  <a:pt x="5718" y="5357"/>
                  <a:pt x="5704" y="5397"/>
                </a:cubicBezTo>
                <a:cubicBezTo>
                  <a:pt x="5469" y="6144"/>
                  <a:pt x="5280" y="6944"/>
                  <a:pt x="5146" y="7789"/>
                </a:cubicBezTo>
                <a:cubicBezTo>
                  <a:pt x="5129" y="7896"/>
                  <a:pt x="5116" y="8005"/>
                  <a:pt x="5100" y="8112"/>
                </a:cubicBezTo>
                <a:cubicBezTo>
                  <a:pt x="5055" y="8434"/>
                  <a:pt x="5018" y="8761"/>
                  <a:pt x="4989" y="9093"/>
                </a:cubicBezTo>
                <a:cubicBezTo>
                  <a:pt x="4979" y="9217"/>
                  <a:pt x="4967" y="9340"/>
                  <a:pt x="4958" y="9465"/>
                </a:cubicBezTo>
                <a:cubicBezTo>
                  <a:pt x="4940" y="9742"/>
                  <a:pt x="4935" y="10027"/>
                  <a:pt x="4927" y="10309"/>
                </a:cubicBezTo>
                <a:lnTo>
                  <a:pt x="1002" y="10309"/>
                </a:lnTo>
                <a:cubicBezTo>
                  <a:pt x="1123" y="7853"/>
                  <a:pt x="2150" y="5638"/>
                  <a:pt x="3749" y="3981"/>
                </a:cubicBezTo>
                <a:moveTo>
                  <a:pt x="7886" y="1422"/>
                </a:moveTo>
                <a:cubicBezTo>
                  <a:pt x="7674" y="1643"/>
                  <a:pt x="7472" y="1890"/>
                  <a:pt x="7279" y="2156"/>
                </a:cubicBezTo>
                <a:cubicBezTo>
                  <a:pt x="7261" y="2181"/>
                  <a:pt x="7242" y="2206"/>
                  <a:pt x="7224" y="2231"/>
                </a:cubicBezTo>
                <a:cubicBezTo>
                  <a:pt x="6835" y="2778"/>
                  <a:pt x="6484" y="3408"/>
                  <a:pt x="6180" y="4112"/>
                </a:cubicBezTo>
                <a:cubicBezTo>
                  <a:pt x="6163" y="4151"/>
                  <a:pt x="6149" y="4190"/>
                  <a:pt x="6132" y="4229"/>
                </a:cubicBezTo>
                <a:cubicBezTo>
                  <a:pt x="6115" y="4271"/>
                  <a:pt x="6100" y="4318"/>
                  <a:pt x="6083" y="4361"/>
                </a:cubicBezTo>
                <a:cubicBezTo>
                  <a:pt x="5476" y="4065"/>
                  <a:pt x="4934" y="3711"/>
                  <a:pt x="4458" y="3315"/>
                </a:cubicBezTo>
                <a:cubicBezTo>
                  <a:pt x="5451" y="2471"/>
                  <a:pt x="6610" y="1818"/>
                  <a:pt x="7886" y="1422"/>
                </a:cubicBezTo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4" y="21600"/>
                  <a:pt x="21600" y="16765"/>
                  <a:pt x="21600" y="10800"/>
                </a:cubicBezTo>
                <a:cubicBezTo>
                  <a:pt x="21600" y="4835"/>
                  <a:pt x="16764" y="0"/>
                  <a:pt x="10800" y="0"/>
                </a:cubicBezTo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28575" tIns="28575" rIns="28575" bIns="285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22"/>
          <p:cNvSpPr/>
          <p:nvPr/>
        </p:nvSpPr>
        <p:spPr>
          <a:xfrm rot="10800000" flipH="1">
            <a:off x="0" y="-4"/>
            <a:ext cx="7968996" cy="4053083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8" name="Google Shape;148;p22"/>
          <p:cNvCxnSpPr/>
          <p:nvPr/>
        </p:nvCxnSpPr>
        <p:spPr>
          <a:xfrm rot="10800000" flipH="1">
            <a:off x="0" y="0"/>
            <a:ext cx="4523015" cy="2253342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49" name="Google Shape;149;p22"/>
          <p:cNvCxnSpPr/>
          <p:nvPr/>
        </p:nvCxnSpPr>
        <p:spPr>
          <a:xfrm rot="10800000" flipH="1">
            <a:off x="6753226" y="2943224"/>
            <a:ext cx="2390775" cy="1266825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50" name="Google Shape;150;p22"/>
          <p:cNvCxnSpPr/>
          <p:nvPr/>
        </p:nvCxnSpPr>
        <p:spPr>
          <a:xfrm rot="10800000" flipH="1">
            <a:off x="-13378" y="3525012"/>
            <a:ext cx="1439842" cy="75079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51" name="Google Shape;151;p22"/>
          <p:cNvSpPr>
            <a:spLocks noGrp="1"/>
          </p:cNvSpPr>
          <p:nvPr>
            <p:ph type="pic" idx="5"/>
          </p:nvPr>
        </p:nvSpPr>
        <p:spPr>
          <a:xfrm>
            <a:off x="1262549" y="645708"/>
            <a:ext cx="3321392" cy="3852817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52" name="Google Shape;152;p22" title="Titre"/>
          <p:cNvSpPr txBox="1">
            <a:spLocks noGrp="1"/>
          </p:cNvSpPr>
          <p:nvPr>
            <p:ph type="ctrTitle"/>
          </p:nvPr>
        </p:nvSpPr>
        <p:spPr>
          <a:xfrm>
            <a:off x="4781791" y="1365767"/>
            <a:ext cx="3640180" cy="1212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5653">
          <p15:clr>
            <a:srgbClr val="FBAE40"/>
          </p15:clr>
        </p15:guide>
        <p15:guide id="3" pos="103">
          <p15:clr>
            <a:srgbClr val="FBAE40"/>
          </p15:clr>
        </p15:guide>
        <p15:guide id="4" orient="horz" pos="3133">
          <p15:clr>
            <a:srgbClr val="FBAE40"/>
          </p15:clr>
        </p15:guide>
        <p15:guide id="5" orient="horz" pos="107">
          <p15:clr>
            <a:srgbClr val="FBAE40"/>
          </p15:clr>
        </p15:guide>
        <p15:guide id="6" pos="1843">
          <p15:clr>
            <a:srgbClr val="FBAE40"/>
          </p15:clr>
        </p15:guide>
        <p15:guide id="7" pos="32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">
  <p:cSld name="Diapositive de titre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3"/>
          <p:cNvSpPr/>
          <p:nvPr/>
        </p:nvSpPr>
        <p:spPr>
          <a:xfrm rot="10800000" flipH="1">
            <a:off x="0" y="-4"/>
            <a:ext cx="7968996" cy="4053083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5" name="Google Shape;155;p23"/>
          <p:cNvCxnSpPr/>
          <p:nvPr/>
        </p:nvCxnSpPr>
        <p:spPr>
          <a:xfrm rot="10800000" flipH="1">
            <a:off x="0" y="0"/>
            <a:ext cx="4523015" cy="2253342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56" name="Google Shape;156;p23"/>
          <p:cNvCxnSpPr/>
          <p:nvPr/>
        </p:nvCxnSpPr>
        <p:spPr>
          <a:xfrm rot="10800000" flipH="1">
            <a:off x="6753226" y="2943224"/>
            <a:ext cx="2390775" cy="1266825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57" name="Google Shape;157;p23" title="Titre"/>
          <p:cNvSpPr txBox="1">
            <a:spLocks noGrp="1"/>
          </p:cNvSpPr>
          <p:nvPr>
            <p:ph type="ctrTitle"/>
          </p:nvPr>
        </p:nvSpPr>
        <p:spPr>
          <a:xfrm>
            <a:off x="4781791" y="1504563"/>
            <a:ext cx="3640180" cy="1212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23" title="Sous-titre"/>
          <p:cNvSpPr txBox="1">
            <a:spLocks noGrp="1"/>
          </p:cNvSpPr>
          <p:nvPr>
            <p:ph type="subTitle" idx="1"/>
          </p:nvPr>
        </p:nvSpPr>
        <p:spPr>
          <a:xfrm>
            <a:off x="4781411" y="2730749"/>
            <a:ext cx="3640754" cy="943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159" name="Google Shape;159;p23"/>
          <p:cNvCxnSpPr/>
          <p:nvPr/>
        </p:nvCxnSpPr>
        <p:spPr>
          <a:xfrm rot="10800000" flipH="1">
            <a:off x="-13378" y="3525012"/>
            <a:ext cx="1439842" cy="75079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5653">
          <p15:clr>
            <a:srgbClr val="FBAE40"/>
          </p15:clr>
        </p15:guide>
        <p15:guide id="3" pos="103">
          <p15:clr>
            <a:srgbClr val="FBAE40"/>
          </p15:clr>
        </p15:guide>
        <p15:guide id="4" orient="horz" pos="3133">
          <p15:clr>
            <a:srgbClr val="FBAE40"/>
          </p15:clr>
        </p15:guide>
        <p15:guide id="5" orient="horz" pos="107">
          <p15:clr>
            <a:srgbClr val="FBAE40"/>
          </p15:clr>
        </p15:guide>
        <p15:guide id="6" pos="1843">
          <p15:clr>
            <a:srgbClr val="FBAE40"/>
          </p15:clr>
        </p15:guide>
        <p15:guide id="7" pos="32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-tête de section">
  <p:cSld name="En-tête de section"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 flipH="1">
            <a:off x="0" y="-4"/>
            <a:ext cx="7968996" cy="4053083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-1641210">
            <a:off x="-477993" y="2691132"/>
            <a:ext cx="2895122" cy="1310214"/>
          </a:xfrm>
          <a:prstGeom prst="parallelogram">
            <a:avLst>
              <a:gd name="adj" fmla="val 53218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3" name="Google Shape;163;p24"/>
          <p:cNvCxnSpPr/>
          <p:nvPr/>
        </p:nvCxnSpPr>
        <p:spPr>
          <a:xfrm rot="10800000" flipH="1">
            <a:off x="0" y="757568"/>
            <a:ext cx="1338943" cy="680629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4" name="Google Shape;164;p24" title="Titre"/>
          <p:cNvSpPr txBox="1">
            <a:spLocks noGrp="1"/>
          </p:cNvSpPr>
          <p:nvPr>
            <p:ph type="title"/>
          </p:nvPr>
        </p:nvSpPr>
        <p:spPr>
          <a:xfrm>
            <a:off x="4712882" y="1490565"/>
            <a:ext cx="3683725" cy="1342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libri"/>
              <a:buNone/>
              <a:defRPr sz="3000" b="1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24" title="Sous-titre"/>
          <p:cNvSpPr txBox="1">
            <a:spLocks noGrp="1"/>
          </p:cNvSpPr>
          <p:nvPr>
            <p:ph type="body" idx="1"/>
          </p:nvPr>
        </p:nvSpPr>
        <p:spPr>
          <a:xfrm>
            <a:off x="4712882" y="2844035"/>
            <a:ext cx="3683725" cy="682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0909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0909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0909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0909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90909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166" name="Google Shape;166;p24"/>
          <p:cNvCxnSpPr/>
          <p:nvPr/>
        </p:nvCxnSpPr>
        <p:spPr>
          <a:xfrm rot="10800000" flipH="1">
            <a:off x="6753226" y="2943224"/>
            <a:ext cx="2390775" cy="1266825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7" name="Google Shape;167;p24"/>
          <p:cNvSpPr/>
          <p:nvPr/>
        </p:nvSpPr>
        <p:spPr>
          <a:xfrm>
            <a:off x="5815584" y="0"/>
            <a:ext cx="1693926" cy="557114"/>
          </a:xfrm>
          <a:prstGeom prst="parallelogram">
            <a:avLst>
              <a:gd name="adj" fmla="val 19585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8" name="Google Shape;168;p24"/>
          <p:cNvCxnSpPr/>
          <p:nvPr/>
        </p:nvCxnSpPr>
        <p:spPr>
          <a:xfrm rot="10800000" flipH="1">
            <a:off x="0" y="306422"/>
            <a:ext cx="4946515" cy="2552361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69" name="Google Shape;169;p24"/>
          <p:cNvCxnSpPr/>
          <p:nvPr/>
        </p:nvCxnSpPr>
        <p:spPr>
          <a:xfrm rot="10800000" flipH="1">
            <a:off x="-13378" y="3950208"/>
            <a:ext cx="1439842" cy="75079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0" name="Google Shape;170;p24"/>
          <p:cNvSpPr/>
          <p:nvPr/>
        </p:nvSpPr>
        <p:spPr>
          <a:xfrm rot="-1641210">
            <a:off x="-104276" y="2555284"/>
            <a:ext cx="1078799" cy="177435"/>
          </a:xfrm>
          <a:prstGeom prst="parallelogram">
            <a:avLst>
              <a:gd name="adj" fmla="val 53218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37">
          <p15:clr>
            <a:srgbClr val="FBAE40"/>
          </p15:clr>
        </p15:guide>
        <p15:guide id="2" pos="2880">
          <p15:clr>
            <a:srgbClr val="FBAE40"/>
          </p15:clr>
        </p15:guide>
        <p15:guide id="3" pos="107">
          <p15:clr>
            <a:srgbClr val="FBAE40"/>
          </p15:clr>
        </p15:guide>
        <p15:guide id="4" orient="horz" pos="3127">
          <p15:clr>
            <a:srgbClr val="FBAE40"/>
          </p15:clr>
        </p15:guide>
        <p15:guide id="5" pos="5653">
          <p15:clr>
            <a:srgbClr val="FBAE40"/>
          </p15:clr>
        </p15:guide>
        <p15:guide id="6" orient="horz" pos="107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contenu">
  <p:cSld name="Titre et contenu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2" name="Google Shape;172;p25"/>
          <p:cNvCxnSpPr/>
          <p:nvPr/>
        </p:nvCxnSpPr>
        <p:spPr>
          <a:xfrm rot="10800000">
            <a:off x="-6935" y="2725475"/>
            <a:ext cx="1434464" cy="1179742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73" name="Google Shape;173;p25"/>
          <p:cNvGrpSpPr/>
          <p:nvPr/>
        </p:nvGrpSpPr>
        <p:grpSpPr>
          <a:xfrm flipH="1">
            <a:off x="5670996" y="0"/>
            <a:ext cx="3572983" cy="2655755"/>
            <a:chOff x="-124265" y="-2"/>
            <a:chExt cx="4763978" cy="3367272"/>
          </a:xfrm>
        </p:grpSpPr>
        <p:sp>
          <p:nvSpPr>
            <p:cNvPr id="174" name="Google Shape;174;p25"/>
            <p:cNvSpPr/>
            <p:nvPr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75" name="Google Shape;175;p25"/>
            <p:cNvCxnSpPr/>
            <p:nvPr/>
          </p:nvCxnSpPr>
          <p:spPr>
            <a:xfrm rot="10800000" flipH="1">
              <a:off x="1433638" y="-2"/>
              <a:ext cx="1240971" cy="916595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76" name="Google Shape;176;p25"/>
            <p:cNvSpPr/>
            <p:nvPr/>
          </p:nvSpPr>
          <p:spPr>
            <a:xfrm rot="-2178838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7" name="Google Shape;177;p25"/>
          <p:cNvSpPr txBox="1"/>
          <p:nvPr/>
        </p:nvSpPr>
        <p:spPr>
          <a:xfrm>
            <a:off x="8304284" y="176799"/>
            <a:ext cx="61098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FR</a:t>
            </a:r>
            <a:endParaRPr sz="1100"/>
          </a:p>
        </p:txBody>
      </p:sp>
      <p:sp>
        <p:nvSpPr>
          <p:cNvPr id="178" name="Google Shape;178;p25"/>
          <p:cNvSpPr/>
          <p:nvPr/>
        </p:nvSpPr>
        <p:spPr>
          <a:xfrm flipH="1">
            <a:off x="5009931" y="1"/>
            <a:ext cx="1085850" cy="479298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5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25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81" name="Google Shape;181;p25" title="Titre 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6249917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  <a:defRPr sz="33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25"/>
          <p:cNvSpPr txBox="1">
            <a:spLocks noGrp="1"/>
          </p:cNvSpPr>
          <p:nvPr>
            <p:ph type="body" idx="1"/>
          </p:nvPr>
        </p:nvSpPr>
        <p:spPr>
          <a:xfrm>
            <a:off x="389008" y="1253943"/>
            <a:ext cx="8126342" cy="3378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95">
          <p15:clr>
            <a:srgbClr val="FBAE40"/>
          </p15:clr>
        </p15:guide>
        <p15:guide id="4" pos="5567">
          <p15:clr>
            <a:srgbClr val="FBAE40"/>
          </p15:clr>
        </p15:guide>
        <p15:guide id="5" orient="horz" pos="583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ux contenus">
  <p:cSld name="Deux contenus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4" name="Google Shape;184;p26"/>
          <p:cNvCxnSpPr/>
          <p:nvPr/>
        </p:nvCxnSpPr>
        <p:spPr>
          <a:xfrm rot="10800000">
            <a:off x="-6935" y="2725475"/>
            <a:ext cx="1434464" cy="1179742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85" name="Google Shape;185;p26"/>
          <p:cNvGrpSpPr/>
          <p:nvPr/>
        </p:nvGrpSpPr>
        <p:grpSpPr>
          <a:xfrm flipH="1">
            <a:off x="5670996" y="0"/>
            <a:ext cx="3572983" cy="2655755"/>
            <a:chOff x="-124265" y="-2"/>
            <a:chExt cx="4763978" cy="3367272"/>
          </a:xfrm>
        </p:grpSpPr>
        <p:sp>
          <p:nvSpPr>
            <p:cNvPr id="186" name="Google Shape;186;p26"/>
            <p:cNvSpPr/>
            <p:nvPr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7" name="Google Shape;187;p26"/>
            <p:cNvCxnSpPr/>
            <p:nvPr/>
          </p:nvCxnSpPr>
          <p:spPr>
            <a:xfrm rot="10800000" flipH="1">
              <a:off x="1433638" y="-2"/>
              <a:ext cx="1240971" cy="916595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88" name="Google Shape;188;p26"/>
            <p:cNvSpPr/>
            <p:nvPr/>
          </p:nvSpPr>
          <p:spPr>
            <a:xfrm rot="-2178838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9" name="Google Shape;189;p26"/>
          <p:cNvSpPr txBox="1"/>
          <p:nvPr/>
        </p:nvSpPr>
        <p:spPr>
          <a:xfrm>
            <a:off x="8304284" y="176799"/>
            <a:ext cx="61098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FR</a:t>
            </a:r>
            <a:endParaRPr sz="1100"/>
          </a:p>
        </p:txBody>
      </p:sp>
      <p:sp>
        <p:nvSpPr>
          <p:cNvPr id="190" name="Google Shape;190;p26"/>
          <p:cNvSpPr/>
          <p:nvPr/>
        </p:nvSpPr>
        <p:spPr>
          <a:xfrm flipH="1">
            <a:off x="5009931" y="1"/>
            <a:ext cx="1085850" cy="479298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6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26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93" name="Google Shape;193;p26" title="Titre 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6249917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  <a:defRPr sz="33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26"/>
          <p:cNvSpPr txBox="1">
            <a:spLocks noGrp="1"/>
          </p:cNvSpPr>
          <p:nvPr>
            <p:ph type="body" idx="1"/>
          </p:nvPr>
        </p:nvSpPr>
        <p:spPr>
          <a:xfrm>
            <a:off x="397265" y="1238283"/>
            <a:ext cx="3886200" cy="3394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5" name="Google Shape;195;p26"/>
          <p:cNvSpPr txBox="1">
            <a:spLocks noGrp="1"/>
          </p:cNvSpPr>
          <p:nvPr>
            <p:ph type="body" idx="2"/>
          </p:nvPr>
        </p:nvSpPr>
        <p:spPr>
          <a:xfrm>
            <a:off x="4629150" y="1238283"/>
            <a:ext cx="3886200" cy="3394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95">
          <p15:clr>
            <a:srgbClr val="FBAE40"/>
          </p15:clr>
        </p15:guide>
        <p15:guide id="4" pos="5567">
          <p15:clr>
            <a:srgbClr val="FBAE40"/>
          </p15:clr>
        </p15:guide>
        <p15:guide id="5" orient="horz" pos="583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>
  <p:cSld name="Comparaison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7" name="Google Shape;197;p27"/>
          <p:cNvCxnSpPr/>
          <p:nvPr/>
        </p:nvCxnSpPr>
        <p:spPr>
          <a:xfrm rot="10800000">
            <a:off x="-6935" y="2725475"/>
            <a:ext cx="1434464" cy="1179742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98" name="Google Shape;198;p27"/>
          <p:cNvGrpSpPr/>
          <p:nvPr/>
        </p:nvGrpSpPr>
        <p:grpSpPr>
          <a:xfrm flipH="1">
            <a:off x="5670996" y="0"/>
            <a:ext cx="3572983" cy="2655755"/>
            <a:chOff x="-124265" y="-2"/>
            <a:chExt cx="4763978" cy="3367272"/>
          </a:xfrm>
        </p:grpSpPr>
        <p:sp>
          <p:nvSpPr>
            <p:cNvPr id="199" name="Google Shape;199;p27"/>
            <p:cNvSpPr/>
            <p:nvPr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0" name="Google Shape;200;p27"/>
            <p:cNvCxnSpPr/>
            <p:nvPr/>
          </p:nvCxnSpPr>
          <p:spPr>
            <a:xfrm rot="10800000" flipH="1">
              <a:off x="1433638" y="-2"/>
              <a:ext cx="1240971" cy="916595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201" name="Google Shape;201;p27"/>
            <p:cNvSpPr/>
            <p:nvPr/>
          </p:nvSpPr>
          <p:spPr>
            <a:xfrm rot="-2178838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2" name="Google Shape;202;p27"/>
          <p:cNvSpPr txBox="1"/>
          <p:nvPr/>
        </p:nvSpPr>
        <p:spPr>
          <a:xfrm>
            <a:off x="8304284" y="176799"/>
            <a:ext cx="61098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FR</a:t>
            </a:r>
            <a:endParaRPr sz="1100"/>
          </a:p>
        </p:txBody>
      </p:sp>
      <p:sp>
        <p:nvSpPr>
          <p:cNvPr id="203" name="Google Shape;203;p27"/>
          <p:cNvSpPr/>
          <p:nvPr/>
        </p:nvSpPr>
        <p:spPr>
          <a:xfrm flipH="1">
            <a:off x="5009931" y="1"/>
            <a:ext cx="1085850" cy="479298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7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27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206" name="Google Shape;206;p27" title="Titre 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6249917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  <a:defRPr sz="33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7" name="Google Shape;207;p27"/>
          <p:cNvSpPr txBox="1">
            <a:spLocks noGrp="1"/>
          </p:cNvSpPr>
          <p:nvPr>
            <p:ph type="body" idx="1"/>
          </p:nvPr>
        </p:nvSpPr>
        <p:spPr>
          <a:xfrm>
            <a:off x="389008" y="1260872"/>
            <a:ext cx="4036876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8" name="Google Shape;208;p27"/>
          <p:cNvSpPr txBox="1">
            <a:spLocks noGrp="1"/>
          </p:cNvSpPr>
          <p:nvPr>
            <p:ph type="body" idx="2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9" name="Google Shape;209;p27"/>
          <p:cNvSpPr txBox="1">
            <a:spLocks noGrp="1"/>
          </p:cNvSpPr>
          <p:nvPr>
            <p:ph type="body" idx="3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0" name="Google Shape;210;p27"/>
          <p:cNvSpPr txBox="1">
            <a:spLocks noGrp="1"/>
          </p:cNvSpPr>
          <p:nvPr>
            <p:ph type="body" idx="4"/>
          </p:nvPr>
        </p:nvSpPr>
        <p:spPr>
          <a:xfrm>
            <a:off x="389008" y="1878806"/>
            <a:ext cx="4043812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pos="295">
          <p15:clr>
            <a:srgbClr val="FBAE40"/>
          </p15:clr>
        </p15:guide>
        <p15:guide id="4" pos="5567">
          <p15:clr>
            <a:srgbClr val="FBAE40"/>
          </p15:clr>
        </p15:guide>
        <p15:guide id="5" orient="horz" pos="583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u avec légende">
  <p:cSld name="Contenu avec légende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8"/>
          <p:cNvSpPr/>
          <p:nvPr/>
        </p:nvSpPr>
        <p:spPr>
          <a:xfrm rot="10800000" flipH="1">
            <a:off x="0" y="-4"/>
            <a:ext cx="7968996" cy="4053083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3" name="Google Shape;213;p28"/>
          <p:cNvCxnSpPr/>
          <p:nvPr/>
        </p:nvCxnSpPr>
        <p:spPr>
          <a:xfrm rot="10800000" flipH="1">
            <a:off x="0" y="0"/>
            <a:ext cx="4523015" cy="2253342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14" name="Google Shape;214;p28"/>
          <p:cNvCxnSpPr/>
          <p:nvPr/>
        </p:nvCxnSpPr>
        <p:spPr>
          <a:xfrm rot="10800000" flipH="1">
            <a:off x="6753226" y="2943224"/>
            <a:ext cx="2390775" cy="1266825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15" name="Google Shape;215;p28" title="Titre"/>
          <p:cNvSpPr txBox="1">
            <a:spLocks noGrp="1"/>
          </p:cNvSpPr>
          <p:nvPr>
            <p:ph type="ctrTitle"/>
          </p:nvPr>
        </p:nvSpPr>
        <p:spPr>
          <a:xfrm>
            <a:off x="539377" y="3280527"/>
            <a:ext cx="3983637" cy="995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Arial"/>
              <a:buNone/>
              <a:defRPr sz="32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16" name="Google Shape;216;p28"/>
          <p:cNvCxnSpPr/>
          <p:nvPr/>
        </p:nvCxnSpPr>
        <p:spPr>
          <a:xfrm rot="10800000" flipH="1">
            <a:off x="-13378" y="3525012"/>
            <a:ext cx="1439842" cy="75079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17" name="Google Shape;217;p28"/>
          <p:cNvSpPr txBox="1">
            <a:spLocks noGrp="1"/>
          </p:cNvSpPr>
          <p:nvPr>
            <p:ph type="body" idx="1"/>
          </p:nvPr>
        </p:nvSpPr>
        <p:spPr>
          <a:xfrm>
            <a:off x="539377" y="4275802"/>
            <a:ext cx="3983637" cy="698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8" name="Google Shape;218;p28"/>
          <p:cNvSpPr txBox="1">
            <a:spLocks noGrp="1"/>
          </p:cNvSpPr>
          <p:nvPr>
            <p:ph type="body" idx="2"/>
          </p:nvPr>
        </p:nvSpPr>
        <p:spPr>
          <a:xfrm>
            <a:off x="4620987" y="1718035"/>
            <a:ext cx="4352754" cy="325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5653">
          <p15:clr>
            <a:srgbClr val="FBAE40"/>
          </p15:clr>
        </p15:guide>
        <p15:guide id="3" pos="103">
          <p15:clr>
            <a:srgbClr val="FBAE40"/>
          </p15:clr>
        </p15:guide>
        <p15:guide id="4" orient="horz" pos="3133">
          <p15:clr>
            <a:srgbClr val="FBAE40"/>
          </p15:clr>
        </p15:guide>
        <p15:guide id="5" orient="horz" pos="107">
          <p15:clr>
            <a:srgbClr val="FBAE40"/>
          </p15:clr>
        </p15:guide>
        <p15:guide id="6" pos="1843">
          <p15:clr>
            <a:srgbClr val="FBAE40"/>
          </p15:clr>
        </p15:guide>
        <p15:guide id="7" pos="329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avec légende">
  <p:cSld name="Image avec légende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9"/>
          <p:cNvSpPr/>
          <p:nvPr/>
        </p:nvSpPr>
        <p:spPr>
          <a:xfrm rot="10800000" flipH="1">
            <a:off x="0" y="-4"/>
            <a:ext cx="7968996" cy="4053083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1" name="Google Shape;221;p29"/>
          <p:cNvCxnSpPr/>
          <p:nvPr/>
        </p:nvCxnSpPr>
        <p:spPr>
          <a:xfrm rot="10800000" flipH="1">
            <a:off x="0" y="0"/>
            <a:ext cx="4523015" cy="2253342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22" name="Google Shape;222;p29"/>
          <p:cNvCxnSpPr/>
          <p:nvPr/>
        </p:nvCxnSpPr>
        <p:spPr>
          <a:xfrm rot="10800000" flipH="1">
            <a:off x="6753226" y="2943224"/>
            <a:ext cx="2390775" cy="1266825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23" name="Google Shape;223;p29" title="Titre"/>
          <p:cNvSpPr txBox="1">
            <a:spLocks noGrp="1"/>
          </p:cNvSpPr>
          <p:nvPr>
            <p:ph type="ctrTitle"/>
          </p:nvPr>
        </p:nvSpPr>
        <p:spPr>
          <a:xfrm>
            <a:off x="539377" y="3280527"/>
            <a:ext cx="3983637" cy="995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Arial"/>
              <a:buNone/>
              <a:defRPr sz="32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24" name="Google Shape;224;p29"/>
          <p:cNvCxnSpPr/>
          <p:nvPr/>
        </p:nvCxnSpPr>
        <p:spPr>
          <a:xfrm rot="10800000" flipH="1">
            <a:off x="-13378" y="3525012"/>
            <a:ext cx="1439842" cy="75079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25" name="Google Shape;225;p29"/>
          <p:cNvSpPr txBox="1">
            <a:spLocks noGrp="1"/>
          </p:cNvSpPr>
          <p:nvPr>
            <p:ph type="body" idx="1"/>
          </p:nvPr>
        </p:nvSpPr>
        <p:spPr>
          <a:xfrm>
            <a:off x="539377" y="4275802"/>
            <a:ext cx="3983637" cy="698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228600" algn="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29"/>
          <p:cNvSpPr>
            <a:spLocks noGrp="1"/>
          </p:cNvSpPr>
          <p:nvPr>
            <p:ph type="pic" idx="2"/>
          </p:nvPr>
        </p:nvSpPr>
        <p:spPr>
          <a:xfrm>
            <a:off x="4687477" y="1703895"/>
            <a:ext cx="4286263" cy="327053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5653">
          <p15:clr>
            <a:srgbClr val="FBAE40"/>
          </p15:clr>
        </p15:guide>
        <p15:guide id="3" pos="103">
          <p15:clr>
            <a:srgbClr val="FBAE40"/>
          </p15:clr>
        </p15:guide>
        <p15:guide id="4" orient="horz" pos="3133">
          <p15:clr>
            <a:srgbClr val="FBAE40"/>
          </p15:clr>
        </p15:guide>
        <p15:guide id="5" orient="horz" pos="107">
          <p15:clr>
            <a:srgbClr val="FBAE40"/>
          </p15:clr>
        </p15:guide>
        <p15:guide id="6" pos="1843">
          <p15:clr>
            <a:srgbClr val="FBAE40"/>
          </p15:clr>
        </p15:guide>
        <p15:guide id="7" pos="329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ide">
  <p:cSld name="Vide"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0"/>
          <p:cNvSpPr txBox="1"/>
          <p:nvPr/>
        </p:nvSpPr>
        <p:spPr>
          <a:xfrm>
            <a:off x="8304284" y="176799"/>
            <a:ext cx="61098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i="0" u="none" strike="noStrike" cap="none">
                <a:solidFill>
                  <a:schemeClr val="accent1"/>
                </a:solidFill>
                <a:latin typeface="Arial Black"/>
                <a:ea typeface="Arial Black"/>
                <a:cs typeface="Arial Black"/>
                <a:sym typeface="Arial Black"/>
              </a:rPr>
              <a:t>FR</a:t>
            </a:r>
            <a:endParaRPr sz="1100"/>
          </a:p>
        </p:txBody>
      </p:sp>
      <p:grpSp>
        <p:nvGrpSpPr>
          <p:cNvPr id="229" name="Google Shape;229;p30"/>
          <p:cNvGrpSpPr/>
          <p:nvPr/>
        </p:nvGrpSpPr>
        <p:grpSpPr>
          <a:xfrm flipH="1">
            <a:off x="5670996" y="0"/>
            <a:ext cx="3572983" cy="2655755"/>
            <a:chOff x="-124265" y="-2"/>
            <a:chExt cx="4763978" cy="3367272"/>
          </a:xfrm>
        </p:grpSpPr>
        <p:sp>
          <p:nvSpPr>
            <p:cNvPr id="230" name="Google Shape;230;p30"/>
            <p:cNvSpPr/>
            <p:nvPr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1" name="Google Shape;231;p30"/>
            <p:cNvCxnSpPr/>
            <p:nvPr/>
          </p:nvCxnSpPr>
          <p:spPr>
            <a:xfrm rot="10800000" flipH="1">
              <a:off x="1433638" y="-2"/>
              <a:ext cx="1240971" cy="916595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232" name="Google Shape;232;p30"/>
            <p:cNvSpPr/>
            <p:nvPr/>
          </p:nvSpPr>
          <p:spPr>
            <a:xfrm rot="-2178838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3" name="Google Shape;233;p30"/>
          <p:cNvSpPr/>
          <p:nvPr/>
        </p:nvSpPr>
        <p:spPr>
          <a:xfrm flipH="1">
            <a:off x="5009931" y="1"/>
            <a:ext cx="1085850" cy="479298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30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7">
          <p15:clr>
            <a:srgbClr val="FBAE40"/>
          </p15:clr>
        </p15:guide>
        <p15:guide id="2" pos="2880">
          <p15:clr>
            <a:srgbClr val="FBAE40"/>
          </p15:clr>
        </p15:guide>
        <p15:guide id="3" pos="583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uniquement">
  <p:cSld name="Titre uniquement"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1"/>
          <p:cNvSpPr txBox="1"/>
          <p:nvPr/>
        </p:nvSpPr>
        <p:spPr>
          <a:xfrm>
            <a:off x="8304284" y="176799"/>
            <a:ext cx="61098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i="0" u="none" strike="noStrike" cap="none">
                <a:solidFill>
                  <a:schemeClr val="accent1"/>
                </a:solidFill>
                <a:latin typeface="Arial Black"/>
                <a:ea typeface="Arial Black"/>
                <a:cs typeface="Arial Black"/>
                <a:sym typeface="Arial Black"/>
              </a:rPr>
              <a:t>FR</a:t>
            </a:r>
            <a:endParaRPr sz="1100"/>
          </a:p>
        </p:txBody>
      </p:sp>
      <p:grpSp>
        <p:nvGrpSpPr>
          <p:cNvPr id="238" name="Google Shape;238;p31"/>
          <p:cNvGrpSpPr/>
          <p:nvPr/>
        </p:nvGrpSpPr>
        <p:grpSpPr>
          <a:xfrm flipH="1">
            <a:off x="5670996" y="0"/>
            <a:ext cx="3572983" cy="2655755"/>
            <a:chOff x="-124265" y="-2"/>
            <a:chExt cx="4763978" cy="3367272"/>
          </a:xfrm>
        </p:grpSpPr>
        <p:sp>
          <p:nvSpPr>
            <p:cNvPr id="239" name="Google Shape;239;p31"/>
            <p:cNvSpPr/>
            <p:nvPr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0" name="Google Shape;240;p31"/>
            <p:cNvCxnSpPr/>
            <p:nvPr/>
          </p:nvCxnSpPr>
          <p:spPr>
            <a:xfrm rot="10800000" flipH="1">
              <a:off x="1433638" y="-2"/>
              <a:ext cx="1240971" cy="916595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241" name="Google Shape;241;p31"/>
            <p:cNvSpPr/>
            <p:nvPr/>
          </p:nvSpPr>
          <p:spPr>
            <a:xfrm rot="-2178838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2" name="Google Shape;242;p31"/>
          <p:cNvSpPr/>
          <p:nvPr/>
        </p:nvSpPr>
        <p:spPr>
          <a:xfrm flipH="1">
            <a:off x="5009931" y="1"/>
            <a:ext cx="1085850" cy="479298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31" title="Titre 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6249917" cy="911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  <a:defRPr sz="33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4" name="Google Shape;244;p31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5" name="Google Shape;245;p31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7">
          <p15:clr>
            <a:srgbClr val="FBAE40"/>
          </p15:clr>
        </p15:guide>
        <p15:guide id="2" pos="2880">
          <p15:clr>
            <a:srgbClr val="FBAE40"/>
          </p15:clr>
        </p15:guide>
        <p15:guide id="3" pos="583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position personnalisée">
  <p:cSld name="Disposition personnalisée"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2"/>
          <p:cNvSpPr txBox="1">
            <a:spLocks noGrp="1"/>
          </p:cNvSpPr>
          <p:nvPr>
            <p:ph type="title"/>
          </p:nvPr>
        </p:nvSpPr>
        <p:spPr>
          <a:xfrm>
            <a:off x="389008" y="156772"/>
            <a:ext cx="8126342" cy="860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title"/>
          </p:nvPr>
        </p:nvSpPr>
        <p:spPr>
          <a:xfrm>
            <a:off x="389008" y="156772"/>
            <a:ext cx="8126342" cy="860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  <a:defRPr sz="33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33" title="Image de bâtiment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0784" r="20784"/>
          <a:stretch/>
        </p:blipFill>
        <p:spPr>
          <a:xfrm>
            <a:off x="1262549" y="645708"/>
            <a:ext cx="3321392" cy="3852817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33" descr="Hexagone de couleur foncée unie au milieu d’accentuation d’image"/>
          <p:cNvSpPr/>
          <p:nvPr/>
        </p:nvSpPr>
        <p:spPr>
          <a:xfrm rot="-5400000">
            <a:off x="2009777" y="1791686"/>
            <a:ext cx="1809749" cy="1560129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33"/>
          <p:cNvSpPr txBox="1">
            <a:spLocks noGrp="1"/>
          </p:cNvSpPr>
          <p:nvPr>
            <p:ph type="ctrTitle"/>
          </p:nvPr>
        </p:nvSpPr>
        <p:spPr>
          <a:xfrm>
            <a:off x="4781791" y="1504563"/>
            <a:ext cx="3640180" cy="1212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Calibri"/>
              <a:buNone/>
            </a:pPr>
            <a:r>
              <a:rPr lang="fr"/>
              <a:t>Création et utilisation de la base de données</a:t>
            </a:r>
            <a:endParaRPr/>
          </a:p>
        </p:txBody>
      </p:sp>
      <p:sp>
        <p:nvSpPr>
          <p:cNvPr id="256" name="Google Shape;256;p33"/>
          <p:cNvSpPr txBox="1">
            <a:spLocks noGrp="1"/>
          </p:cNvSpPr>
          <p:nvPr>
            <p:ph type="subTitle" idx="1"/>
          </p:nvPr>
        </p:nvSpPr>
        <p:spPr>
          <a:xfrm>
            <a:off x="4781411" y="2730749"/>
            <a:ext cx="3640754" cy="943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" dirty="0"/>
              <a:t>Daniel Alican YILMAZ	</a:t>
            </a:r>
            <a:endParaRPr dirty="0"/>
          </a:p>
        </p:txBody>
      </p:sp>
      <p:pic>
        <p:nvPicPr>
          <p:cNvPr id="257" name="Google Shape;257;p33" descr="https://lh5.googleusercontent.com/TcdnvzxQ7ulQo8GiFwfIKujloK6EfAJv7ikP-EvnfdTVQnROS3WXw6XSx9Cpd73e_l7GCUAnbxroB-qlzG2fvYdCyl-Y5QZ95MpiD-GfDN-4taJyHRqsr3vOZzc3ONTBu52b0HIdUOMeHvdHiA_5tD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40217" y="3713672"/>
            <a:ext cx="4303784" cy="1429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33" descr="https://lh5.googleusercontent.com/TcdnvzxQ7ulQo8GiFwfIKujloK6EfAJv7ikP-EvnfdTVQnROS3WXw6XSx9Cpd73e_l7GCUAnbxroB-qlzG2fvYdCyl-Y5QZ95MpiD-GfDN-4taJyHRqsr3vOZzc3ONTBu52b0HIdUOMeHvdHiA_5tD0"/>
          <p:cNvPicPr preferRelativeResize="0"/>
          <p:nvPr/>
        </p:nvPicPr>
        <p:blipFill rotWithShape="1">
          <a:blip r:embed="rId5">
            <a:alphaModFix/>
          </a:blip>
          <a:srcRect l="11387" t="12667" r="63940" b="13973"/>
          <a:stretch/>
        </p:blipFill>
        <p:spPr>
          <a:xfrm>
            <a:off x="1979722" y="1607746"/>
            <a:ext cx="1801842" cy="1779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p34" title="Horizon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23312" r="23313"/>
          <a:stretch/>
        </p:blipFill>
        <p:spPr>
          <a:xfrm>
            <a:off x="4953000" y="0"/>
            <a:ext cx="4191000" cy="5154187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pic>
      <p:sp>
        <p:nvSpPr>
          <p:cNvPr id="270" name="Google Shape;270;p34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2</a:t>
            </a:fld>
            <a:endParaRPr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059B18A0-2BE3-5A53-4A64-BC710DA71A5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70556" y="786217"/>
            <a:ext cx="8202887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Rôle :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Data Engineer pour 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Laplace Immo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 :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centraliser les transactions immobilières pour analyser le marché (prix/m², zones dynamiques).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Périmètre :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Sur les données du </a:t>
            </a:r>
            <a:r>
              <a:rPr kumimoji="0" lang="fr-FR" altLang="fr-F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1er semestre 2020.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Livrables :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base SQLite + requêtes SQL + support de présentation (méthodo + résultats).</a:t>
            </a:r>
          </a:p>
        </p:txBody>
      </p:sp>
      <p:pic>
        <p:nvPicPr>
          <p:cNvPr id="13" name="Image 12" descr="Une image contenant texte, Police, capture d’écran, nombre">
            <a:extLst>
              <a:ext uri="{FF2B5EF4-FFF2-40B4-BE49-F238E27FC236}">
                <a16:creationId xmlns:a16="http://schemas.microsoft.com/office/drawing/2014/main" id="{E09B9A9B-742B-6A49-4272-E12BBB498F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556" y="1906578"/>
            <a:ext cx="3576713" cy="304574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5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4689794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Calibri"/>
              <a:buNone/>
            </a:pPr>
            <a:r>
              <a:rPr lang="fr" b="0"/>
              <a:t>La stratégie de sauvegarde et la conformité RGPD</a:t>
            </a:r>
            <a:endParaRPr b="0"/>
          </a:p>
        </p:txBody>
      </p:sp>
      <p:sp>
        <p:nvSpPr>
          <p:cNvPr id="278" name="Google Shape;278;p35"/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b="0" i="0" u="none" strike="noStrike" cap="none">
                <a:solidFill>
                  <a:srgbClr val="9E9E9E"/>
                </a:solidFill>
                <a:latin typeface="Calibri"/>
                <a:ea typeface="Calibri"/>
                <a:cs typeface="Calibri"/>
                <a:sym typeface="Calibri"/>
              </a:rPr>
              <a:t>Ajouter un pied de page</a:t>
            </a:r>
            <a:endParaRPr/>
          </a:p>
        </p:txBody>
      </p:sp>
      <p:sp>
        <p:nvSpPr>
          <p:cNvPr id="279" name="Google Shape;279;p35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00" b="0" i="0" u="none" strike="noStrike" cap="none">
                <a:solidFill>
                  <a:srgbClr val="9E9E9E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900" b="0" i="0" u="none" strike="noStrike" cap="none">
              <a:solidFill>
                <a:srgbClr val="9E9E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5F830A3-8B6B-54F7-91D5-2878F1774314}"/>
              </a:ext>
            </a:extLst>
          </p:cNvPr>
          <p:cNvSpPr>
            <a:spLocks noGrp="1" noChangeArrowheads="1"/>
          </p:cNvSpPr>
          <p:nvPr>
            <p:ph type="body" idx="2"/>
          </p:nvPr>
        </p:nvSpPr>
        <p:spPr bwMode="auto">
          <a:xfrm>
            <a:off x="321414" y="1322845"/>
            <a:ext cx="8377614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Base de données stockée </a:t>
            </a:r>
            <a:r>
              <a:rPr kumimoji="0" lang="fr-FR" altLang="fr-F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 local (SQLite)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pour le POC (simplicité, reproductibilité).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fr-FR" altLang="fr-F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Sauvegarde : fichier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.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sqlite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+ exports CSV “propres” (région, département, commune, vente) +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versionning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(nommage par date).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fr-FR" altLang="fr-F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RGPD : seules les variables nécessaires à l’analyse sont conservées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(pas de données personnelles type “nom de l’acquéreur”, etc.).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fr-FR" altLang="fr-F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Résultats communiqués sous forme </a:t>
            </a:r>
            <a:r>
              <a:rPr kumimoji="0" lang="fr-FR" altLang="fr-F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agrégée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(par région/département/commune).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6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4689794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</a:pPr>
            <a:r>
              <a:rPr lang="fr" b="0"/>
              <a:t>Les données initiales</a:t>
            </a:r>
            <a:endParaRPr b="0"/>
          </a:p>
        </p:txBody>
      </p:sp>
      <p:sp>
        <p:nvSpPr>
          <p:cNvPr id="288" name="Google Shape;288;p36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00" b="0" i="0" u="none" strike="noStrike" cap="none">
                <a:solidFill>
                  <a:srgbClr val="9E9E9E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900" b="0" i="0" u="none" strike="noStrike" cap="none">
              <a:solidFill>
                <a:srgbClr val="9E9E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FFFF55E-73EB-F87D-4B82-DCB80A1C3B2A}"/>
              </a:ext>
            </a:extLst>
          </p:cNvPr>
          <p:cNvSpPr>
            <a:spLocks noGrp="1" noChangeArrowheads="1"/>
          </p:cNvSpPr>
          <p:nvPr>
            <p:ph type="body" idx="2"/>
          </p:nvPr>
        </p:nvSpPr>
        <p:spPr bwMode="auto">
          <a:xfrm>
            <a:off x="389008" y="1112787"/>
            <a:ext cx="7927170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Fichier DVF / Valeurs foncières :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transactions (date, valeur,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type_local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surface, pièces, lots…).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Référentiel géographique :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régions / départements / communes + population.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Périmètre d’étude :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S1 2020 (POC). 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C09BF16A-054D-A512-7F56-BBA64DDD3D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0662456"/>
              </p:ext>
            </p:extLst>
          </p:nvPr>
        </p:nvGraphicFramePr>
        <p:xfrm>
          <a:off x="132152" y="3588389"/>
          <a:ext cx="7886700" cy="1231010"/>
        </p:xfrm>
        <a:graphic>
          <a:graphicData uri="http://schemas.openxmlformats.org/drawingml/2006/table">
            <a:tbl>
              <a:tblPr/>
              <a:tblGrid>
                <a:gridCol w="1115830">
                  <a:extLst>
                    <a:ext uri="{9D8B030D-6E8A-4147-A177-3AD203B41FA5}">
                      <a16:colId xmlns:a16="http://schemas.microsoft.com/office/drawing/2014/main" val="785229951"/>
                    </a:ext>
                  </a:extLst>
                </a:gridCol>
                <a:gridCol w="609194">
                  <a:extLst>
                    <a:ext uri="{9D8B030D-6E8A-4147-A177-3AD203B41FA5}">
                      <a16:colId xmlns:a16="http://schemas.microsoft.com/office/drawing/2014/main" val="1373138526"/>
                    </a:ext>
                  </a:extLst>
                </a:gridCol>
                <a:gridCol w="697393">
                  <a:extLst>
                    <a:ext uri="{9D8B030D-6E8A-4147-A177-3AD203B41FA5}">
                      <a16:colId xmlns:a16="http://schemas.microsoft.com/office/drawing/2014/main" val="1748507241"/>
                    </a:ext>
                  </a:extLst>
                </a:gridCol>
                <a:gridCol w="648166">
                  <a:extLst>
                    <a:ext uri="{9D8B030D-6E8A-4147-A177-3AD203B41FA5}">
                      <a16:colId xmlns:a16="http://schemas.microsoft.com/office/drawing/2014/main" val="3079589265"/>
                    </a:ext>
                  </a:extLst>
                </a:gridCol>
                <a:gridCol w="664575">
                  <a:extLst>
                    <a:ext uri="{9D8B030D-6E8A-4147-A177-3AD203B41FA5}">
                      <a16:colId xmlns:a16="http://schemas.microsoft.com/office/drawing/2014/main" val="2277997488"/>
                    </a:ext>
                  </a:extLst>
                </a:gridCol>
                <a:gridCol w="557915">
                  <a:extLst>
                    <a:ext uri="{9D8B030D-6E8A-4147-A177-3AD203B41FA5}">
                      <a16:colId xmlns:a16="http://schemas.microsoft.com/office/drawing/2014/main" val="1972595999"/>
                    </a:ext>
                  </a:extLst>
                </a:gridCol>
                <a:gridCol w="787644">
                  <a:extLst>
                    <a:ext uri="{9D8B030D-6E8A-4147-A177-3AD203B41FA5}">
                      <a16:colId xmlns:a16="http://schemas.microsoft.com/office/drawing/2014/main" val="1168132730"/>
                    </a:ext>
                  </a:extLst>
                </a:gridCol>
                <a:gridCol w="902509">
                  <a:extLst>
                    <a:ext uri="{9D8B030D-6E8A-4147-A177-3AD203B41FA5}">
                      <a16:colId xmlns:a16="http://schemas.microsoft.com/office/drawing/2014/main" val="3756164800"/>
                    </a:ext>
                  </a:extLst>
                </a:gridCol>
                <a:gridCol w="492278">
                  <a:extLst>
                    <a:ext uri="{9D8B030D-6E8A-4147-A177-3AD203B41FA5}">
                      <a16:colId xmlns:a16="http://schemas.microsoft.com/office/drawing/2014/main" val="3060078273"/>
                    </a:ext>
                  </a:extLst>
                </a:gridCol>
                <a:gridCol w="787644">
                  <a:extLst>
                    <a:ext uri="{9D8B030D-6E8A-4147-A177-3AD203B41FA5}">
                      <a16:colId xmlns:a16="http://schemas.microsoft.com/office/drawing/2014/main" val="1089248251"/>
                    </a:ext>
                  </a:extLst>
                </a:gridCol>
                <a:gridCol w="623552">
                  <a:extLst>
                    <a:ext uri="{9D8B030D-6E8A-4147-A177-3AD203B41FA5}">
                      <a16:colId xmlns:a16="http://schemas.microsoft.com/office/drawing/2014/main" val="3055712281"/>
                    </a:ext>
                  </a:extLst>
                </a:gridCol>
              </a:tblGrid>
              <a:tr h="12310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id_codedep_codecommune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date_mutation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nature_mutation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valeur_fonciere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code_type_local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type_local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surface_reelle_bati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nb_pieces_principales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nb_lots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surface_carrez_lot1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surface_terrain</a:t>
                      </a:r>
                      <a:endParaRPr lang="fr-FR" sz="7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2389707"/>
                  </a:ext>
                </a:extLst>
              </a:tr>
              <a:tr h="12310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01103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02/01/2020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Vente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165000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Appartement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48.22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9162640"/>
                  </a:ext>
                </a:extLst>
              </a:tr>
              <a:tr h="12310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06004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02/01/2020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Vente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355680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Appartement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39.11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833343"/>
                  </a:ext>
                </a:extLst>
              </a:tr>
              <a:tr h="12310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06088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02/01/2020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Vente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229500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Appartement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82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80.25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2855970"/>
                  </a:ext>
                </a:extLst>
              </a:tr>
              <a:tr h="12310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06123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02/01/2020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Vente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125000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Appartement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27.51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0890778"/>
                  </a:ext>
                </a:extLst>
              </a:tr>
              <a:tr h="12310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13005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02/01/2020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Vente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90000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Appartement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47.33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5669908"/>
                  </a:ext>
                </a:extLst>
              </a:tr>
              <a:tr h="12310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13028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02/01/2020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Vente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93000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Appartement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25.31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3412053"/>
                  </a:ext>
                </a:extLst>
              </a:tr>
              <a:tr h="12310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13208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02/01/2020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Vente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298100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Appartement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70.84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158992"/>
                  </a:ext>
                </a:extLst>
              </a:tr>
              <a:tr h="12310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13212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02/01/2020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Vente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163500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Appartement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66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67.19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2716679"/>
                  </a:ext>
                </a:extLst>
              </a:tr>
              <a:tr h="12310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14338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02/01/2020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Vente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53000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Appartement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18.89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6155" marR="6155" marT="615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5218563"/>
                  </a:ext>
                </a:extLst>
              </a:tr>
            </a:tbl>
          </a:graphicData>
        </a:graphic>
      </p:graphicFrame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8562FFCD-54E3-0399-3CE4-4B7694E061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1629864"/>
              </p:ext>
            </p:extLst>
          </p:nvPr>
        </p:nvGraphicFramePr>
        <p:xfrm>
          <a:off x="132152" y="1851451"/>
          <a:ext cx="7886702" cy="16107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965">
                  <a:extLst>
                    <a:ext uri="{9D8B030D-6E8A-4147-A177-3AD203B41FA5}">
                      <a16:colId xmlns:a16="http://schemas.microsoft.com/office/drawing/2014/main" val="1009941922"/>
                    </a:ext>
                  </a:extLst>
                </a:gridCol>
                <a:gridCol w="210812">
                  <a:extLst>
                    <a:ext uri="{9D8B030D-6E8A-4147-A177-3AD203B41FA5}">
                      <a16:colId xmlns:a16="http://schemas.microsoft.com/office/drawing/2014/main" val="434673747"/>
                    </a:ext>
                  </a:extLst>
                </a:gridCol>
                <a:gridCol w="138784">
                  <a:extLst>
                    <a:ext uri="{9D8B030D-6E8A-4147-A177-3AD203B41FA5}">
                      <a16:colId xmlns:a16="http://schemas.microsoft.com/office/drawing/2014/main" val="1880332284"/>
                    </a:ext>
                  </a:extLst>
                </a:gridCol>
                <a:gridCol w="138784">
                  <a:extLst>
                    <a:ext uri="{9D8B030D-6E8A-4147-A177-3AD203B41FA5}">
                      <a16:colId xmlns:a16="http://schemas.microsoft.com/office/drawing/2014/main" val="3862339942"/>
                    </a:ext>
                  </a:extLst>
                </a:gridCol>
                <a:gridCol w="138784">
                  <a:extLst>
                    <a:ext uri="{9D8B030D-6E8A-4147-A177-3AD203B41FA5}">
                      <a16:colId xmlns:a16="http://schemas.microsoft.com/office/drawing/2014/main" val="3870617111"/>
                    </a:ext>
                  </a:extLst>
                </a:gridCol>
                <a:gridCol w="138784">
                  <a:extLst>
                    <a:ext uri="{9D8B030D-6E8A-4147-A177-3AD203B41FA5}">
                      <a16:colId xmlns:a16="http://schemas.microsoft.com/office/drawing/2014/main" val="637448332"/>
                    </a:ext>
                  </a:extLst>
                </a:gridCol>
                <a:gridCol w="138784">
                  <a:extLst>
                    <a:ext uri="{9D8B030D-6E8A-4147-A177-3AD203B41FA5}">
                      <a16:colId xmlns:a16="http://schemas.microsoft.com/office/drawing/2014/main" val="509038328"/>
                    </a:ext>
                  </a:extLst>
                </a:gridCol>
                <a:gridCol w="152253">
                  <a:extLst>
                    <a:ext uri="{9D8B030D-6E8A-4147-A177-3AD203B41FA5}">
                      <a16:colId xmlns:a16="http://schemas.microsoft.com/office/drawing/2014/main" val="4176701481"/>
                    </a:ext>
                  </a:extLst>
                </a:gridCol>
                <a:gridCol w="311533">
                  <a:extLst>
                    <a:ext uri="{9D8B030D-6E8A-4147-A177-3AD203B41FA5}">
                      <a16:colId xmlns:a16="http://schemas.microsoft.com/office/drawing/2014/main" val="251699324"/>
                    </a:ext>
                  </a:extLst>
                </a:gridCol>
                <a:gridCol w="173920">
                  <a:extLst>
                    <a:ext uri="{9D8B030D-6E8A-4147-A177-3AD203B41FA5}">
                      <a16:colId xmlns:a16="http://schemas.microsoft.com/office/drawing/2014/main" val="2688521823"/>
                    </a:ext>
                  </a:extLst>
                </a:gridCol>
                <a:gridCol w="159866">
                  <a:extLst>
                    <a:ext uri="{9D8B030D-6E8A-4147-A177-3AD203B41FA5}">
                      <a16:colId xmlns:a16="http://schemas.microsoft.com/office/drawing/2014/main" val="3325970441"/>
                    </a:ext>
                  </a:extLst>
                </a:gridCol>
                <a:gridCol w="89009">
                  <a:extLst>
                    <a:ext uri="{9D8B030D-6E8A-4147-A177-3AD203B41FA5}">
                      <a16:colId xmlns:a16="http://schemas.microsoft.com/office/drawing/2014/main" val="2485654343"/>
                    </a:ext>
                  </a:extLst>
                </a:gridCol>
                <a:gridCol w="74955">
                  <a:extLst>
                    <a:ext uri="{9D8B030D-6E8A-4147-A177-3AD203B41FA5}">
                      <a16:colId xmlns:a16="http://schemas.microsoft.com/office/drawing/2014/main" val="1578079868"/>
                    </a:ext>
                  </a:extLst>
                </a:gridCol>
                <a:gridCol w="185046">
                  <a:extLst>
                    <a:ext uri="{9D8B030D-6E8A-4147-A177-3AD203B41FA5}">
                      <a16:colId xmlns:a16="http://schemas.microsoft.com/office/drawing/2014/main" val="1346873685"/>
                    </a:ext>
                  </a:extLst>
                </a:gridCol>
                <a:gridCol w="135856">
                  <a:extLst>
                    <a:ext uri="{9D8B030D-6E8A-4147-A177-3AD203B41FA5}">
                      <a16:colId xmlns:a16="http://schemas.microsoft.com/office/drawing/2014/main" val="2303152896"/>
                    </a:ext>
                  </a:extLst>
                </a:gridCol>
                <a:gridCol w="110091">
                  <a:extLst>
                    <a:ext uri="{9D8B030D-6E8A-4147-A177-3AD203B41FA5}">
                      <a16:colId xmlns:a16="http://schemas.microsoft.com/office/drawing/2014/main" val="3282572451"/>
                    </a:ext>
                  </a:extLst>
                </a:gridCol>
                <a:gridCol w="251217">
                  <a:extLst>
                    <a:ext uri="{9D8B030D-6E8A-4147-A177-3AD203B41FA5}">
                      <a16:colId xmlns:a16="http://schemas.microsoft.com/office/drawing/2014/main" val="1120228506"/>
                    </a:ext>
                  </a:extLst>
                </a:gridCol>
                <a:gridCol w="187388">
                  <a:extLst>
                    <a:ext uri="{9D8B030D-6E8A-4147-A177-3AD203B41FA5}">
                      <a16:colId xmlns:a16="http://schemas.microsoft.com/office/drawing/2014/main" val="1824029957"/>
                    </a:ext>
                  </a:extLst>
                </a:gridCol>
                <a:gridCol w="124730">
                  <a:extLst>
                    <a:ext uri="{9D8B030D-6E8A-4147-A177-3AD203B41FA5}">
                      <a16:colId xmlns:a16="http://schemas.microsoft.com/office/drawing/2014/main" val="763159507"/>
                    </a:ext>
                  </a:extLst>
                </a:gridCol>
                <a:gridCol w="370092">
                  <a:extLst>
                    <a:ext uri="{9D8B030D-6E8A-4147-A177-3AD203B41FA5}">
                      <a16:colId xmlns:a16="http://schemas.microsoft.com/office/drawing/2014/main" val="1983240846"/>
                    </a:ext>
                  </a:extLst>
                </a:gridCol>
                <a:gridCol w="194415">
                  <a:extLst>
                    <a:ext uri="{9D8B030D-6E8A-4147-A177-3AD203B41FA5}">
                      <a16:colId xmlns:a16="http://schemas.microsoft.com/office/drawing/2014/main" val="3385868694"/>
                    </a:ext>
                  </a:extLst>
                </a:gridCol>
                <a:gridCol w="161622">
                  <a:extLst>
                    <a:ext uri="{9D8B030D-6E8A-4147-A177-3AD203B41FA5}">
                      <a16:colId xmlns:a16="http://schemas.microsoft.com/office/drawing/2014/main" val="287174346"/>
                    </a:ext>
                  </a:extLst>
                </a:gridCol>
                <a:gridCol w="182703">
                  <a:extLst>
                    <a:ext uri="{9D8B030D-6E8A-4147-A177-3AD203B41FA5}">
                      <a16:colId xmlns:a16="http://schemas.microsoft.com/office/drawing/2014/main" val="1249092463"/>
                    </a:ext>
                  </a:extLst>
                </a:gridCol>
                <a:gridCol w="84325">
                  <a:extLst>
                    <a:ext uri="{9D8B030D-6E8A-4147-A177-3AD203B41FA5}">
                      <a16:colId xmlns:a16="http://schemas.microsoft.com/office/drawing/2014/main" val="4169786586"/>
                    </a:ext>
                  </a:extLst>
                </a:gridCol>
                <a:gridCol w="89009">
                  <a:extLst>
                    <a:ext uri="{9D8B030D-6E8A-4147-A177-3AD203B41FA5}">
                      <a16:colId xmlns:a16="http://schemas.microsoft.com/office/drawing/2014/main" val="3547383617"/>
                    </a:ext>
                  </a:extLst>
                </a:gridCol>
                <a:gridCol w="121802">
                  <a:extLst>
                    <a:ext uri="{9D8B030D-6E8A-4147-A177-3AD203B41FA5}">
                      <a16:colId xmlns:a16="http://schemas.microsoft.com/office/drawing/2014/main" val="2294150298"/>
                    </a:ext>
                  </a:extLst>
                </a:gridCol>
                <a:gridCol w="100721">
                  <a:extLst>
                    <a:ext uri="{9D8B030D-6E8A-4147-A177-3AD203B41FA5}">
                      <a16:colId xmlns:a16="http://schemas.microsoft.com/office/drawing/2014/main" val="1261745903"/>
                    </a:ext>
                  </a:extLst>
                </a:gridCol>
                <a:gridCol w="251217">
                  <a:extLst>
                    <a:ext uri="{9D8B030D-6E8A-4147-A177-3AD203B41FA5}">
                      <a16:colId xmlns:a16="http://schemas.microsoft.com/office/drawing/2014/main" val="888247754"/>
                    </a:ext>
                  </a:extLst>
                </a:gridCol>
                <a:gridCol w="98379">
                  <a:extLst>
                    <a:ext uri="{9D8B030D-6E8A-4147-A177-3AD203B41FA5}">
                      <a16:colId xmlns:a16="http://schemas.microsoft.com/office/drawing/2014/main" val="3038071145"/>
                    </a:ext>
                  </a:extLst>
                </a:gridCol>
                <a:gridCol w="269371">
                  <a:extLst>
                    <a:ext uri="{9D8B030D-6E8A-4147-A177-3AD203B41FA5}">
                      <a16:colId xmlns:a16="http://schemas.microsoft.com/office/drawing/2014/main" val="1047367097"/>
                    </a:ext>
                  </a:extLst>
                </a:gridCol>
                <a:gridCol w="98379">
                  <a:extLst>
                    <a:ext uri="{9D8B030D-6E8A-4147-A177-3AD203B41FA5}">
                      <a16:colId xmlns:a16="http://schemas.microsoft.com/office/drawing/2014/main" val="1142237465"/>
                    </a:ext>
                  </a:extLst>
                </a:gridCol>
                <a:gridCol w="269371">
                  <a:extLst>
                    <a:ext uri="{9D8B030D-6E8A-4147-A177-3AD203B41FA5}">
                      <a16:colId xmlns:a16="http://schemas.microsoft.com/office/drawing/2014/main" val="2829485041"/>
                    </a:ext>
                  </a:extLst>
                </a:gridCol>
                <a:gridCol w="98379">
                  <a:extLst>
                    <a:ext uri="{9D8B030D-6E8A-4147-A177-3AD203B41FA5}">
                      <a16:colId xmlns:a16="http://schemas.microsoft.com/office/drawing/2014/main" val="2479534554"/>
                    </a:ext>
                  </a:extLst>
                </a:gridCol>
                <a:gridCol w="269371">
                  <a:extLst>
                    <a:ext uri="{9D8B030D-6E8A-4147-A177-3AD203B41FA5}">
                      <a16:colId xmlns:a16="http://schemas.microsoft.com/office/drawing/2014/main" val="2601071018"/>
                    </a:ext>
                  </a:extLst>
                </a:gridCol>
                <a:gridCol w="98379">
                  <a:extLst>
                    <a:ext uri="{9D8B030D-6E8A-4147-A177-3AD203B41FA5}">
                      <a16:colId xmlns:a16="http://schemas.microsoft.com/office/drawing/2014/main" val="2299367301"/>
                    </a:ext>
                  </a:extLst>
                </a:gridCol>
                <a:gridCol w="269371">
                  <a:extLst>
                    <a:ext uri="{9D8B030D-6E8A-4147-A177-3AD203B41FA5}">
                      <a16:colId xmlns:a16="http://schemas.microsoft.com/office/drawing/2014/main" val="520328240"/>
                    </a:ext>
                  </a:extLst>
                </a:gridCol>
                <a:gridCol w="159866">
                  <a:extLst>
                    <a:ext uri="{9D8B030D-6E8A-4147-A177-3AD203B41FA5}">
                      <a16:colId xmlns:a16="http://schemas.microsoft.com/office/drawing/2014/main" val="3533929048"/>
                    </a:ext>
                  </a:extLst>
                </a:gridCol>
                <a:gridCol w="159866">
                  <a:extLst>
                    <a:ext uri="{9D8B030D-6E8A-4147-A177-3AD203B41FA5}">
                      <a16:colId xmlns:a16="http://schemas.microsoft.com/office/drawing/2014/main" val="824176000"/>
                    </a:ext>
                  </a:extLst>
                </a:gridCol>
                <a:gridCol w="138199">
                  <a:extLst>
                    <a:ext uri="{9D8B030D-6E8A-4147-A177-3AD203B41FA5}">
                      <a16:colId xmlns:a16="http://schemas.microsoft.com/office/drawing/2014/main" val="3093048121"/>
                    </a:ext>
                  </a:extLst>
                </a:gridCol>
                <a:gridCol w="163965">
                  <a:extLst>
                    <a:ext uri="{9D8B030D-6E8A-4147-A177-3AD203B41FA5}">
                      <a16:colId xmlns:a16="http://schemas.microsoft.com/office/drawing/2014/main" val="1910117404"/>
                    </a:ext>
                  </a:extLst>
                </a:gridCol>
                <a:gridCol w="187388">
                  <a:extLst>
                    <a:ext uri="{9D8B030D-6E8A-4147-A177-3AD203B41FA5}">
                      <a16:colId xmlns:a16="http://schemas.microsoft.com/office/drawing/2014/main" val="441956273"/>
                    </a:ext>
                  </a:extLst>
                </a:gridCol>
                <a:gridCol w="264686">
                  <a:extLst>
                    <a:ext uri="{9D8B030D-6E8A-4147-A177-3AD203B41FA5}">
                      <a16:colId xmlns:a16="http://schemas.microsoft.com/office/drawing/2014/main" val="2862458352"/>
                    </a:ext>
                  </a:extLst>
                </a:gridCol>
                <a:gridCol w="152253">
                  <a:extLst>
                    <a:ext uri="{9D8B030D-6E8A-4147-A177-3AD203B41FA5}">
                      <a16:colId xmlns:a16="http://schemas.microsoft.com/office/drawing/2014/main" val="3820330678"/>
                    </a:ext>
                  </a:extLst>
                </a:gridCol>
                <a:gridCol w="234235">
                  <a:extLst>
                    <a:ext uri="{9D8B030D-6E8A-4147-A177-3AD203B41FA5}">
                      <a16:colId xmlns:a16="http://schemas.microsoft.com/office/drawing/2014/main" val="1938966957"/>
                    </a:ext>
                  </a:extLst>
                </a:gridCol>
                <a:gridCol w="156938">
                  <a:extLst>
                    <a:ext uri="{9D8B030D-6E8A-4147-A177-3AD203B41FA5}">
                      <a16:colId xmlns:a16="http://schemas.microsoft.com/office/drawing/2014/main" val="1108211564"/>
                    </a:ext>
                  </a:extLst>
                </a:gridCol>
                <a:gridCol w="217839">
                  <a:extLst>
                    <a:ext uri="{9D8B030D-6E8A-4147-A177-3AD203B41FA5}">
                      <a16:colId xmlns:a16="http://schemas.microsoft.com/office/drawing/2014/main" val="2795316150"/>
                    </a:ext>
                  </a:extLst>
                </a:gridCol>
              </a:tblGrid>
              <a:tr h="6365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Code service CH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Reference document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 dirty="0">
                          <a:effectLst/>
                        </a:rPr>
                        <a:t>1 Articles CGI</a:t>
                      </a:r>
                      <a:endParaRPr lang="fr-FR" sz="5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 dirty="0">
                          <a:effectLst/>
                        </a:rPr>
                        <a:t>2 Articles CGI</a:t>
                      </a:r>
                      <a:endParaRPr lang="fr-FR" sz="5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3 Articles CGI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4 Articles CGI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5 Articles CGI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No disposition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Date mutation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 dirty="0">
                          <a:effectLst/>
                        </a:rPr>
                        <a:t>Nature mutation</a:t>
                      </a:r>
                      <a:endParaRPr lang="fr-FR" sz="5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 dirty="0">
                          <a:effectLst/>
                        </a:rPr>
                        <a:t>Valeur </a:t>
                      </a:r>
                      <a:r>
                        <a:rPr lang="fr-FR" sz="500" u="none" strike="noStrike" dirty="0" err="1">
                          <a:effectLst/>
                        </a:rPr>
                        <a:t>fonciere</a:t>
                      </a:r>
                      <a:endParaRPr lang="fr-FR" sz="5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No voie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B/T/Q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Code type de voie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Type de voie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Code voie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Voie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Code ID commune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Code postal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Commune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Code departement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Code commune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Préfixe de section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Section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No plan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No Volume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1er lot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Surface Carrez du 1er lot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2eme lot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Surface Carrez du 2eme lot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3eme lot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Surface Carrez du 3eme lot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4eme lot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Surface Carrez du 4eme lot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5eme lot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Surface Carrez du 5eme lot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Nombre de lots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Code type local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Type local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Identifiant local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Surface reelle bati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Nombre pieces principales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Nature culture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Nature culture speciale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Surface terrain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Nom de l'acquereur</a:t>
                      </a:r>
                      <a:endParaRPr lang="fr-FR" sz="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/>
                </a:tc>
                <a:extLst>
                  <a:ext uri="{0D108BD9-81ED-4DB2-BD59-A6C34878D82A}">
                    <a16:rowId xmlns:a16="http://schemas.microsoft.com/office/drawing/2014/main" val="843260522"/>
                  </a:ext>
                </a:extLst>
              </a:tr>
              <a:tr h="351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2020/01/02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Vente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165000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347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0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RUE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20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DU CHATEAU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1170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CHEVRY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01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103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A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302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12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48,22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Appartement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48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3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GUIRAO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extLst>
                  <a:ext uri="{0D108BD9-81ED-4DB2-BD59-A6C34878D82A}">
                    <a16:rowId xmlns:a16="http://schemas.microsoft.com/office/drawing/2014/main" val="2022533275"/>
                  </a:ext>
                </a:extLst>
              </a:tr>
              <a:tr h="351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2020/01/02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Vente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355680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4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15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BD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1000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EDOUARD BAUDOIN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205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6160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ANTIBES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06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004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CP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186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132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39,11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Appartement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40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HARNOIS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extLst>
                  <a:ext uri="{0D108BD9-81ED-4DB2-BD59-A6C34878D82A}">
                    <a16:rowId xmlns:a16="http://schemas.microsoft.com/office/drawing/2014/main" val="1415794729"/>
                  </a:ext>
                </a:extLst>
              </a:tr>
              <a:tr h="351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2020/01/02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Vente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229500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20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B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0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RUE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3975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MARCEAU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142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6000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NICE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06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088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LS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169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99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80,25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Appartement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82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3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ROGIER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extLst>
                  <a:ext uri="{0D108BD9-81ED-4DB2-BD59-A6C34878D82A}">
                    <a16:rowId xmlns:a16="http://schemas.microsoft.com/office/drawing/2014/main" val="3672792100"/>
                  </a:ext>
                </a:extLst>
              </a:tr>
              <a:tr h="351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2020/01/02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Vente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125000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550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3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RTE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1011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DES VESPINS RN7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228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6700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SAINT LAURENT DU VAR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06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123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AO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348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242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27,51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Appartement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27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BOCQUIER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extLst>
                  <a:ext uri="{0D108BD9-81ED-4DB2-BD59-A6C34878D82A}">
                    <a16:rowId xmlns:a16="http://schemas.microsoft.com/office/drawing/2014/main" val="1010318566"/>
                  </a:ext>
                </a:extLst>
              </a:tr>
              <a:tr h="636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2020/01/02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Vente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90000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9300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18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RES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A084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LES ARPEGES BD DES ABA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326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13400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AUBAGNE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13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005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AW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224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218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47,33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1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Appartement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47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500" u="none" strike="noStrike">
                          <a:effectLst/>
                        </a:rPr>
                        <a:t>2</a:t>
                      </a: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500" u="none" strike="noStrike" dirty="0">
                          <a:effectLst/>
                        </a:rPr>
                        <a:t>GUILLOSSOU</a:t>
                      </a:r>
                      <a:endParaRPr lang="fr-FR" sz="5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58" marR="1758" marT="1758" marB="0" anchor="b"/>
                </a:tc>
                <a:extLst>
                  <a:ext uri="{0D108BD9-81ED-4DB2-BD59-A6C34878D82A}">
                    <a16:rowId xmlns:a16="http://schemas.microsoft.com/office/drawing/2014/main" val="3511807806"/>
                  </a:ext>
                </a:extLst>
              </a:tr>
            </a:tbl>
          </a:graphicData>
        </a:graphic>
      </p:graphicFrame>
      <p:sp>
        <p:nvSpPr>
          <p:cNvPr id="7" name="ZoneTexte 6">
            <a:extLst>
              <a:ext uri="{FF2B5EF4-FFF2-40B4-BE49-F238E27FC236}">
                <a16:creationId xmlns:a16="http://schemas.microsoft.com/office/drawing/2014/main" id="{AAFAE73D-F420-29E9-CEB1-095B71D29131}"/>
              </a:ext>
            </a:extLst>
          </p:cNvPr>
          <p:cNvSpPr txBox="1"/>
          <p:nvPr/>
        </p:nvSpPr>
        <p:spPr>
          <a:xfrm>
            <a:off x="8018852" y="2454321"/>
            <a:ext cx="10310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Avant</a:t>
            </a:r>
            <a:endParaRPr lang="fr-FR" sz="1800" b="1" dirty="0">
              <a:solidFill>
                <a:srgbClr val="FF0000"/>
              </a:solidFill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3D842EB-914F-293A-EFA8-B136D02FC48C}"/>
              </a:ext>
            </a:extLst>
          </p:cNvPr>
          <p:cNvSpPr txBox="1"/>
          <p:nvPr/>
        </p:nvSpPr>
        <p:spPr>
          <a:xfrm>
            <a:off x="8018853" y="3799880"/>
            <a:ext cx="11251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Après</a:t>
            </a:r>
            <a:endParaRPr lang="fr-FR" sz="1800" b="1" dirty="0">
              <a:solidFill>
                <a:srgbClr val="FF0000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3CE7D5E-0C2C-8632-9B5C-12D479A0AD43}"/>
              </a:ext>
            </a:extLst>
          </p:cNvPr>
          <p:cNvSpPr txBox="1"/>
          <p:nvPr/>
        </p:nvSpPr>
        <p:spPr>
          <a:xfrm>
            <a:off x="8018851" y="4142013"/>
            <a:ext cx="10310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i="1" dirty="0">
                <a:solidFill>
                  <a:srgbClr val="FF0000"/>
                </a:solidFill>
              </a:rPr>
              <a:t>nettoyage</a:t>
            </a:r>
            <a:endParaRPr lang="fr-FR" sz="1100" b="1" i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>
          <a:extLst>
            <a:ext uri="{FF2B5EF4-FFF2-40B4-BE49-F238E27FC236}">
              <a16:creationId xmlns:a16="http://schemas.microsoft.com/office/drawing/2014/main" id="{5F742AF9-4459-D8F1-0CA8-26E24277D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6">
            <a:extLst>
              <a:ext uri="{FF2B5EF4-FFF2-40B4-BE49-F238E27FC236}">
                <a16:creationId xmlns:a16="http://schemas.microsoft.com/office/drawing/2014/main" id="{002CEA59-E54B-3113-D7A0-CA0A0F4AF5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9008" y="0"/>
            <a:ext cx="4689794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</a:pPr>
            <a:r>
              <a:rPr lang="fr-FR" b="0" dirty="0"/>
              <a:t>Transformation des données</a:t>
            </a:r>
            <a:endParaRPr b="0" dirty="0"/>
          </a:p>
        </p:txBody>
      </p:sp>
      <p:sp>
        <p:nvSpPr>
          <p:cNvPr id="287" name="Google Shape;287;p36">
            <a:extLst>
              <a:ext uri="{FF2B5EF4-FFF2-40B4-BE49-F238E27FC236}">
                <a16:creationId xmlns:a16="http://schemas.microsoft.com/office/drawing/2014/main" id="{E35948CA-9769-122A-3A89-EDFD54F92F7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b="0" i="0" u="none" strike="noStrike" cap="none">
                <a:solidFill>
                  <a:srgbClr val="9E9E9E"/>
                </a:solidFill>
                <a:latin typeface="Calibri"/>
                <a:ea typeface="Calibri"/>
                <a:cs typeface="Calibri"/>
                <a:sym typeface="Calibri"/>
              </a:rPr>
              <a:t>Ajouter un pied de page</a:t>
            </a:r>
            <a:endParaRPr/>
          </a:p>
        </p:txBody>
      </p:sp>
      <p:sp>
        <p:nvSpPr>
          <p:cNvPr id="288" name="Google Shape;288;p36">
            <a:extLst>
              <a:ext uri="{FF2B5EF4-FFF2-40B4-BE49-F238E27FC236}">
                <a16:creationId xmlns:a16="http://schemas.microsoft.com/office/drawing/2014/main" id="{F4E216F7-8B6C-FA86-544F-9A7676252FB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00" b="0" i="0" u="none" strike="noStrike" cap="none">
                <a:solidFill>
                  <a:srgbClr val="9E9E9E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900" b="0" i="0" u="none" strike="noStrike" cap="none">
              <a:solidFill>
                <a:srgbClr val="9E9E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B2722F0F-5878-482D-DF76-A38F959659C3}"/>
              </a:ext>
            </a:extLst>
          </p:cNvPr>
          <p:cNvSpPr>
            <a:spLocks noGrp="1" noChangeArrowheads="1"/>
          </p:cNvSpPr>
          <p:nvPr>
            <p:ph type="body" idx="2"/>
          </p:nvPr>
        </p:nvSpPr>
        <p:spPr bwMode="auto">
          <a:xfrm>
            <a:off x="526098" y="917227"/>
            <a:ext cx="8701722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Sélection des colonnes utiles (suppression des colonnes redondantes).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Création des tables </a:t>
            </a:r>
            <a:r>
              <a:rPr kumimoji="0" lang="fr-FR" altLang="fr-F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region</a:t>
            </a:r>
            <a:r>
              <a:rPr kumimoji="0" lang="fr-FR" altLang="fr-F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/ departement / commune / vente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(3NF).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Suppression des doublons sur les dimensions (ex : régions/départements/communes).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fr-FR" altLang="fr-F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Création des clés 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id_vente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: </a:t>
            </a:r>
            <a:r>
              <a:rPr kumimoji="0" lang="fr-FR" altLang="fr-F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auto-increment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côté SQLite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id_codedep_codecommune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: </a:t>
            </a:r>
            <a:r>
              <a:rPr kumimoji="0" lang="fr-FR" altLang="fr-F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concat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code_departement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+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code_commune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(avec zéros)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fr-FR" altLang="fr-F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Nettoyages 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décimales : virgule → point (pour REAL)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gestion des valeurs manquantes (NULL)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création d’une </a:t>
            </a:r>
            <a:r>
              <a:rPr kumimoji="0" lang="fr-FR" altLang="fr-F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VIEW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vente_clean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avec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date_iso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(filtrage T1/T2 fiable)</a:t>
            </a:r>
            <a:endParaRPr lang="fr-FR" altLang="fr-FR" sz="1200" dirty="0">
              <a:solidFill>
                <a:schemeClr val="tx1"/>
              </a:solidFill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fr-FR" altLang="fr-F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Chargement dans l’ordre : </a:t>
            </a:r>
            <a:r>
              <a:rPr kumimoji="0" lang="fr-FR" altLang="fr-F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region</a:t>
            </a:r>
            <a:r>
              <a:rPr kumimoji="0" lang="fr-FR" altLang="fr-F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departement → commune → vente</a:t>
            </a:r>
            <a:endParaRPr kumimoji="0" lang="fr-FR" altLang="fr-F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Contrôles : clés primaires uniques +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foreign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keys OK.</a:t>
            </a:r>
          </a:p>
        </p:txBody>
      </p:sp>
    </p:spTree>
    <p:extLst>
      <p:ext uri="{BB962C8B-B14F-4D97-AF65-F5344CB8AC3E}">
        <p14:creationId xmlns:p14="http://schemas.microsoft.com/office/powerpoint/2010/main" val="1549316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7"/>
          <p:cNvSpPr txBox="1">
            <a:spLocks noGrp="1"/>
          </p:cNvSpPr>
          <p:nvPr>
            <p:ph type="title"/>
          </p:nvPr>
        </p:nvSpPr>
        <p:spPr>
          <a:xfrm>
            <a:off x="389008" y="0"/>
            <a:ext cx="8189842" cy="389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Calibri"/>
              <a:buNone/>
            </a:pPr>
            <a:r>
              <a:rPr lang="fr" sz="2400" b="0" dirty="0"/>
              <a:t>L’extrait du dictionnaire des données</a:t>
            </a:r>
            <a:endParaRPr sz="2400" b="0" dirty="0"/>
          </a:p>
        </p:txBody>
      </p:sp>
      <p:sp>
        <p:nvSpPr>
          <p:cNvPr id="297" name="Google Shape;297;p37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00" b="0" i="0" u="none" strike="noStrike" cap="none">
                <a:solidFill>
                  <a:srgbClr val="9E9E9E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900" b="0" i="0" u="none" strike="noStrike" cap="none">
              <a:solidFill>
                <a:srgbClr val="9E9E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3C955D4A-8194-4A59-B694-EA66F79FB2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9412723"/>
              </p:ext>
            </p:extLst>
          </p:nvPr>
        </p:nvGraphicFramePr>
        <p:xfrm>
          <a:off x="473527" y="577211"/>
          <a:ext cx="8594273" cy="166401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35468">
                  <a:extLst>
                    <a:ext uri="{9D8B030D-6E8A-4147-A177-3AD203B41FA5}">
                      <a16:colId xmlns:a16="http://schemas.microsoft.com/office/drawing/2014/main" val="1749108775"/>
                    </a:ext>
                  </a:extLst>
                </a:gridCol>
                <a:gridCol w="2351381">
                  <a:extLst>
                    <a:ext uri="{9D8B030D-6E8A-4147-A177-3AD203B41FA5}">
                      <a16:colId xmlns:a16="http://schemas.microsoft.com/office/drawing/2014/main" val="3777437666"/>
                    </a:ext>
                  </a:extLst>
                </a:gridCol>
                <a:gridCol w="422388">
                  <a:extLst>
                    <a:ext uri="{9D8B030D-6E8A-4147-A177-3AD203B41FA5}">
                      <a16:colId xmlns:a16="http://schemas.microsoft.com/office/drawing/2014/main" val="262460540"/>
                    </a:ext>
                  </a:extLst>
                </a:gridCol>
                <a:gridCol w="498764">
                  <a:extLst>
                    <a:ext uri="{9D8B030D-6E8A-4147-A177-3AD203B41FA5}">
                      <a16:colId xmlns:a16="http://schemas.microsoft.com/office/drawing/2014/main" val="3257469979"/>
                    </a:ext>
                  </a:extLst>
                </a:gridCol>
                <a:gridCol w="503530">
                  <a:extLst>
                    <a:ext uri="{9D8B030D-6E8A-4147-A177-3AD203B41FA5}">
                      <a16:colId xmlns:a16="http://schemas.microsoft.com/office/drawing/2014/main" val="3411529673"/>
                    </a:ext>
                  </a:extLst>
                </a:gridCol>
                <a:gridCol w="1995781">
                  <a:extLst>
                    <a:ext uri="{9D8B030D-6E8A-4147-A177-3AD203B41FA5}">
                      <a16:colId xmlns:a16="http://schemas.microsoft.com/office/drawing/2014/main" val="2237817304"/>
                    </a:ext>
                  </a:extLst>
                </a:gridCol>
                <a:gridCol w="786961">
                  <a:extLst>
                    <a:ext uri="{9D8B030D-6E8A-4147-A177-3AD203B41FA5}">
                      <a16:colId xmlns:a16="http://schemas.microsoft.com/office/drawing/2014/main" val="3802719215"/>
                    </a:ext>
                  </a:extLst>
                </a:gridCol>
              </a:tblGrid>
              <a:tr h="9817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CODE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SIGNIFICATION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TYPE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>
                          <a:effectLst/>
                        </a:rPr>
                        <a:t>LONGUEUR</a:t>
                      </a:r>
                      <a:endParaRPr lang="fr-FR" sz="7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NATURE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REGLE DE GESTION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REGLE DE CALCUL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5116394"/>
                  </a:ext>
                </a:extLst>
              </a:tr>
              <a:tr h="9817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id_vente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auto incrémentions de 1 jusqu’à la fin pour chaque ventes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Integer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NC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Elémentaire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non nul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extLst>
                  <a:ext uri="{0D108BD9-81ED-4DB2-BD59-A6C34878D82A}">
                    <a16:rowId xmlns:a16="http://schemas.microsoft.com/office/drawing/2014/main" val="708925877"/>
                  </a:ext>
                </a:extLst>
              </a:tr>
              <a:tr h="9817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id_codedep_codecommune 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concaténation entre Code departement et Code commune 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Varchar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Elémentaire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code departement + code communes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extLst>
                  <a:ext uri="{0D108BD9-81ED-4DB2-BD59-A6C34878D82A}">
                    <a16:rowId xmlns:a16="http://schemas.microsoft.com/office/drawing/2014/main" val="2727899034"/>
                  </a:ext>
                </a:extLst>
              </a:tr>
              <a:tr h="9817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Date mutation (date_mutation)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Date de la vente / mutation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Date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Elémentaire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Non nul. Format date (AAAA-MM-JJ).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NC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extLst>
                  <a:ext uri="{0D108BD9-81ED-4DB2-BD59-A6C34878D82A}">
                    <a16:rowId xmlns:a16="http://schemas.microsoft.com/office/drawing/2014/main" val="1795941468"/>
                  </a:ext>
                </a:extLst>
              </a:tr>
              <a:tr h="9817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Nature mutation (nature_mutation) 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Type de mutation (vente, etc.)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Varchar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5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Elémentaire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non nul et = à "Ventes"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extLst>
                  <a:ext uri="{0D108BD9-81ED-4DB2-BD59-A6C34878D82A}">
                    <a16:rowId xmlns:a16="http://schemas.microsoft.com/office/drawing/2014/main" val="2447178782"/>
                  </a:ext>
                </a:extLst>
              </a:tr>
              <a:tr h="9817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Valeur fonciere (valeur_fonciere)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Prix de transaction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Decimal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Elémentaire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nullable  =&gt;0 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extLst>
                  <a:ext uri="{0D108BD9-81ED-4DB2-BD59-A6C34878D82A}">
                    <a16:rowId xmlns:a16="http://schemas.microsoft.com/office/drawing/2014/main" val="3929483159"/>
                  </a:ext>
                </a:extLst>
              </a:tr>
              <a:tr h="9817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Code type local (code_type_local)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Code du type de bien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Integer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Elémentaire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Non nul 1=Maison, 2=Appartement chiffre oblgrt 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extLst>
                  <a:ext uri="{0D108BD9-81ED-4DB2-BD59-A6C34878D82A}">
                    <a16:rowId xmlns:a16="http://schemas.microsoft.com/office/drawing/2014/main" val="2146631005"/>
                  </a:ext>
                </a:extLst>
              </a:tr>
              <a:tr h="9817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type local (type_local)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type de local du  bien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Varchar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11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Elémentaire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"Maison" ou "Appartement"  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extLst>
                  <a:ext uri="{0D108BD9-81ED-4DB2-BD59-A6C34878D82A}">
                    <a16:rowId xmlns:a16="http://schemas.microsoft.com/office/drawing/2014/main" val="2854724145"/>
                  </a:ext>
                </a:extLst>
              </a:tr>
              <a:tr h="9817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Surface reelle bati  (surface_reelle_bati)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Surface bâtie (m²)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Integer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Elémentaire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Non nul &gt; 0 chiffre obligatoirement 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extLst>
                  <a:ext uri="{0D108BD9-81ED-4DB2-BD59-A6C34878D82A}">
                    <a16:rowId xmlns:a16="http://schemas.microsoft.com/office/drawing/2014/main" val="2805496609"/>
                  </a:ext>
                </a:extLst>
              </a:tr>
              <a:tr h="9817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Nombre </a:t>
                      </a:r>
                      <a:r>
                        <a:rPr lang="fr-FR" sz="700" u="none" strike="noStrike" dirty="0" err="1">
                          <a:effectLst/>
                        </a:rPr>
                        <a:t>pieces</a:t>
                      </a:r>
                      <a:r>
                        <a:rPr lang="fr-FR" sz="700" u="none" strike="noStrike" dirty="0">
                          <a:effectLst/>
                        </a:rPr>
                        <a:t> principales (nb_pieces_principales)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Nb de pièces principales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Integer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Elémentaire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Non nul &gt; 0 chiffre obligatoirement 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extLst>
                  <a:ext uri="{0D108BD9-81ED-4DB2-BD59-A6C34878D82A}">
                    <a16:rowId xmlns:a16="http://schemas.microsoft.com/office/drawing/2014/main" val="639147159"/>
                  </a:ext>
                </a:extLst>
              </a:tr>
              <a:tr h="9817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Nombre de lots (nb_lots)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Nb de lots vendus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Integer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Elémentaire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Non nul &gt;= 0 chiffre obligatoirement 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extLst>
                  <a:ext uri="{0D108BD9-81ED-4DB2-BD59-A6C34878D82A}">
                    <a16:rowId xmlns:a16="http://schemas.microsoft.com/office/drawing/2014/main" val="2650767311"/>
                  </a:ext>
                </a:extLst>
              </a:tr>
              <a:tr h="9817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Surface Carrez du 1er lot (surface_carrez_lot1)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Surface Carrez lot 1 (m²)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Decimal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Elémentaire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Non nul &gt;= 0 chiffre obligatoirement 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extLst>
                  <a:ext uri="{0D108BD9-81ED-4DB2-BD59-A6C34878D82A}">
                    <a16:rowId xmlns:a16="http://schemas.microsoft.com/office/drawing/2014/main" val="1926119836"/>
                  </a:ext>
                </a:extLst>
              </a:tr>
              <a:tr h="9817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Surface terrain (</a:t>
                      </a:r>
                      <a:r>
                        <a:rPr lang="fr-FR" sz="700" u="none" strike="noStrike" dirty="0" err="1">
                          <a:effectLst/>
                        </a:rPr>
                        <a:t>surface_terrain</a:t>
                      </a:r>
                      <a:r>
                        <a:rPr lang="fr-FR" sz="700" u="none" strike="noStrike" dirty="0">
                          <a:effectLst/>
                        </a:rPr>
                        <a:t>) 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Surface du terrain (m²)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Integer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Elémentaire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nul possible, (ex appartement =nul ou maison sans terrain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NC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09" marR="4909" marT="4909" marB="0" anchor="b"/>
                </a:tc>
                <a:extLst>
                  <a:ext uri="{0D108BD9-81ED-4DB2-BD59-A6C34878D82A}">
                    <a16:rowId xmlns:a16="http://schemas.microsoft.com/office/drawing/2014/main" val="1617825419"/>
                  </a:ext>
                </a:extLst>
              </a:tr>
            </a:tbl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0B36C0F6-C05B-3D3C-A7CD-5A4146FE2C51}"/>
              </a:ext>
            </a:extLst>
          </p:cNvPr>
          <p:cNvSpPr txBox="1"/>
          <p:nvPr/>
        </p:nvSpPr>
        <p:spPr>
          <a:xfrm>
            <a:off x="473527" y="364322"/>
            <a:ext cx="21765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Extrait dictionnaire table ‘vente’</a:t>
            </a: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5B287EB5-EA97-F5AA-3BA5-7907DB61AF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819512"/>
              </p:ext>
            </p:extLst>
          </p:nvPr>
        </p:nvGraphicFramePr>
        <p:xfrm>
          <a:off x="473526" y="2423288"/>
          <a:ext cx="6783179" cy="9841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4532">
                  <a:extLst>
                    <a:ext uri="{9D8B030D-6E8A-4147-A177-3AD203B41FA5}">
                      <a16:colId xmlns:a16="http://schemas.microsoft.com/office/drawing/2014/main" val="422313547"/>
                    </a:ext>
                  </a:extLst>
                </a:gridCol>
                <a:gridCol w="1945570">
                  <a:extLst>
                    <a:ext uri="{9D8B030D-6E8A-4147-A177-3AD203B41FA5}">
                      <a16:colId xmlns:a16="http://schemas.microsoft.com/office/drawing/2014/main" val="139573203"/>
                    </a:ext>
                  </a:extLst>
                </a:gridCol>
                <a:gridCol w="508891">
                  <a:extLst>
                    <a:ext uri="{9D8B030D-6E8A-4147-A177-3AD203B41FA5}">
                      <a16:colId xmlns:a16="http://schemas.microsoft.com/office/drawing/2014/main" val="3077773333"/>
                    </a:ext>
                  </a:extLst>
                </a:gridCol>
                <a:gridCol w="540632">
                  <a:extLst>
                    <a:ext uri="{9D8B030D-6E8A-4147-A177-3AD203B41FA5}">
                      <a16:colId xmlns:a16="http://schemas.microsoft.com/office/drawing/2014/main" val="1436834534"/>
                    </a:ext>
                  </a:extLst>
                </a:gridCol>
                <a:gridCol w="507295">
                  <a:extLst>
                    <a:ext uri="{9D8B030D-6E8A-4147-A177-3AD203B41FA5}">
                      <a16:colId xmlns:a16="http://schemas.microsoft.com/office/drawing/2014/main" val="3522232988"/>
                    </a:ext>
                  </a:extLst>
                </a:gridCol>
                <a:gridCol w="1235957">
                  <a:extLst>
                    <a:ext uri="{9D8B030D-6E8A-4147-A177-3AD203B41FA5}">
                      <a16:colId xmlns:a16="http://schemas.microsoft.com/office/drawing/2014/main" val="806482253"/>
                    </a:ext>
                  </a:extLst>
                </a:gridCol>
                <a:gridCol w="780302">
                  <a:extLst>
                    <a:ext uri="{9D8B030D-6E8A-4147-A177-3AD203B41FA5}">
                      <a16:colId xmlns:a16="http://schemas.microsoft.com/office/drawing/2014/main" val="440408286"/>
                    </a:ext>
                  </a:extLst>
                </a:gridCol>
              </a:tblGrid>
              <a:tr h="16262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CODE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SIGNIFICATION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>
                          <a:effectLst/>
                        </a:rPr>
                        <a:t>TYPE</a:t>
                      </a:r>
                      <a:endParaRPr lang="fr-FR" sz="7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>
                          <a:effectLst/>
                        </a:rPr>
                        <a:t>LONGUEUR</a:t>
                      </a:r>
                      <a:endParaRPr lang="fr-FR" sz="7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>
                          <a:effectLst/>
                        </a:rPr>
                        <a:t>NATURE</a:t>
                      </a:r>
                      <a:endParaRPr lang="fr-FR" sz="7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REGLE DE GESTION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REGLE DE CALCUL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5372888"/>
                  </a:ext>
                </a:extLst>
              </a:tr>
              <a:tr h="1626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id_codedep_codecommune 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concaténation entre CODDEP et  CODCOM 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Varchar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NC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Elémentaire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CODDEP + CODCOM non nul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b"/>
                </a:tc>
                <a:extLst>
                  <a:ext uri="{0D108BD9-81ED-4DB2-BD59-A6C34878D82A}">
                    <a16:rowId xmlns:a16="http://schemas.microsoft.com/office/drawing/2014/main" val="1148229310"/>
                  </a:ext>
                </a:extLst>
              </a:tr>
              <a:tr h="1626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CODDEP  (</a:t>
                      </a:r>
                      <a:r>
                        <a:rPr lang="fr-FR" sz="700" u="none" strike="noStrike" dirty="0" err="1">
                          <a:effectLst/>
                        </a:rPr>
                        <a:t>code_departement</a:t>
                      </a:r>
                      <a:r>
                        <a:rPr lang="fr-FR" sz="700" u="none" strike="noStrike" dirty="0">
                          <a:effectLst/>
                        </a:rPr>
                        <a:t>)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Code INSEE du département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VARCHAR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3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Élémentaire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Non nul. 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b"/>
                </a:tc>
                <a:extLst>
                  <a:ext uri="{0D108BD9-81ED-4DB2-BD59-A6C34878D82A}">
                    <a16:rowId xmlns:a16="http://schemas.microsoft.com/office/drawing/2014/main" val="461875890"/>
                  </a:ext>
                </a:extLst>
              </a:tr>
              <a:tr h="1626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CODCOM (</a:t>
                      </a:r>
                      <a:r>
                        <a:rPr lang="fr-FR" sz="700" u="none" strike="noStrike" dirty="0" err="1">
                          <a:effectLst/>
                        </a:rPr>
                        <a:t>code_commune</a:t>
                      </a:r>
                      <a:r>
                        <a:rPr lang="fr-FR" sz="700" u="none" strike="noStrike" dirty="0">
                          <a:effectLst/>
                        </a:rPr>
                        <a:t>)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Code commune dans le département (3 chiffres)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VARCHAR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3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Élémentaire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Non nul 3 caractères max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b"/>
                </a:tc>
                <a:extLst>
                  <a:ext uri="{0D108BD9-81ED-4DB2-BD59-A6C34878D82A}">
                    <a16:rowId xmlns:a16="http://schemas.microsoft.com/office/drawing/2014/main" val="3426736809"/>
                  </a:ext>
                </a:extLst>
              </a:tr>
              <a:tr h="1626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COM (nom_commune)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Nom de la commune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VARCHAR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100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Élémentaire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Non nul.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b"/>
                </a:tc>
                <a:extLst>
                  <a:ext uri="{0D108BD9-81ED-4DB2-BD59-A6C34878D82A}">
                    <a16:rowId xmlns:a16="http://schemas.microsoft.com/office/drawing/2014/main" val="1478928260"/>
                  </a:ext>
                </a:extLst>
              </a:tr>
              <a:tr h="89137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PTOT (population_totale)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Population totale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INT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Élémentaire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Non nul.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NC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791" marR="6791" marT="6791" marB="0" anchor="b"/>
                </a:tc>
                <a:extLst>
                  <a:ext uri="{0D108BD9-81ED-4DB2-BD59-A6C34878D82A}">
                    <a16:rowId xmlns:a16="http://schemas.microsoft.com/office/drawing/2014/main" val="607468601"/>
                  </a:ext>
                </a:extLst>
              </a:tr>
            </a:tbl>
          </a:graphicData>
        </a:graphic>
      </p:graphicFrame>
      <p:sp>
        <p:nvSpPr>
          <p:cNvPr id="7" name="ZoneTexte 6">
            <a:extLst>
              <a:ext uri="{FF2B5EF4-FFF2-40B4-BE49-F238E27FC236}">
                <a16:creationId xmlns:a16="http://schemas.microsoft.com/office/drawing/2014/main" id="{11AC9867-BDE8-B421-60D8-BB772262AD89}"/>
              </a:ext>
            </a:extLst>
          </p:cNvPr>
          <p:cNvSpPr txBox="1"/>
          <p:nvPr/>
        </p:nvSpPr>
        <p:spPr>
          <a:xfrm>
            <a:off x="389008" y="2186454"/>
            <a:ext cx="24938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Extrait dictionnaire table ‘commune’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57D0E0E7-9237-3FEF-F6ED-94B10FB2BD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99236"/>
              </p:ext>
            </p:extLst>
          </p:nvPr>
        </p:nvGraphicFramePr>
        <p:xfrm>
          <a:off x="473526" y="3607290"/>
          <a:ext cx="5795531" cy="63389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39338">
                  <a:extLst>
                    <a:ext uri="{9D8B030D-6E8A-4147-A177-3AD203B41FA5}">
                      <a16:colId xmlns:a16="http://schemas.microsoft.com/office/drawing/2014/main" val="1689553687"/>
                    </a:ext>
                  </a:extLst>
                </a:gridCol>
                <a:gridCol w="1185363">
                  <a:extLst>
                    <a:ext uri="{9D8B030D-6E8A-4147-A177-3AD203B41FA5}">
                      <a16:colId xmlns:a16="http://schemas.microsoft.com/office/drawing/2014/main" val="1090879948"/>
                    </a:ext>
                  </a:extLst>
                </a:gridCol>
                <a:gridCol w="516445">
                  <a:extLst>
                    <a:ext uri="{9D8B030D-6E8A-4147-A177-3AD203B41FA5}">
                      <a16:colId xmlns:a16="http://schemas.microsoft.com/office/drawing/2014/main" val="1880164706"/>
                    </a:ext>
                  </a:extLst>
                </a:gridCol>
                <a:gridCol w="642688">
                  <a:extLst>
                    <a:ext uri="{9D8B030D-6E8A-4147-A177-3AD203B41FA5}">
                      <a16:colId xmlns:a16="http://schemas.microsoft.com/office/drawing/2014/main" val="1408782247"/>
                    </a:ext>
                  </a:extLst>
                </a:gridCol>
                <a:gridCol w="507501">
                  <a:extLst>
                    <a:ext uri="{9D8B030D-6E8A-4147-A177-3AD203B41FA5}">
                      <a16:colId xmlns:a16="http://schemas.microsoft.com/office/drawing/2014/main" val="300210935"/>
                    </a:ext>
                  </a:extLst>
                </a:gridCol>
                <a:gridCol w="912313">
                  <a:extLst>
                    <a:ext uri="{9D8B030D-6E8A-4147-A177-3AD203B41FA5}">
                      <a16:colId xmlns:a16="http://schemas.microsoft.com/office/drawing/2014/main" val="1201640649"/>
                    </a:ext>
                  </a:extLst>
                </a:gridCol>
                <a:gridCol w="791883">
                  <a:extLst>
                    <a:ext uri="{9D8B030D-6E8A-4147-A177-3AD203B41FA5}">
                      <a16:colId xmlns:a16="http://schemas.microsoft.com/office/drawing/2014/main" val="1291995125"/>
                    </a:ext>
                  </a:extLst>
                </a:gridCol>
              </a:tblGrid>
              <a:tr h="1378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CODE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SIGNIFICATION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TYPE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LONGUEUR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NATURE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REGLE DE GESTION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REGLE DE CALCUL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0359949"/>
                  </a:ext>
                </a:extLst>
              </a:tr>
              <a:tr h="13787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code_departement (CODDEP)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Code INSEE du département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VARCHAR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3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Élémentaire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Non nul. 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b"/>
                </a:tc>
                <a:extLst>
                  <a:ext uri="{0D108BD9-81ED-4DB2-BD59-A6C34878D82A}">
                    <a16:rowId xmlns:a16="http://schemas.microsoft.com/office/drawing/2014/main" val="2328351033"/>
                  </a:ext>
                </a:extLst>
              </a:tr>
              <a:tr h="13787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code_region (CODREG)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Code INSEE de la région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VARCHAR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2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Élémentaire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Non nul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NC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b"/>
                </a:tc>
                <a:extLst>
                  <a:ext uri="{0D108BD9-81ED-4DB2-BD59-A6C34878D82A}">
                    <a16:rowId xmlns:a16="http://schemas.microsoft.com/office/drawing/2014/main" val="1455937055"/>
                  </a:ext>
                </a:extLst>
              </a:tr>
              <a:tr h="13787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 dirty="0" err="1">
                          <a:effectLst/>
                        </a:rPr>
                        <a:t>nom_departement</a:t>
                      </a:r>
                      <a:r>
                        <a:rPr lang="fr-FR" sz="700" u="none" strike="noStrike" dirty="0">
                          <a:effectLst/>
                        </a:rPr>
                        <a:t> (</a:t>
                      </a:r>
                      <a:r>
                        <a:rPr lang="fr-FR" sz="700" u="none" strike="noStrike" dirty="0" err="1">
                          <a:effectLst/>
                        </a:rPr>
                        <a:t>dep_nom</a:t>
                      </a:r>
                      <a:r>
                        <a:rPr lang="fr-FR" sz="700" u="none" strike="noStrike" dirty="0">
                          <a:effectLst/>
                        </a:rPr>
                        <a:t>) 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Nom du département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VARCHAR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50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Élémentaire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Non nul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 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94" marR="6894" marT="6894" marB="0" anchor="b"/>
                </a:tc>
                <a:extLst>
                  <a:ext uri="{0D108BD9-81ED-4DB2-BD59-A6C34878D82A}">
                    <a16:rowId xmlns:a16="http://schemas.microsoft.com/office/drawing/2014/main" val="2978208085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95BB49FC-11A2-AFB0-3C24-C021DE0CA838}"/>
              </a:ext>
            </a:extLst>
          </p:cNvPr>
          <p:cNvSpPr txBox="1"/>
          <p:nvPr/>
        </p:nvSpPr>
        <p:spPr>
          <a:xfrm>
            <a:off x="389008" y="3373440"/>
            <a:ext cx="30209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Extrait dictionnaire table ‘departement’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FF6D3109-85AD-92D2-AE44-B3981591DBB5}"/>
              </a:ext>
            </a:extLst>
          </p:cNvPr>
          <p:cNvSpPr txBox="1"/>
          <p:nvPr/>
        </p:nvSpPr>
        <p:spPr>
          <a:xfrm>
            <a:off x="389008" y="4201942"/>
            <a:ext cx="24938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Extrait dictionnaire table ‘</a:t>
            </a:r>
            <a:r>
              <a:rPr lang="fr-FR" sz="1100" i="1" dirty="0" err="1"/>
              <a:t>region</a:t>
            </a:r>
            <a:r>
              <a:rPr lang="fr-FR" sz="1100" i="1" dirty="0"/>
              <a:t>’</a:t>
            </a:r>
          </a:p>
        </p:txBody>
      </p:sp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3BD87C76-48D5-E45F-6B57-8667AE1B8B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495790"/>
              </p:ext>
            </p:extLst>
          </p:nvPr>
        </p:nvGraphicFramePr>
        <p:xfrm>
          <a:off x="473526" y="4406225"/>
          <a:ext cx="5012874" cy="46006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56267">
                  <a:extLst>
                    <a:ext uri="{9D8B030D-6E8A-4147-A177-3AD203B41FA5}">
                      <a16:colId xmlns:a16="http://schemas.microsoft.com/office/drawing/2014/main" val="3407942019"/>
                    </a:ext>
                  </a:extLst>
                </a:gridCol>
                <a:gridCol w="805784">
                  <a:extLst>
                    <a:ext uri="{9D8B030D-6E8A-4147-A177-3AD203B41FA5}">
                      <a16:colId xmlns:a16="http://schemas.microsoft.com/office/drawing/2014/main" val="2630184613"/>
                    </a:ext>
                  </a:extLst>
                </a:gridCol>
                <a:gridCol w="462884">
                  <a:extLst>
                    <a:ext uri="{9D8B030D-6E8A-4147-A177-3AD203B41FA5}">
                      <a16:colId xmlns:a16="http://schemas.microsoft.com/office/drawing/2014/main" val="486269378"/>
                    </a:ext>
                  </a:extLst>
                </a:gridCol>
                <a:gridCol w="539084">
                  <a:extLst>
                    <a:ext uri="{9D8B030D-6E8A-4147-A177-3AD203B41FA5}">
                      <a16:colId xmlns:a16="http://schemas.microsoft.com/office/drawing/2014/main" val="3002321360"/>
                    </a:ext>
                  </a:extLst>
                </a:gridCol>
                <a:gridCol w="545293">
                  <a:extLst>
                    <a:ext uri="{9D8B030D-6E8A-4147-A177-3AD203B41FA5}">
                      <a16:colId xmlns:a16="http://schemas.microsoft.com/office/drawing/2014/main" val="3694889826"/>
                    </a:ext>
                  </a:extLst>
                </a:gridCol>
                <a:gridCol w="910559">
                  <a:extLst>
                    <a:ext uri="{9D8B030D-6E8A-4147-A177-3AD203B41FA5}">
                      <a16:colId xmlns:a16="http://schemas.microsoft.com/office/drawing/2014/main" val="1150364078"/>
                    </a:ext>
                  </a:extLst>
                </a:gridCol>
                <a:gridCol w="793003">
                  <a:extLst>
                    <a:ext uri="{9D8B030D-6E8A-4147-A177-3AD203B41FA5}">
                      <a16:colId xmlns:a16="http://schemas.microsoft.com/office/drawing/2014/main" val="2094215240"/>
                    </a:ext>
                  </a:extLst>
                </a:gridCol>
              </a:tblGrid>
              <a:tr h="12034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CODE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017" marR="6017" marT="6017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SIGNIFICATION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017" marR="6017" marT="6017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>
                          <a:effectLst/>
                        </a:rPr>
                        <a:t>TYPE</a:t>
                      </a:r>
                      <a:endParaRPr lang="fr-FR" sz="7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017" marR="6017" marT="6017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LONGUEUR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017" marR="6017" marT="6017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NATURE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017" marR="6017" marT="6017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REGLE DE GESTION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017" marR="6017" marT="6017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b="1" u="none" strike="noStrike" dirty="0">
                          <a:effectLst/>
                        </a:rPr>
                        <a:t>REGLE DE CALCUL</a:t>
                      </a:r>
                      <a:endParaRPr lang="fr-FR" sz="7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017" marR="6017" marT="6017" marB="0" anchor="ctr">
                    <a:solidFill>
                      <a:schemeClr val="accent1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196775"/>
                  </a:ext>
                </a:extLst>
              </a:tr>
              <a:tr h="12034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 dirty="0" err="1">
                          <a:effectLst/>
                        </a:rPr>
                        <a:t>reg_code</a:t>
                      </a:r>
                      <a:r>
                        <a:rPr lang="fr-FR" sz="700" u="none" strike="noStrike" dirty="0">
                          <a:effectLst/>
                        </a:rPr>
                        <a:t> (</a:t>
                      </a:r>
                      <a:r>
                        <a:rPr lang="fr-FR" sz="700" u="none" strike="noStrike" dirty="0" err="1">
                          <a:effectLst/>
                        </a:rPr>
                        <a:t>code_region</a:t>
                      </a:r>
                      <a:r>
                        <a:rPr lang="fr-FR" sz="700" u="none" strike="noStrike" dirty="0">
                          <a:effectLst/>
                        </a:rPr>
                        <a:t>) 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017" marR="6017" marT="601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Code région INSEE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017" marR="6017" marT="6017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VARCHAR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017" marR="6017" marT="601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2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017" marR="6017" marT="601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Élémentaire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017" marR="6017" marT="6017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Non nul.  2 chiffres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017" marR="6017" marT="6017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 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017" marR="6017" marT="6017" marB="0" anchor="b"/>
                </a:tc>
                <a:extLst>
                  <a:ext uri="{0D108BD9-81ED-4DB2-BD59-A6C34878D82A}">
                    <a16:rowId xmlns:a16="http://schemas.microsoft.com/office/drawing/2014/main" val="477069985"/>
                  </a:ext>
                </a:extLst>
              </a:tr>
              <a:tr h="120346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reg_nom  (nom_region)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017" marR="6017" marT="6017" marB="0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Nom de la région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017" marR="6017" marT="6017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VARCHAR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017" marR="6017" marT="601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50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017" marR="6017" marT="601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Élémentaire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017" marR="6017" marT="6017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>
                          <a:effectLst/>
                        </a:rPr>
                        <a:t>Non nul</a:t>
                      </a:r>
                      <a:endParaRPr lang="fr-FR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017" marR="6017" marT="601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700" u="none" strike="noStrike" dirty="0">
                          <a:effectLst/>
                        </a:rPr>
                        <a:t> </a:t>
                      </a:r>
                      <a:endParaRPr lang="fr-FR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017" marR="6017" marT="6017" marB="0" anchor="b"/>
                </a:tc>
                <a:extLst>
                  <a:ext uri="{0D108BD9-81ED-4DB2-BD59-A6C34878D82A}">
                    <a16:rowId xmlns:a16="http://schemas.microsoft.com/office/drawing/2014/main" val="18558816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8"/>
          <p:cNvSpPr txBox="1">
            <a:spLocks noGrp="1"/>
          </p:cNvSpPr>
          <p:nvPr>
            <p:ph type="title"/>
          </p:nvPr>
        </p:nvSpPr>
        <p:spPr>
          <a:xfrm>
            <a:off x="253897" y="132281"/>
            <a:ext cx="5615552" cy="4629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Calibri"/>
              <a:buNone/>
            </a:pPr>
            <a:r>
              <a:rPr lang="fr" b="0" dirty="0"/>
              <a:t>Le schéma relationnel normalisé</a:t>
            </a:r>
            <a:endParaRPr b="0" dirty="0"/>
          </a:p>
        </p:txBody>
      </p:sp>
      <p:sp>
        <p:nvSpPr>
          <p:cNvPr id="306" name="Google Shape;306;p38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00" b="0" i="0" u="none" strike="noStrike" cap="none">
                <a:solidFill>
                  <a:srgbClr val="9E9E9E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900" b="0" i="0" u="none" strike="noStrike" cap="none" dirty="0">
              <a:solidFill>
                <a:srgbClr val="9E9E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8F97DAB8-41D1-6104-8804-5EA3BD06ED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453" y="595198"/>
            <a:ext cx="7790775" cy="45146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39"/>
          <p:cNvSpPr txBox="1">
            <a:spLocks noGrp="1"/>
          </p:cNvSpPr>
          <p:nvPr>
            <p:ph type="title"/>
          </p:nvPr>
        </p:nvSpPr>
        <p:spPr>
          <a:xfrm>
            <a:off x="2137288" y="271071"/>
            <a:ext cx="6328532" cy="620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Calibri"/>
              <a:buNone/>
            </a:pPr>
            <a:r>
              <a:rPr lang="fr" b="0" dirty="0"/>
              <a:t>La base de données avec les tables créées et les données chargées</a:t>
            </a:r>
            <a:endParaRPr b="0" dirty="0"/>
          </a:p>
        </p:txBody>
      </p:sp>
      <p:sp>
        <p:nvSpPr>
          <p:cNvPr id="315" name="Google Shape;315;p39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00" b="0" i="0" u="none" strike="noStrike" cap="none">
                <a:solidFill>
                  <a:srgbClr val="9E9E9E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900" b="0" i="0" u="none" strike="noStrike" cap="none">
              <a:solidFill>
                <a:srgbClr val="9E9E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 2" descr="Une image contenant texte, nombre, ligne, capture d’écran">
            <a:extLst>
              <a:ext uri="{FF2B5EF4-FFF2-40B4-BE49-F238E27FC236}">
                <a16:creationId xmlns:a16="http://schemas.microsoft.com/office/drawing/2014/main" id="{68CB3DA2-1DDB-765D-4843-D0BDC8331B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880"/>
          <a:stretch>
            <a:fillRect/>
          </a:stretch>
        </p:blipFill>
        <p:spPr>
          <a:xfrm>
            <a:off x="228602" y="114538"/>
            <a:ext cx="1805697" cy="4789647"/>
          </a:xfrm>
          <a:prstGeom prst="rect">
            <a:avLst/>
          </a:prstGeom>
        </p:spPr>
      </p:pic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6790AECF-6163-C76E-C0C8-33F7278E76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3717891"/>
              </p:ext>
            </p:extLst>
          </p:nvPr>
        </p:nvGraphicFramePr>
        <p:xfrm>
          <a:off x="2503170" y="1278731"/>
          <a:ext cx="2476500" cy="1106805"/>
        </p:xfrm>
        <a:graphic>
          <a:graphicData uri="http://schemas.openxmlformats.org/drawingml/2006/table">
            <a:tbl>
              <a:tblPr/>
              <a:tblGrid>
                <a:gridCol w="1295400">
                  <a:extLst>
                    <a:ext uri="{9D8B030D-6E8A-4147-A177-3AD203B41FA5}">
                      <a16:colId xmlns:a16="http://schemas.microsoft.com/office/drawing/2014/main" val="3468828983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4177597493"/>
                    </a:ext>
                  </a:extLst>
                </a:gridCol>
              </a:tblGrid>
              <a:tr h="1905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Nombre de ligne par table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fr-F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SQL hors en-tête CSV  :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4329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 commune  :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34 991 lignes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701422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 departement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109 lignes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2564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 region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 lignes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117723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-vente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34 169 lignes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1446474"/>
                  </a:ext>
                </a:extLst>
              </a:tr>
            </a:tbl>
          </a:graphicData>
        </a:graphic>
      </p:graphicFrame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352FF20E-7FAA-7FD8-CB24-14A9C13C69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7343266"/>
              </p:ext>
            </p:extLst>
          </p:nvPr>
        </p:nvGraphicFramePr>
        <p:xfrm>
          <a:off x="5248214" y="1278731"/>
          <a:ext cx="2476500" cy="1106805"/>
        </p:xfrm>
        <a:graphic>
          <a:graphicData uri="http://schemas.openxmlformats.org/drawingml/2006/table">
            <a:tbl>
              <a:tblPr/>
              <a:tblGrid>
                <a:gridCol w="1295400">
                  <a:extLst>
                    <a:ext uri="{9D8B030D-6E8A-4147-A177-3AD203B41FA5}">
                      <a16:colId xmlns:a16="http://schemas.microsoft.com/office/drawing/2014/main" val="3468828983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4177597493"/>
                    </a:ext>
                  </a:extLst>
                </a:gridCol>
              </a:tblGrid>
              <a:tr h="190500">
                <a:tc grid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Nombre de ligne par table fichier 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fr-F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CSV brut :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4329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 commune  :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34 992 lignes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701422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 departement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110 lignes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2564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 region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 lignes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117723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-vente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34 170 lignes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144647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40"/>
          <p:cNvSpPr txBox="1">
            <a:spLocks noGrp="1"/>
          </p:cNvSpPr>
          <p:nvPr>
            <p:ph type="title"/>
          </p:nvPr>
        </p:nvSpPr>
        <p:spPr>
          <a:xfrm>
            <a:off x="390523" y="179631"/>
            <a:ext cx="4693532" cy="993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lang="fr" sz="2400" b="0" dirty="0"/>
              <a:t>Les requêtes ou screenshot qui permettent de démontrer le bon chargement des données</a:t>
            </a:r>
            <a:endParaRPr sz="2400" b="0" dirty="0"/>
          </a:p>
        </p:txBody>
      </p:sp>
      <p:sp>
        <p:nvSpPr>
          <p:cNvPr id="322" name="Google Shape;322;p40"/>
          <p:cNvSpPr txBox="1">
            <a:spLocks noGrp="1"/>
          </p:cNvSpPr>
          <p:nvPr>
            <p:ph type="body" idx="2"/>
          </p:nvPr>
        </p:nvSpPr>
        <p:spPr>
          <a:xfrm>
            <a:off x="390523" y="1552755"/>
            <a:ext cx="4623437" cy="11752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>
              <a:spcBef>
                <a:spcPts val="0"/>
              </a:spcBef>
              <a:buNone/>
            </a:pPr>
            <a:r>
              <a:rPr lang="en-US" sz="1400" dirty="0"/>
              <a:t>SELECT</a:t>
            </a:r>
          </a:p>
          <a:p>
            <a:pPr marL="0" lvl="0" indent="0">
              <a:spcBef>
                <a:spcPts val="0"/>
              </a:spcBef>
              <a:buNone/>
            </a:pPr>
            <a:r>
              <a:rPr lang="en-US" sz="1400" dirty="0"/>
              <a:t> (SELECT COUNT(*) FROM region) nb_regions,</a:t>
            </a:r>
          </a:p>
          <a:p>
            <a:pPr marL="0" lvl="0" indent="0">
              <a:spcBef>
                <a:spcPts val="0"/>
              </a:spcBef>
              <a:buNone/>
            </a:pPr>
            <a:r>
              <a:rPr lang="en-US" sz="1400" dirty="0"/>
              <a:t> (SELECT COUNT(*) FROM departement) nb_departements,</a:t>
            </a:r>
          </a:p>
          <a:p>
            <a:pPr marL="0" lvl="0" indent="0">
              <a:spcBef>
                <a:spcPts val="0"/>
              </a:spcBef>
              <a:buNone/>
            </a:pPr>
            <a:r>
              <a:rPr lang="en-US" sz="1400" dirty="0"/>
              <a:t> (SELECT COUNT(*) FROM commune) nb_communes,</a:t>
            </a:r>
          </a:p>
          <a:p>
            <a:pPr marL="0" lvl="0" indent="0">
              <a:spcBef>
                <a:spcPts val="0"/>
              </a:spcBef>
              <a:buNone/>
            </a:pPr>
            <a:r>
              <a:rPr lang="en-US" sz="1400" dirty="0"/>
              <a:t> (SELECT COUNT(*) FROM vente) nb_ventes;</a:t>
            </a:r>
          </a:p>
        </p:txBody>
      </p:sp>
      <p:sp>
        <p:nvSpPr>
          <p:cNvPr id="324" name="Google Shape;324;p40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00" b="0" i="0" u="none" strike="noStrike" cap="none">
                <a:solidFill>
                  <a:srgbClr val="9E9E9E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900" b="0" i="0" u="none" strike="noStrike" cap="none">
              <a:solidFill>
                <a:srgbClr val="9E9E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602F114D-035C-A10E-91F8-8B388FE94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437" y="2699533"/>
            <a:ext cx="3439005" cy="4572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0" name="Google Shape;330;p41" title="Image de bâtiment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0784" r="20784"/>
          <a:stretch/>
        </p:blipFill>
        <p:spPr>
          <a:xfrm>
            <a:off x="1262549" y="645708"/>
            <a:ext cx="3321392" cy="3852817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41" descr="Hexagone de couleur foncée unie au milieu d’accentuation d’image"/>
          <p:cNvSpPr/>
          <p:nvPr/>
        </p:nvSpPr>
        <p:spPr>
          <a:xfrm rot="-5400000">
            <a:off x="2009777" y="1791686"/>
            <a:ext cx="1809749" cy="1560129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41"/>
          <p:cNvSpPr txBox="1">
            <a:spLocks noGrp="1"/>
          </p:cNvSpPr>
          <p:nvPr>
            <p:ph type="title"/>
          </p:nvPr>
        </p:nvSpPr>
        <p:spPr>
          <a:xfrm>
            <a:off x="4712882" y="1490565"/>
            <a:ext cx="3683725" cy="1342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libri"/>
              <a:buNone/>
            </a:pPr>
            <a:r>
              <a:rPr lang="fr" b="0" dirty="0">
                <a:latin typeface="Calibri"/>
                <a:ea typeface="Calibri"/>
                <a:cs typeface="Calibri"/>
                <a:sym typeface="Calibri"/>
              </a:rPr>
              <a:t>Requêtes SQL et résultats</a:t>
            </a:r>
            <a:endParaRPr dirty="0"/>
          </a:p>
        </p:txBody>
      </p:sp>
      <p:sp>
        <p:nvSpPr>
          <p:cNvPr id="333" name="Google Shape;333;p41" descr="Hexagone de couleur foncée unie au milieu d’accentuation d’image"/>
          <p:cNvSpPr/>
          <p:nvPr/>
        </p:nvSpPr>
        <p:spPr>
          <a:xfrm rot="-5400000">
            <a:off x="2009777" y="1791686"/>
            <a:ext cx="1809749" cy="1560129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5" name="Google Shape;335;p41" descr="https://lh5.googleusercontent.com/TcdnvzxQ7ulQo8GiFwfIKujloK6EfAJv7ikP-EvnfdTVQnROS3WXw6XSx9Cpd73e_l7GCUAnbxroB-qlzG2fvYdCyl-Y5QZ95MpiD-GfDN-4taJyHRqsr3vOZzc3ONTBu52b0HIdUOMeHvdHiA_5tD0"/>
          <p:cNvPicPr preferRelativeResize="0"/>
          <p:nvPr/>
        </p:nvPicPr>
        <p:blipFill rotWithShape="1">
          <a:blip r:embed="rId4">
            <a:alphaModFix/>
          </a:blip>
          <a:srcRect l="11387" t="12667" r="63940" b="13973"/>
          <a:stretch/>
        </p:blipFill>
        <p:spPr>
          <a:xfrm>
            <a:off x="1979722" y="1607746"/>
            <a:ext cx="1801842" cy="177986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D3277FD-02A5-E016-5F0C-B6ABD4AC2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98737" y="2846512"/>
            <a:ext cx="3528860" cy="682935"/>
          </a:xfrm>
        </p:spPr>
        <p:txBody>
          <a:bodyPr/>
          <a:lstStyle/>
          <a:p>
            <a:r>
              <a:rPr lang="fr-FR" dirty="0"/>
              <a:t>Une </a:t>
            </a:r>
            <a:r>
              <a:rPr lang="fr" dirty="0"/>
              <a:t>requête par slide</a:t>
            </a:r>
            <a:endParaRPr lang="fr-FR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2"/>
          <p:cNvSpPr txBox="1">
            <a:spLocks noGrp="1"/>
          </p:cNvSpPr>
          <p:nvPr>
            <p:ph type="title"/>
          </p:nvPr>
        </p:nvSpPr>
        <p:spPr>
          <a:xfrm>
            <a:off x="389008" y="156771"/>
            <a:ext cx="7404174" cy="8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</a:pPr>
            <a:r>
              <a:rPr lang="fr-FR" b="0" dirty="0"/>
              <a:t>Requête 1</a:t>
            </a:r>
            <a:endParaRPr dirty="0"/>
          </a:p>
        </p:txBody>
      </p:sp>
      <p:sp>
        <p:nvSpPr>
          <p:cNvPr id="343" name="Google Shape;343;p42"/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11</a:t>
            </a:fld>
            <a:endParaRPr/>
          </a:p>
        </p:txBody>
      </p:sp>
      <p:sp>
        <p:nvSpPr>
          <p:cNvPr id="344" name="Google Shape;344;p42"/>
          <p:cNvSpPr txBox="1">
            <a:spLocks noGrp="1"/>
          </p:cNvSpPr>
          <p:nvPr>
            <p:ph type="body" idx="1"/>
          </p:nvPr>
        </p:nvSpPr>
        <p:spPr>
          <a:xfrm>
            <a:off x="390370" y="1032699"/>
            <a:ext cx="5996575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>
              <a:spcBef>
                <a:spcPts val="0"/>
              </a:spcBef>
            </a:pPr>
            <a:r>
              <a:rPr lang="fr-FR" dirty="0"/>
              <a:t>Nombre total d’appartements vendus (S1 2020)</a:t>
            </a:r>
            <a:endParaRPr dirty="0"/>
          </a:p>
        </p:txBody>
      </p:sp>
      <p:sp>
        <p:nvSpPr>
          <p:cNvPr id="345" name="Google Shape;345;p42"/>
          <p:cNvSpPr txBox="1"/>
          <p:nvPr/>
        </p:nvSpPr>
        <p:spPr>
          <a:xfrm>
            <a:off x="389008" y="1333500"/>
            <a:ext cx="6978592" cy="2624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 COUNT(*) AS nb_appart_vendus_S1_2020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vente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WHERE type_local = 'Appartement'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AND nature_mutation = 'Vente’;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endParaRPr lang="en-US"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en-US" sz="1800" b="1" i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Résultat</a:t>
            </a:r>
            <a:endParaRPr lang="en-US" sz="18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endParaRPr lang="en-US"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 2" descr="Une image contenant texte, capture d’écran, Police, ligne">
            <a:extLst>
              <a:ext uri="{FF2B5EF4-FFF2-40B4-BE49-F238E27FC236}">
                <a16:creationId xmlns:a16="http://schemas.microsoft.com/office/drawing/2014/main" id="{8A821B74-4A34-41E2-BB2D-EA4554519F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5064" y="2608327"/>
            <a:ext cx="1768515" cy="1115651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56F514B0-ADB2-F02A-B479-7391B0DFE184}"/>
              </a:ext>
            </a:extLst>
          </p:cNvPr>
          <p:cNvSpPr txBox="1"/>
          <p:nvPr/>
        </p:nvSpPr>
        <p:spPr>
          <a:xfrm>
            <a:off x="389008" y="3874493"/>
            <a:ext cx="750223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Dans le premier semestre, 31 378 appartements ont été vendus.</a:t>
            </a:r>
          </a:p>
          <a:p>
            <a:r>
              <a:rPr lang="fr-FR" sz="1100" i="1" dirty="0"/>
              <a:t>Les données analysées concernent uniquement des mutations de type « Vente », ce qui permet de représenter fidèlement le marché immobilier.</a:t>
            </a:r>
          </a:p>
          <a:p>
            <a:endParaRPr lang="fr-FR" sz="1100" i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1E67DA11-57CC-9504-4C71-2F9FED2F3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2">
            <a:extLst>
              <a:ext uri="{FF2B5EF4-FFF2-40B4-BE49-F238E27FC236}">
                <a16:creationId xmlns:a16="http://schemas.microsoft.com/office/drawing/2014/main" id="{DE52B2F3-731E-9EB6-0907-009E728695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9008" y="156772"/>
            <a:ext cx="8387847" cy="452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 fontScale="90000"/>
          </a:bodyPr>
          <a:lstStyle/>
          <a:p>
            <a:r>
              <a:rPr lang="fr-FR" b="0" dirty="0"/>
              <a:t>Requête 2</a:t>
            </a:r>
            <a:endParaRPr dirty="0"/>
          </a:p>
        </p:txBody>
      </p:sp>
      <p:sp>
        <p:nvSpPr>
          <p:cNvPr id="343" name="Google Shape;343;p42">
            <a:extLst>
              <a:ext uri="{FF2B5EF4-FFF2-40B4-BE49-F238E27FC236}">
                <a16:creationId xmlns:a16="http://schemas.microsoft.com/office/drawing/2014/main" id="{BBD95685-C482-AC25-3D74-1D9EFA0000C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12</a:t>
            </a:fld>
            <a:endParaRPr/>
          </a:p>
        </p:txBody>
      </p:sp>
      <p:sp>
        <p:nvSpPr>
          <p:cNvPr id="344" name="Google Shape;344;p42">
            <a:extLst>
              <a:ext uri="{FF2B5EF4-FFF2-40B4-BE49-F238E27FC236}">
                <a16:creationId xmlns:a16="http://schemas.microsoft.com/office/drawing/2014/main" id="{EEB9E7D2-64DE-2E49-A036-E833C8F00E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1916" y="488646"/>
            <a:ext cx="6649101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r>
              <a:rPr lang="fr-FR" dirty="0"/>
              <a:t>Le nombre de ventes d’appartement par région pour le 1</a:t>
            </a:r>
            <a:r>
              <a:rPr lang="fr-FR" baseline="30000" dirty="0"/>
              <a:t>er</a:t>
            </a:r>
            <a:r>
              <a:rPr lang="fr-FR" dirty="0"/>
              <a:t> semestre2020.</a:t>
            </a:r>
            <a:endParaRPr dirty="0"/>
          </a:p>
        </p:txBody>
      </p:sp>
      <p:sp>
        <p:nvSpPr>
          <p:cNvPr id="345" name="Google Shape;345;p42">
            <a:extLst>
              <a:ext uri="{FF2B5EF4-FFF2-40B4-BE49-F238E27FC236}">
                <a16:creationId xmlns:a16="http://schemas.microsoft.com/office/drawing/2014/main" id="{85119C1A-DEED-FA10-480E-3BB038967476}"/>
              </a:ext>
            </a:extLst>
          </p:cNvPr>
          <p:cNvSpPr txBox="1"/>
          <p:nvPr/>
        </p:nvSpPr>
        <p:spPr>
          <a:xfrm>
            <a:off x="389008" y="1193630"/>
            <a:ext cx="6978592" cy="3035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r>
              <a:rPr lang="fr-FR" sz="1100" dirty="0"/>
              <a:t>SELECT</a:t>
            </a:r>
          </a:p>
          <a:p>
            <a:r>
              <a:rPr lang="fr-FR" sz="1100" dirty="0"/>
              <a:t>  </a:t>
            </a:r>
            <a:r>
              <a:rPr lang="fr-FR" sz="1100" dirty="0" err="1"/>
              <a:t>r.nom_region</a:t>
            </a:r>
            <a:r>
              <a:rPr lang="fr-FR" sz="1100" dirty="0"/>
              <a:t> AS </a:t>
            </a:r>
            <a:r>
              <a:rPr lang="fr-FR" sz="1100" dirty="0" err="1"/>
              <a:t>region</a:t>
            </a:r>
            <a:r>
              <a:rPr lang="fr-FR" sz="1100" dirty="0"/>
              <a:t>,</a:t>
            </a:r>
          </a:p>
          <a:p>
            <a:r>
              <a:rPr lang="fr-FR" sz="1100" dirty="0"/>
              <a:t>  COUNT(*) AS </a:t>
            </a:r>
            <a:r>
              <a:rPr lang="fr-FR" sz="1100" dirty="0" err="1"/>
              <a:t>nb_ventes_appart</a:t>
            </a:r>
            <a:endParaRPr lang="fr-FR" sz="1100" dirty="0"/>
          </a:p>
          <a:p>
            <a:r>
              <a:rPr lang="fr-FR" sz="1100" dirty="0"/>
              <a:t>FROM vente v</a:t>
            </a:r>
          </a:p>
          <a:p>
            <a:r>
              <a:rPr lang="fr-FR" sz="1100" dirty="0"/>
              <a:t>JOIN commune c</a:t>
            </a:r>
          </a:p>
          <a:p>
            <a:r>
              <a:rPr lang="fr-FR" sz="1100" dirty="0"/>
              <a:t>  ON </a:t>
            </a:r>
            <a:r>
              <a:rPr lang="fr-FR" sz="1100" dirty="0" err="1"/>
              <a:t>v.id_codedep_codecommune</a:t>
            </a:r>
            <a:r>
              <a:rPr lang="fr-FR" sz="1100" dirty="0"/>
              <a:t> = </a:t>
            </a:r>
            <a:r>
              <a:rPr lang="fr-FR" sz="1100" dirty="0" err="1"/>
              <a:t>c.id_codedep_codecommune</a:t>
            </a:r>
            <a:endParaRPr lang="fr-FR" sz="1100" dirty="0"/>
          </a:p>
          <a:p>
            <a:r>
              <a:rPr lang="fr-FR" sz="1100" dirty="0"/>
              <a:t>JOIN departement d</a:t>
            </a:r>
          </a:p>
          <a:p>
            <a:r>
              <a:rPr lang="fr-FR" sz="1100" dirty="0"/>
              <a:t>  ON </a:t>
            </a:r>
            <a:r>
              <a:rPr lang="fr-FR" sz="1100" dirty="0" err="1"/>
              <a:t>c.code_departement</a:t>
            </a:r>
            <a:r>
              <a:rPr lang="fr-FR" sz="1100" dirty="0"/>
              <a:t> = </a:t>
            </a:r>
            <a:r>
              <a:rPr lang="fr-FR" sz="1100" dirty="0" err="1"/>
              <a:t>d.code_departement</a:t>
            </a:r>
            <a:endParaRPr lang="fr-FR" sz="1100" dirty="0"/>
          </a:p>
          <a:p>
            <a:r>
              <a:rPr lang="fr-FR" sz="1100" dirty="0"/>
              <a:t>JOIN </a:t>
            </a:r>
            <a:r>
              <a:rPr lang="fr-FR" sz="1100" dirty="0" err="1"/>
              <a:t>region</a:t>
            </a:r>
            <a:r>
              <a:rPr lang="fr-FR" sz="1100" dirty="0"/>
              <a:t> r</a:t>
            </a:r>
          </a:p>
          <a:p>
            <a:r>
              <a:rPr lang="fr-FR" sz="1100" dirty="0"/>
              <a:t>  ON </a:t>
            </a:r>
            <a:r>
              <a:rPr lang="fr-FR" sz="1100" dirty="0" err="1"/>
              <a:t>d.code_region</a:t>
            </a:r>
            <a:r>
              <a:rPr lang="fr-FR" sz="1100" dirty="0"/>
              <a:t> = </a:t>
            </a:r>
            <a:r>
              <a:rPr lang="fr-FR" sz="1100" dirty="0" err="1"/>
              <a:t>r.code_region</a:t>
            </a:r>
            <a:endParaRPr lang="fr-FR" sz="1100" dirty="0"/>
          </a:p>
          <a:p>
            <a:r>
              <a:rPr lang="fr-FR" sz="1100" dirty="0"/>
              <a:t>WHERE </a:t>
            </a:r>
            <a:r>
              <a:rPr lang="fr-FR" sz="1100" dirty="0" err="1"/>
              <a:t>v.type_local</a:t>
            </a:r>
            <a:r>
              <a:rPr lang="fr-FR" sz="1100" dirty="0"/>
              <a:t> = 'Appartement'</a:t>
            </a:r>
          </a:p>
          <a:p>
            <a:r>
              <a:rPr lang="fr-FR" sz="1100" dirty="0"/>
              <a:t>  AND </a:t>
            </a:r>
            <a:r>
              <a:rPr lang="fr-FR" sz="1100" dirty="0" err="1"/>
              <a:t>v.nature_mutation</a:t>
            </a:r>
            <a:r>
              <a:rPr lang="fr-FR" sz="1100" dirty="0"/>
              <a:t> = 'Vente'</a:t>
            </a:r>
          </a:p>
          <a:p>
            <a:r>
              <a:rPr lang="fr-FR" sz="1100" dirty="0"/>
              <a:t>GROUP BY </a:t>
            </a:r>
            <a:r>
              <a:rPr lang="fr-FR" sz="1100" dirty="0" err="1"/>
              <a:t>r.nom_region</a:t>
            </a:r>
            <a:endParaRPr lang="fr-FR" sz="1100" dirty="0"/>
          </a:p>
          <a:p>
            <a:r>
              <a:rPr lang="fr-FR" sz="1100" dirty="0"/>
              <a:t>ORDER BY </a:t>
            </a:r>
            <a:r>
              <a:rPr lang="fr-FR" sz="1100" dirty="0" err="1"/>
              <a:t>nb_ventes_appart</a:t>
            </a:r>
            <a:r>
              <a:rPr lang="fr-FR" sz="1100" dirty="0"/>
              <a:t> DESC;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A3166CE-8191-A176-C0E8-257388BF6132}"/>
              </a:ext>
            </a:extLst>
          </p:cNvPr>
          <p:cNvSpPr txBox="1"/>
          <p:nvPr/>
        </p:nvSpPr>
        <p:spPr>
          <a:xfrm>
            <a:off x="389008" y="4054602"/>
            <a:ext cx="750223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La région d’Ile de France concentre le plus grand nombre de ventes d’appartements sur la période étudiée.</a:t>
            </a:r>
            <a:br>
              <a:rPr lang="fr-FR" sz="1100" i="1" dirty="0"/>
            </a:br>
            <a:r>
              <a:rPr lang="fr-FR" sz="1100" i="1" dirty="0"/>
              <a:t>Cette répartition aide Laplace Immo à adapter ses actions commerciales selon l’activité régionale.</a:t>
            </a:r>
          </a:p>
          <a:p>
            <a:endParaRPr lang="fr-FR" sz="1100" dirty="0"/>
          </a:p>
        </p:txBody>
      </p:sp>
      <p:pic>
        <p:nvPicPr>
          <p:cNvPr id="4" name="Image 3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7A8B78D6-5708-9E41-F625-AFAA178D0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1322" y="1081133"/>
            <a:ext cx="2841212" cy="303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1445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AF96B591-414E-982E-8DC6-06A6B32EA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2">
            <a:extLst>
              <a:ext uri="{FF2B5EF4-FFF2-40B4-BE49-F238E27FC236}">
                <a16:creationId xmlns:a16="http://schemas.microsoft.com/office/drawing/2014/main" id="{E5A6C058-CA38-E58A-F255-68D7C89940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9008" y="397434"/>
            <a:ext cx="8103828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 fontScale="90000"/>
          </a:bodyPr>
          <a:lstStyle/>
          <a:p>
            <a:pPr lvl="0"/>
            <a:r>
              <a:rPr lang="fr-FR" b="0" dirty="0"/>
              <a:t>Requête 3</a:t>
            </a:r>
            <a:endParaRPr dirty="0"/>
          </a:p>
        </p:txBody>
      </p:sp>
      <p:sp>
        <p:nvSpPr>
          <p:cNvPr id="343" name="Google Shape;343;p42">
            <a:extLst>
              <a:ext uri="{FF2B5EF4-FFF2-40B4-BE49-F238E27FC236}">
                <a16:creationId xmlns:a16="http://schemas.microsoft.com/office/drawing/2014/main" id="{B13A58CF-66CF-3BEC-66C5-90D40D3A081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13</a:t>
            </a:fld>
            <a:endParaRPr/>
          </a:p>
        </p:txBody>
      </p:sp>
      <p:sp>
        <p:nvSpPr>
          <p:cNvPr id="344" name="Google Shape;344;p42">
            <a:extLst>
              <a:ext uri="{FF2B5EF4-FFF2-40B4-BE49-F238E27FC236}">
                <a16:creationId xmlns:a16="http://schemas.microsoft.com/office/drawing/2014/main" id="{96124220-2665-D8B3-90CD-4E98110F29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90370" y="1032699"/>
            <a:ext cx="5526447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>
              <a:spcBef>
                <a:spcPts val="0"/>
              </a:spcBef>
            </a:pPr>
            <a:r>
              <a:rPr lang="fr-FR" dirty="0"/>
              <a:t>Proportion d’appartements par le nombre de pièces</a:t>
            </a:r>
            <a:endParaRPr dirty="0"/>
          </a:p>
        </p:txBody>
      </p:sp>
      <p:sp>
        <p:nvSpPr>
          <p:cNvPr id="345" name="Google Shape;345;p42">
            <a:extLst>
              <a:ext uri="{FF2B5EF4-FFF2-40B4-BE49-F238E27FC236}">
                <a16:creationId xmlns:a16="http://schemas.microsoft.com/office/drawing/2014/main" id="{CBDE5D18-01DA-862E-C419-D9427C9DF7A2}"/>
              </a:ext>
            </a:extLst>
          </p:cNvPr>
          <p:cNvSpPr txBox="1"/>
          <p:nvPr/>
        </p:nvSpPr>
        <p:spPr>
          <a:xfrm>
            <a:off x="389008" y="1349836"/>
            <a:ext cx="6978592" cy="3035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r>
              <a:rPr lang="fr-FR" sz="1100" dirty="0"/>
              <a:t>WITH app AS (</a:t>
            </a:r>
          </a:p>
          <a:p>
            <a:r>
              <a:rPr lang="fr-FR" sz="1100" dirty="0"/>
              <a:t>  SELECT </a:t>
            </a:r>
            <a:r>
              <a:rPr lang="fr-FR" sz="1100" dirty="0" err="1"/>
              <a:t>nb_pieces_principales</a:t>
            </a:r>
            <a:endParaRPr lang="fr-FR" sz="1100" dirty="0"/>
          </a:p>
          <a:p>
            <a:r>
              <a:rPr lang="fr-FR" sz="1100" dirty="0"/>
              <a:t>  FROM vente</a:t>
            </a:r>
          </a:p>
          <a:p>
            <a:r>
              <a:rPr lang="fr-FR" sz="1100" dirty="0"/>
              <a:t>  WHERE </a:t>
            </a:r>
            <a:r>
              <a:rPr lang="fr-FR" sz="1100" dirty="0" err="1"/>
              <a:t>type_local</a:t>
            </a:r>
            <a:r>
              <a:rPr lang="fr-FR" sz="1100" dirty="0"/>
              <a:t> = 'Appartement'</a:t>
            </a:r>
          </a:p>
          <a:p>
            <a:r>
              <a:rPr lang="fr-FR" sz="1100" dirty="0"/>
              <a:t>    AND </a:t>
            </a:r>
            <a:r>
              <a:rPr lang="fr-FR" sz="1100" dirty="0" err="1"/>
              <a:t>nature_mutation</a:t>
            </a:r>
            <a:r>
              <a:rPr lang="fr-FR" sz="1100" dirty="0"/>
              <a:t> = 'Vente'</a:t>
            </a:r>
          </a:p>
          <a:p>
            <a:r>
              <a:rPr lang="fr-FR" sz="1100" dirty="0"/>
              <a:t>    AND </a:t>
            </a:r>
            <a:r>
              <a:rPr lang="fr-FR" sz="1100" dirty="0" err="1"/>
              <a:t>nb_pieces_principales</a:t>
            </a:r>
            <a:r>
              <a:rPr lang="fr-FR" sz="1100" dirty="0"/>
              <a:t> IS NOT NULL</a:t>
            </a:r>
          </a:p>
          <a:p>
            <a:r>
              <a:rPr lang="fr-FR" sz="1100" dirty="0"/>
              <a:t>)</a:t>
            </a:r>
          </a:p>
          <a:p>
            <a:r>
              <a:rPr lang="fr-FR" sz="1100" dirty="0"/>
              <a:t>SELECT</a:t>
            </a:r>
          </a:p>
          <a:p>
            <a:r>
              <a:rPr lang="fr-FR" sz="1100" dirty="0"/>
              <a:t>  </a:t>
            </a:r>
            <a:r>
              <a:rPr lang="fr-FR" sz="1100" dirty="0" err="1"/>
              <a:t>nb_pieces_principales</a:t>
            </a:r>
            <a:r>
              <a:rPr lang="fr-FR" sz="1100" dirty="0"/>
              <a:t> AS </a:t>
            </a:r>
            <a:r>
              <a:rPr lang="fr-FR" sz="1100" dirty="0" err="1"/>
              <a:t>nb_pieces</a:t>
            </a:r>
            <a:r>
              <a:rPr lang="fr-FR" sz="1100" dirty="0"/>
              <a:t>,</a:t>
            </a:r>
          </a:p>
          <a:p>
            <a:r>
              <a:rPr lang="fr-FR" sz="1100" dirty="0"/>
              <a:t>  COUNT(*) AS </a:t>
            </a:r>
            <a:r>
              <a:rPr lang="fr-FR" sz="1100" dirty="0" err="1"/>
              <a:t>nb_ventes</a:t>
            </a:r>
            <a:r>
              <a:rPr lang="fr-FR" sz="1100" dirty="0"/>
              <a:t>,</a:t>
            </a:r>
          </a:p>
          <a:p>
            <a:r>
              <a:rPr lang="fr-FR" sz="1100" dirty="0"/>
              <a:t>  ROUND(100.0 * COUNT(*) / (SELECT COUNT(*) FROM app), 2) AS </a:t>
            </a:r>
            <a:r>
              <a:rPr lang="fr-FR" sz="1100" dirty="0" err="1"/>
              <a:t>proportion_pct</a:t>
            </a:r>
            <a:endParaRPr lang="fr-FR" sz="1100" dirty="0"/>
          </a:p>
          <a:p>
            <a:r>
              <a:rPr lang="fr-FR" sz="1100" dirty="0"/>
              <a:t>FROM app</a:t>
            </a:r>
          </a:p>
          <a:p>
            <a:r>
              <a:rPr lang="fr-FR" sz="1100" dirty="0"/>
              <a:t>GROUP BY </a:t>
            </a:r>
            <a:r>
              <a:rPr lang="fr-FR" sz="1100" dirty="0" err="1"/>
              <a:t>nb_pieces_principales</a:t>
            </a:r>
            <a:endParaRPr lang="fr-FR" sz="1100" dirty="0"/>
          </a:p>
          <a:p>
            <a:r>
              <a:rPr lang="fr-FR" sz="1100" dirty="0"/>
              <a:t>ORDER BY </a:t>
            </a:r>
            <a:r>
              <a:rPr lang="fr-FR" sz="1100" dirty="0" err="1"/>
              <a:t>nb_pieces_principales</a:t>
            </a:r>
            <a:r>
              <a:rPr lang="fr-FR" sz="1100" dirty="0"/>
              <a:t>;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56D3CF1-2B14-86D9-6B82-6FD80B83F206}"/>
              </a:ext>
            </a:extLst>
          </p:cNvPr>
          <p:cNvSpPr txBox="1"/>
          <p:nvPr/>
        </p:nvSpPr>
        <p:spPr>
          <a:xfrm>
            <a:off x="389008" y="4054602"/>
            <a:ext cx="750223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Les appartements de 2 et 3 pièces représentent la plus grande part des ventes.</a:t>
            </a:r>
            <a:br>
              <a:rPr lang="fr-FR" sz="1100" i="1" dirty="0"/>
            </a:br>
            <a:r>
              <a:rPr lang="fr-FR" sz="1100" i="1" dirty="0"/>
              <a:t>Cela indique que la demande se concentre majoritairement sur les typologies </a:t>
            </a:r>
            <a:r>
              <a:rPr lang="fr-FR" sz="1100" b="1" i="1" dirty="0"/>
              <a:t>[petites/moyennes] surfaces</a:t>
            </a:r>
            <a:r>
              <a:rPr lang="fr-FR" sz="1100" i="1" dirty="0"/>
              <a:t> (selon ton résultat).</a:t>
            </a:r>
          </a:p>
          <a:p>
            <a:endParaRPr lang="fr-FR" sz="1100" i="1" dirty="0"/>
          </a:p>
        </p:txBody>
      </p:sp>
      <p:pic>
        <p:nvPicPr>
          <p:cNvPr id="4" name="Image 3" descr="Une image contenant texte, nombre, capture d’écran, Police">
            <a:extLst>
              <a:ext uri="{FF2B5EF4-FFF2-40B4-BE49-F238E27FC236}">
                <a16:creationId xmlns:a16="http://schemas.microsoft.com/office/drawing/2014/main" id="{9DE9BF2D-1701-D18B-2DE3-363100C34E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817" y="1712678"/>
            <a:ext cx="2139404" cy="231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1757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C6143111-29D2-0FAC-9D7E-226D30992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2">
            <a:extLst>
              <a:ext uri="{FF2B5EF4-FFF2-40B4-BE49-F238E27FC236}">
                <a16:creationId xmlns:a16="http://schemas.microsoft.com/office/drawing/2014/main" id="{ECF509B7-1AE9-3231-8BB6-BC245BB460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9008" y="156772"/>
            <a:ext cx="6780719" cy="5380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/>
          <a:p>
            <a:pPr lvl="0"/>
            <a:r>
              <a:rPr lang="fr-FR" b="0" dirty="0"/>
              <a:t>Requête 4</a:t>
            </a:r>
            <a:endParaRPr dirty="0"/>
          </a:p>
        </p:txBody>
      </p:sp>
      <p:sp>
        <p:nvSpPr>
          <p:cNvPr id="343" name="Google Shape;343;p42">
            <a:extLst>
              <a:ext uri="{FF2B5EF4-FFF2-40B4-BE49-F238E27FC236}">
                <a16:creationId xmlns:a16="http://schemas.microsoft.com/office/drawing/2014/main" id="{18C46D96-F3E3-836F-4232-29C6A25C069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14</a:t>
            </a:fld>
            <a:endParaRPr/>
          </a:p>
        </p:txBody>
      </p:sp>
      <p:sp>
        <p:nvSpPr>
          <p:cNvPr id="344" name="Google Shape;344;p42">
            <a:extLst>
              <a:ext uri="{FF2B5EF4-FFF2-40B4-BE49-F238E27FC236}">
                <a16:creationId xmlns:a16="http://schemas.microsoft.com/office/drawing/2014/main" id="{78735495-3757-99DB-0C4A-23CDC43DB5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9008" y="852445"/>
            <a:ext cx="5526447" cy="294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>
              <a:spcBef>
                <a:spcPts val="0"/>
              </a:spcBef>
            </a:pPr>
            <a:r>
              <a:rPr lang="fr-FR" dirty="0"/>
              <a:t>Liste des 10 départements où le prix du mètre carré est le plus élevé.</a:t>
            </a:r>
            <a:endParaRPr dirty="0"/>
          </a:p>
        </p:txBody>
      </p:sp>
      <p:sp>
        <p:nvSpPr>
          <p:cNvPr id="345" name="Google Shape;345;p42">
            <a:extLst>
              <a:ext uri="{FF2B5EF4-FFF2-40B4-BE49-F238E27FC236}">
                <a16:creationId xmlns:a16="http://schemas.microsoft.com/office/drawing/2014/main" id="{E04B9C07-C67B-C177-ECE8-5BA7C3690EAA}"/>
              </a:ext>
            </a:extLst>
          </p:cNvPr>
          <p:cNvSpPr txBox="1"/>
          <p:nvPr/>
        </p:nvSpPr>
        <p:spPr>
          <a:xfrm>
            <a:off x="389008" y="1304170"/>
            <a:ext cx="6978592" cy="3035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r>
              <a:rPr lang="fr-FR" sz="1100" dirty="0"/>
              <a:t>SELECT</a:t>
            </a:r>
          </a:p>
          <a:p>
            <a:r>
              <a:rPr lang="fr-FR" sz="1100" dirty="0"/>
              <a:t>  </a:t>
            </a:r>
            <a:r>
              <a:rPr lang="fr-FR" sz="1100" dirty="0" err="1"/>
              <a:t>d.code_departement</a:t>
            </a:r>
            <a:r>
              <a:rPr lang="fr-FR" sz="1100" dirty="0"/>
              <a:t>,</a:t>
            </a:r>
          </a:p>
          <a:p>
            <a:r>
              <a:rPr lang="fr-FR" sz="1100" dirty="0"/>
              <a:t>  </a:t>
            </a:r>
            <a:r>
              <a:rPr lang="fr-FR" sz="1100" dirty="0" err="1"/>
              <a:t>d.nom_departement</a:t>
            </a:r>
            <a:r>
              <a:rPr lang="fr-FR" sz="1100" dirty="0"/>
              <a:t>,</a:t>
            </a:r>
          </a:p>
          <a:p>
            <a:r>
              <a:rPr lang="fr-FR" sz="1100" dirty="0"/>
              <a:t>  ROUND(AVG(</a:t>
            </a:r>
            <a:r>
              <a:rPr lang="fr-FR" sz="1100" dirty="0" err="1"/>
              <a:t>v.valeur_fonciere</a:t>
            </a:r>
            <a:r>
              <a:rPr lang="fr-FR" sz="1100" dirty="0"/>
              <a:t> / </a:t>
            </a:r>
            <a:r>
              <a:rPr lang="fr-FR" sz="1100" dirty="0" err="1"/>
              <a:t>v.surface_reelle_bati</a:t>
            </a:r>
            <a:r>
              <a:rPr lang="fr-FR" sz="1100" dirty="0"/>
              <a:t>), 2) AS prix_m2_moyen</a:t>
            </a:r>
          </a:p>
          <a:p>
            <a:r>
              <a:rPr lang="fr-FR" sz="1100" dirty="0"/>
              <a:t>FROM vente v</a:t>
            </a:r>
          </a:p>
          <a:p>
            <a:r>
              <a:rPr lang="fr-FR" sz="1100" dirty="0"/>
              <a:t>JOIN commune c</a:t>
            </a:r>
          </a:p>
          <a:p>
            <a:r>
              <a:rPr lang="fr-FR" sz="1100" dirty="0"/>
              <a:t>  ON </a:t>
            </a:r>
            <a:r>
              <a:rPr lang="fr-FR" sz="1100" dirty="0" err="1"/>
              <a:t>v.id_codedep_codecommune</a:t>
            </a:r>
            <a:r>
              <a:rPr lang="fr-FR" sz="1100" dirty="0"/>
              <a:t> = </a:t>
            </a:r>
            <a:r>
              <a:rPr lang="fr-FR" sz="1100" dirty="0" err="1"/>
              <a:t>c.id_codedep_codecommune</a:t>
            </a:r>
            <a:endParaRPr lang="fr-FR" sz="1100" dirty="0"/>
          </a:p>
          <a:p>
            <a:r>
              <a:rPr lang="fr-FR" sz="1100" dirty="0"/>
              <a:t>JOIN departement d</a:t>
            </a:r>
          </a:p>
          <a:p>
            <a:r>
              <a:rPr lang="fr-FR" sz="1100" dirty="0"/>
              <a:t>  ON </a:t>
            </a:r>
            <a:r>
              <a:rPr lang="fr-FR" sz="1100" dirty="0" err="1"/>
              <a:t>c.code_departement</a:t>
            </a:r>
            <a:r>
              <a:rPr lang="fr-FR" sz="1100" dirty="0"/>
              <a:t> = </a:t>
            </a:r>
            <a:r>
              <a:rPr lang="fr-FR" sz="1100" dirty="0" err="1"/>
              <a:t>d.code_departement</a:t>
            </a:r>
            <a:endParaRPr lang="fr-FR" sz="1100" dirty="0"/>
          </a:p>
          <a:p>
            <a:r>
              <a:rPr lang="fr-FR" sz="1100" dirty="0"/>
              <a:t>WHERE </a:t>
            </a:r>
            <a:r>
              <a:rPr lang="fr-FR" sz="1100" dirty="0" err="1"/>
              <a:t>v.nature_mutation</a:t>
            </a:r>
            <a:r>
              <a:rPr lang="fr-FR" sz="1100" dirty="0"/>
              <a:t> = 'Vente'</a:t>
            </a:r>
          </a:p>
          <a:p>
            <a:r>
              <a:rPr lang="fr-FR" sz="1100" dirty="0"/>
              <a:t>  AND </a:t>
            </a:r>
            <a:r>
              <a:rPr lang="fr-FR" sz="1100" dirty="0" err="1"/>
              <a:t>v.valeur_fonciere</a:t>
            </a:r>
            <a:r>
              <a:rPr lang="fr-FR" sz="1100" dirty="0"/>
              <a:t> IS NOT NULL</a:t>
            </a:r>
          </a:p>
          <a:p>
            <a:r>
              <a:rPr lang="fr-FR" sz="1100" dirty="0"/>
              <a:t>  AND </a:t>
            </a:r>
            <a:r>
              <a:rPr lang="fr-FR" sz="1100" dirty="0" err="1"/>
              <a:t>v.surface_reelle_bati</a:t>
            </a:r>
            <a:r>
              <a:rPr lang="fr-FR" sz="1100" dirty="0"/>
              <a:t> IS NOT NULL</a:t>
            </a:r>
          </a:p>
          <a:p>
            <a:r>
              <a:rPr lang="fr-FR" sz="1100" dirty="0"/>
              <a:t>  AND </a:t>
            </a:r>
            <a:r>
              <a:rPr lang="fr-FR" sz="1100" dirty="0" err="1"/>
              <a:t>v.surface_reelle_bati</a:t>
            </a:r>
            <a:r>
              <a:rPr lang="fr-FR" sz="1100" dirty="0"/>
              <a:t> &gt; 0</a:t>
            </a:r>
          </a:p>
          <a:p>
            <a:r>
              <a:rPr lang="fr-FR" sz="1100" dirty="0"/>
              <a:t>GROUP BY </a:t>
            </a:r>
            <a:r>
              <a:rPr lang="fr-FR" sz="1100" dirty="0" err="1"/>
              <a:t>d.code_departement</a:t>
            </a:r>
            <a:r>
              <a:rPr lang="fr-FR" sz="1100" dirty="0"/>
              <a:t>, </a:t>
            </a:r>
            <a:r>
              <a:rPr lang="fr-FR" sz="1100" dirty="0" err="1"/>
              <a:t>d.nom_departement</a:t>
            </a:r>
            <a:endParaRPr lang="fr-FR" sz="1100" dirty="0"/>
          </a:p>
          <a:p>
            <a:r>
              <a:rPr lang="fr-FR" sz="1100" dirty="0"/>
              <a:t>ORDER BY prix_m2_moyen DESC</a:t>
            </a:r>
          </a:p>
          <a:p>
            <a:r>
              <a:rPr lang="fr-FR" sz="1100" dirty="0"/>
              <a:t>LIMIT 10;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6CEE609B-FC73-DEC8-A4CC-C1A1392D378A}"/>
              </a:ext>
            </a:extLst>
          </p:cNvPr>
          <p:cNvSpPr txBox="1"/>
          <p:nvPr/>
        </p:nvSpPr>
        <p:spPr>
          <a:xfrm>
            <a:off x="389008" y="4247079"/>
            <a:ext cx="750223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Les départements les plus chers au m² sont principalement situés dans les zones urbaines et tendues.</a:t>
            </a:r>
            <a:br>
              <a:rPr lang="fr-FR" sz="1100" i="1" dirty="0"/>
            </a:br>
            <a:r>
              <a:rPr lang="fr-FR" sz="1100" i="1" dirty="0"/>
              <a:t>Ce classement permet d’identifier les marchés où le pouvoir d’achat immobilier est le plus élevé.</a:t>
            </a:r>
          </a:p>
        </p:txBody>
      </p:sp>
      <p:pic>
        <p:nvPicPr>
          <p:cNvPr id="4" name="Image 3" descr="Une image contenant texte, capture d’écran, nombre, Police">
            <a:extLst>
              <a:ext uri="{FF2B5EF4-FFF2-40B4-BE49-F238E27FC236}">
                <a16:creationId xmlns:a16="http://schemas.microsoft.com/office/drawing/2014/main" id="{1B8053FD-83EB-73FF-F406-CA61C6192A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702" y="1664678"/>
            <a:ext cx="3524742" cy="2314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505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20B65700-82BE-0F80-1579-396C3F6D4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2">
            <a:extLst>
              <a:ext uri="{FF2B5EF4-FFF2-40B4-BE49-F238E27FC236}">
                <a16:creationId xmlns:a16="http://schemas.microsoft.com/office/drawing/2014/main" id="{736873CC-EF03-3055-6DA0-C6A3DDCC786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9008" y="260785"/>
            <a:ext cx="6249917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 fontScale="90000"/>
          </a:bodyPr>
          <a:lstStyle/>
          <a:p>
            <a:pPr lvl="0"/>
            <a:r>
              <a:rPr lang="fr-FR" b="0" dirty="0"/>
              <a:t>Requête 5</a:t>
            </a:r>
            <a:endParaRPr dirty="0"/>
          </a:p>
        </p:txBody>
      </p:sp>
      <p:sp>
        <p:nvSpPr>
          <p:cNvPr id="343" name="Google Shape;343;p42">
            <a:extLst>
              <a:ext uri="{FF2B5EF4-FFF2-40B4-BE49-F238E27FC236}">
                <a16:creationId xmlns:a16="http://schemas.microsoft.com/office/drawing/2014/main" id="{2E71AEB2-6797-A78E-8609-8B961B247C4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15</a:t>
            </a:fld>
            <a:endParaRPr/>
          </a:p>
        </p:txBody>
      </p:sp>
      <p:sp>
        <p:nvSpPr>
          <p:cNvPr id="344" name="Google Shape;344;p42">
            <a:extLst>
              <a:ext uri="{FF2B5EF4-FFF2-40B4-BE49-F238E27FC236}">
                <a16:creationId xmlns:a16="http://schemas.microsoft.com/office/drawing/2014/main" id="{C2200343-87FC-4333-6FA7-54FE4A0C0A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9008" y="906930"/>
            <a:ext cx="5526447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>
              <a:spcBef>
                <a:spcPts val="0"/>
              </a:spcBef>
            </a:pPr>
            <a:r>
              <a:rPr lang="fr-FR" dirty="0"/>
              <a:t>Prix moyen du mètre carré d’une maison en Île-de-France.</a:t>
            </a:r>
            <a:endParaRPr dirty="0"/>
          </a:p>
        </p:txBody>
      </p:sp>
      <p:sp>
        <p:nvSpPr>
          <p:cNvPr id="345" name="Google Shape;345;p42">
            <a:extLst>
              <a:ext uri="{FF2B5EF4-FFF2-40B4-BE49-F238E27FC236}">
                <a16:creationId xmlns:a16="http://schemas.microsoft.com/office/drawing/2014/main" id="{8951D30A-5A12-C23A-9031-5F24DB0292E5}"/>
              </a:ext>
            </a:extLst>
          </p:cNvPr>
          <p:cNvSpPr txBox="1"/>
          <p:nvPr/>
        </p:nvSpPr>
        <p:spPr>
          <a:xfrm>
            <a:off x="389008" y="1332991"/>
            <a:ext cx="6978592" cy="2321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ROUND(AVG(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v.valeur_fonciere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/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v.surface_reelle_bati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), 2) AS prix_m2_maison_IDF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vente v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JOIN commune c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ON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v.id_codedep_codecommune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c.id_codedep_codecommune</a:t>
            </a:r>
            <a:endParaRPr lang="fr-FR"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JOIN departement d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ON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c.code_departement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d.code_departement</a:t>
            </a:r>
            <a:endParaRPr lang="fr-FR"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JOIN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region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ON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d.code_region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r.code_region</a:t>
            </a:r>
            <a:endParaRPr lang="fr-FR"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WHERE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v.type_local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'Maison'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AND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v.nature_mutation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'Vente'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AND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r.nom_region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'Ile-de-France'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AND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v.valeur_fonciere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NOT NULL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AND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v.surface_reelle_bati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NOT NULL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AND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v.surface_reelle_bati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&gt; 0;</a:t>
            </a:r>
          </a:p>
          <a:p>
            <a: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E7A40"/>
              </a:buClr>
              <a:buSzPts val="1800"/>
            </a:pPr>
            <a:r>
              <a:rPr lang="fr-FR" sz="11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 2" descr="Une image contenant texte, capture d’écran, Police, ligne">
            <a:extLst>
              <a:ext uri="{FF2B5EF4-FFF2-40B4-BE49-F238E27FC236}">
                <a16:creationId xmlns:a16="http://schemas.microsoft.com/office/drawing/2014/main" id="{E2B7B819-2121-40B2-2AC4-8F97C63FC0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2744" y="2812473"/>
            <a:ext cx="2247071" cy="925265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C0CEBAC7-901D-246E-86B1-289C5C0BDECF}"/>
              </a:ext>
            </a:extLst>
          </p:cNvPr>
          <p:cNvSpPr txBox="1"/>
          <p:nvPr/>
        </p:nvSpPr>
        <p:spPr>
          <a:xfrm>
            <a:off x="534481" y="3969374"/>
            <a:ext cx="750223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Le prix moyen du m² pour une maison en Île-de-France est particulièrement élevé, ce qui reflète la forte tension immobilière dans cette région.</a:t>
            </a:r>
            <a:br>
              <a:rPr lang="fr-FR" sz="1100" i="1" dirty="0"/>
            </a:br>
            <a:r>
              <a:rPr lang="fr-FR" sz="1100" i="1" dirty="0"/>
              <a:t>Cette information est utile pour accompagner les clients dans l’estimation de leur budget.</a:t>
            </a:r>
          </a:p>
        </p:txBody>
      </p:sp>
    </p:spTree>
    <p:extLst>
      <p:ext uri="{BB962C8B-B14F-4D97-AF65-F5344CB8AC3E}">
        <p14:creationId xmlns:p14="http://schemas.microsoft.com/office/powerpoint/2010/main" val="23257519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7D175A6C-86C6-6E6B-E04C-41003FA8F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2">
            <a:extLst>
              <a:ext uri="{FF2B5EF4-FFF2-40B4-BE49-F238E27FC236}">
                <a16:creationId xmlns:a16="http://schemas.microsoft.com/office/drawing/2014/main" id="{CB8CA0C0-E0E6-C28E-F352-C6ECB1F809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0149" y="191813"/>
            <a:ext cx="6249917" cy="55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</a:pPr>
            <a:r>
              <a:rPr lang="fr" b="0" dirty="0"/>
              <a:t>Requête 6</a:t>
            </a:r>
            <a:endParaRPr dirty="0"/>
          </a:p>
        </p:txBody>
      </p:sp>
      <p:sp>
        <p:nvSpPr>
          <p:cNvPr id="343" name="Google Shape;343;p42">
            <a:extLst>
              <a:ext uri="{FF2B5EF4-FFF2-40B4-BE49-F238E27FC236}">
                <a16:creationId xmlns:a16="http://schemas.microsoft.com/office/drawing/2014/main" id="{CF7CAE3F-9A97-0141-479B-9084DC4CDF2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16</a:t>
            </a:fld>
            <a:endParaRPr/>
          </a:p>
        </p:txBody>
      </p:sp>
      <p:sp>
        <p:nvSpPr>
          <p:cNvPr id="344" name="Google Shape;344;p42">
            <a:extLst>
              <a:ext uri="{FF2B5EF4-FFF2-40B4-BE49-F238E27FC236}">
                <a16:creationId xmlns:a16="http://schemas.microsoft.com/office/drawing/2014/main" id="{5BDFE13C-AA60-AA41-2700-189A5AAAEE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592061"/>
            <a:ext cx="7208696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r>
              <a:rPr lang="fr-FR" dirty="0"/>
              <a:t>Liste des 10 appartements les plus chers avec la région et le nombre de mètres carrés.</a:t>
            </a:r>
            <a:endParaRPr dirty="0"/>
          </a:p>
        </p:txBody>
      </p:sp>
      <p:sp>
        <p:nvSpPr>
          <p:cNvPr id="345" name="Google Shape;345;p42">
            <a:extLst>
              <a:ext uri="{FF2B5EF4-FFF2-40B4-BE49-F238E27FC236}">
                <a16:creationId xmlns:a16="http://schemas.microsoft.com/office/drawing/2014/main" id="{0BD0C8D7-96FE-2F69-ED3D-003372550D81}"/>
              </a:ext>
            </a:extLst>
          </p:cNvPr>
          <p:cNvSpPr txBox="1"/>
          <p:nvPr/>
        </p:nvSpPr>
        <p:spPr>
          <a:xfrm>
            <a:off x="350149" y="1048732"/>
            <a:ext cx="6978592" cy="2451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v.id_vente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r.nom_region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AS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region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v.surface_reelle_bati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AS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metres_carres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v.valeur_fonciere</a:t>
            </a:r>
            <a:endParaRPr lang="fr-FR"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vente v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JOIN commune c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ON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v.id_codedep_codecommune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c.id_codedep_codecommune</a:t>
            </a:r>
            <a:endParaRPr lang="fr-FR"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JOIN departement d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ON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c.code_departement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d.code_departement</a:t>
            </a:r>
            <a:endParaRPr lang="fr-FR"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JOIN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region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ON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d.code_region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r.code_region</a:t>
            </a:r>
            <a:endParaRPr lang="fr-FR"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WHERE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v.type_local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'Appartement'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AND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v.nature_mutation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'Vente'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AND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v.valeur_fonciere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NOT NULL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AND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v.surface_reelle_bati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NOT NULL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AND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v.surface_reelle_bati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&gt; 0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ORDER BY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v.valeur_fonciere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DESC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LIMIT 10;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88EF10C-607C-5B40-4934-A7C8EDF86DFD}"/>
              </a:ext>
            </a:extLst>
          </p:cNvPr>
          <p:cNvSpPr txBox="1"/>
          <p:nvPr/>
        </p:nvSpPr>
        <p:spPr>
          <a:xfrm>
            <a:off x="346230" y="4030080"/>
            <a:ext cx="8124610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Les 10 appartements les plus chers se situent majoritairement dans des régions à forte tension immobilière (IDF).</a:t>
            </a:r>
          </a:p>
          <a:p>
            <a:r>
              <a:rPr lang="fr-FR" sz="1100" i="1" dirty="0"/>
              <a:t>L’ajout de la surface permet de contextualiser : un prix élevé peut venir soit d’un bien très grand, soit d’un prix au m² très élevé.</a:t>
            </a:r>
          </a:p>
          <a:p>
            <a:r>
              <a:rPr lang="fr-FR" sz="1100" i="1" dirty="0"/>
              <a:t>On observe un </a:t>
            </a:r>
            <a:r>
              <a:rPr lang="fr-FR" sz="1100" i="1" dirty="0" err="1"/>
              <a:t>outlier</a:t>
            </a:r>
            <a:r>
              <a:rPr lang="fr-FR" sz="1100" i="1" dirty="0"/>
              <a:t> important : un appartement vendu 9 000 000 € pour une surface de 10 m², soit un prix au m² irréaliste. Cette valeur est donc considérée comme une anomalie (erreur de déclaration ou transaction particulière) et devra être filtrée lors du nettoyage des données.</a:t>
            </a:r>
          </a:p>
        </p:txBody>
      </p:sp>
      <p:pic>
        <p:nvPicPr>
          <p:cNvPr id="6" name="Image 5" descr="Une image contenant texte, capture d’écran, nombre, Police">
            <a:extLst>
              <a:ext uri="{FF2B5EF4-FFF2-40B4-BE49-F238E27FC236}">
                <a16:creationId xmlns:a16="http://schemas.microsoft.com/office/drawing/2014/main" id="{966BF19F-0689-A61B-1D1E-5F662AF86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535" y="1211869"/>
            <a:ext cx="3458058" cy="243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28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02E67DF4-EBF8-A9F3-BAD7-C7AC239F6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2">
            <a:extLst>
              <a:ext uri="{FF2B5EF4-FFF2-40B4-BE49-F238E27FC236}">
                <a16:creationId xmlns:a16="http://schemas.microsoft.com/office/drawing/2014/main" id="{9791E9FF-5E5A-A2D6-34F2-567DF277F1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0149" y="191813"/>
            <a:ext cx="6249917" cy="55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</a:pPr>
            <a:r>
              <a:rPr lang="fr" b="0" dirty="0"/>
              <a:t>Requête 7</a:t>
            </a:r>
            <a:endParaRPr dirty="0"/>
          </a:p>
        </p:txBody>
      </p:sp>
      <p:sp>
        <p:nvSpPr>
          <p:cNvPr id="343" name="Google Shape;343;p42">
            <a:extLst>
              <a:ext uri="{FF2B5EF4-FFF2-40B4-BE49-F238E27FC236}">
                <a16:creationId xmlns:a16="http://schemas.microsoft.com/office/drawing/2014/main" id="{C187E304-63EC-94EF-0D73-7FD3CFD69BE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17</a:t>
            </a:fld>
            <a:endParaRPr/>
          </a:p>
        </p:txBody>
      </p:sp>
      <p:sp>
        <p:nvSpPr>
          <p:cNvPr id="344" name="Google Shape;344;p42">
            <a:extLst>
              <a:ext uri="{FF2B5EF4-FFF2-40B4-BE49-F238E27FC236}">
                <a16:creationId xmlns:a16="http://schemas.microsoft.com/office/drawing/2014/main" id="{1DE1D7AA-4122-7C24-6F13-916A202D1F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90524" y="690924"/>
            <a:ext cx="5469950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fr-FR" dirty="0"/>
              <a:t>Taux d’évolution du nombre de ventes entre le premier et le second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fr-FR" dirty="0"/>
              <a:t>trimestre de 2020</a:t>
            </a:r>
            <a:endParaRPr dirty="0"/>
          </a:p>
        </p:txBody>
      </p:sp>
      <p:sp>
        <p:nvSpPr>
          <p:cNvPr id="345" name="Google Shape;345;p42">
            <a:extLst>
              <a:ext uri="{FF2B5EF4-FFF2-40B4-BE49-F238E27FC236}">
                <a16:creationId xmlns:a16="http://schemas.microsoft.com/office/drawing/2014/main" id="{02CF658B-5CC2-F595-9790-03FD57C11450}"/>
              </a:ext>
            </a:extLst>
          </p:cNvPr>
          <p:cNvSpPr txBox="1"/>
          <p:nvPr/>
        </p:nvSpPr>
        <p:spPr>
          <a:xfrm>
            <a:off x="445941" y="2474601"/>
            <a:ext cx="6978592" cy="1330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CREATE VIEW IF NOT EXISTS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vente_clean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AS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v.*,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substr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(TRIM(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v.date_mutation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), 7, 4) || '-' ||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substr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(TRIM(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v.date_mutation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), 4, 2) || '-' ||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substr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(TRIM(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v.date_mutation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), 1, 2) AS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date_iso</a:t>
            </a:r>
            <a:endParaRPr lang="fr-FR"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vente v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WHERE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v.date_mutation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NOT NULL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AND TRIM(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v.date_mutation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&lt;&gt; '';</a:t>
            </a:r>
          </a:p>
        </p:txBody>
      </p:sp>
      <p:sp>
        <p:nvSpPr>
          <p:cNvPr id="2" name="Google Shape;344;p42">
            <a:extLst>
              <a:ext uri="{FF2B5EF4-FFF2-40B4-BE49-F238E27FC236}">
                <a16:creationId xmlns:a16="http://schemas.microsoft.com/office/drawing/2014/main" id="{80227241-2E1E-6060-BB2C-FCF2335B7192}"/>
              </a:ext>
            </a:extLst>
          </p:cNvPr>
          <p:cNvSpPr txBox="1">
            <a:spLocks/>
          </p:cNvSpPr>
          <p:nvPr/>
        </p:nvSpPr>
        <p:spPr>
          <a:xfrm>
            <a:off x="350148" y="1241547"/>
            <a:ext cx="8447488" cy="827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E7A40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spcBef>
                <a:spcPts val="0"/>
              </a:spcBef>
            </a:pPr>
            <a:r>
              <a:rPr lang="fr-FR" sz="1400" dirty="0">
                <a:solidFill>
                  <a:schemeClr val="bg2">
                    <a:lumMod val="10000"/>
                  </a:schemeClr>
                </a:solidFill>
              </a:rPr>
              <a:t>Avant de répondre a la requête n°7, J’ai créé une « view » à partir de la table « vente » afin de convertir la colonne date_mutation, qui était au format texte (DD/MM/YYYY), en un format ISO (YYYY-MM-DD).Cette transformation permet de trier et comparer correctement les dates, notamment pour obtenir la date maximale après le 31 mars 2020, ce qui n’était pas possible avec le format initial.</a:t>
            </a:r>
          </a:p>
        </p:txBody>
      </p:sp>
      <p:pic>
        <p:nvPicPr>
          <p:cNvPr id="6" name="Image 5" descr="Une image contenant texte, capture d’écran, logiciel, Police">
            <a:extLst>
              <a:ext uri="{FF2B5EF4-FFF2-40B4-BE49-F238E27FC236}">
                <a16:creationId xmlns:a16="http://schemas.microsoft.com/office/drawing/2014/main" id="{AE821075-50A1-AE9A-7CB1-5B25A8BA7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690" y="2335660"/>
            <a:ext cx="2191056" cy="1857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9352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248E9125-425E-22A6-FF65-0A38A83F6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2">
            <a:extLst>
              <a:ext uri="{FF2B5EF4-FFF2-40B4-BE49-F238E27FC236}">
                <a16:creationId xmlns:a16="http://schemas.microsoft.com/office/drawing/2014/main" id="{3E81B40C-9026-A2DD-3B24-7D016818DF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0149" y="191813"/>
            <a:ext cx="6249917" cy="55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</a:pPr>
            <a:r>
              <a:rPr lang="fr" b="0" dirty="0"/>
              <a:t>Requête 7</a:t>
            </a:r>
            <a:endParaRPr dirty="0"/>
          </a:p>
        </p:txBody>
      </p:sp>
      <p:sp>
        <p:nvSpPr>
          <p:cNvPr id="343" name="Google Shape;343;p42">
            <a:extLst>
              <a:ext uri="{FF2B5EF4-FFF2-40B4-BE49-F238E27FC236}">
                <a16:creationId xmlns:a16="http://schemas.microsoft.com/office/drawing/2014/main" id="{552724A0-F38A-5AA4-8FE5-07B6D41DC36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18</a:t>
            </a:fld>
            <a:endParaRPr/>
          </a:p>
        </p:txBody>
      </p:sp>
      <p:sp>
        <p:nvSpPr>
          <p:cNvPr id="344" name="Google Shape;344;p42">
            <a:extLst>
              <a:ext uri="{FF2B5EF4-FFF2-40B4-BE49-F238E27FC236}">
                <a16:creationId xmlns:a16="http://schemas.microsoft.com/office/drawing/2014/main" id="{F05B9769-D60F-F975-13DD-1B2E5EAE88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90524" y="690924"/>
            <a:ext cx="5469950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fr-FR" dirty="0"/>
              <a:t>Taux d’évolution du nombre de ventes entre le premier et le second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fr-FR" dirty="0"/>
              <a:t>trimestre de 2020</a:t>
            </a:r>
            <a:endParaRPr dirty="0"/>
          </a:p>
        </p:txBody>
      </p:sp>
      <p:sp>
        <p:nvSpPr>
          <p:cNvPr id="345" name="Google Shape;345;p42">
            <a:extLst>
              <a:ext uri="{FF2B5EF4-FFF2-40B4-BE49-F238E27FC236}">
                <a16:creationId xmlns:a16="http://schemas.microsoft.com/office/drawing/2014/main" id="{4C824073-BC03-86F1-1681-9CA02CE85591}"/>
              </a:ext>
            </a:extLst>
          </p:cNvPr>
          <p:cNvSpPr txBox="1"/>
          <p:nvPr/>
        </p:nvSpPr>
        <p:spPr>
          <a:xfrm>
            <a:off x="390523" y="1241547"/>
            <a:ext cx="6978592" cy="2451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WITH t AS (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SELECT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SUM(CASE WHEN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date_iso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&gt;= '2020-01-01' AND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date_iso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&lt; '2020-04-01' THEN 1 ELSE 0 END) AS ventes_T1,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SUM(CASE WHEN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date_iso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&gt;= '2020-04-01' AND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date_iso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&lt; '2020-07-01' THEN 1 ELSE 0 END) AS ventes_T2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FROM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vente_clean</a:t>
            </a:r>
            <a:endParaRPr lang="fr-FR"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WHERE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nature_mutation</a:t>
            </a: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'Vente'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ventes_T1,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ventes_T2,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ROUND(100.0 * (ventes_T2 - ventes_T1) / NULLIF(ventes_T1, 0), 2) AS </a:t>
            </a:r>
            <a:r>
              <a:rPr lang="fr-FR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taux_evolution_pct</a:t>
            </a:r>
            <a:endParaRPr lang="fr-FR"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t;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D7449D4-23FD-D884-F16D-71E84E3CDFFA}"/>
              </a:ext>
            </a:extLst>
          </p:cNvPr>
          <p:cNvSpPr txBox="1"/>
          <p:nvPr/>
        </p:nvSpPr>
        <p:spPr>
          <a:xfrm>
            <a:off x="534481" y="3969374"/>
            <a:ext cx="750223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Le nombre de ventes immobilières augmente de 3,68 % entre le premier et le second trimestre 2020.Cette légère hausse peut s’expliquer par un rattrapage des transactions après le ralentissement observé en début d’année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6AD6482-4FC1-C0B0-5646-C913F577C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0242" y="3120013"/>
            <a:ext cx="2695951" cy="447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8227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0B486A22-32CE-FF7F-B808-FF84CEC4F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2">
            <a:extLst>
              <a:ext uri="{FF2B5EF4-FFF2-40B4-BE49-F238E27FC236}">
                <a16:creationId xmlns:a16="http://schemas.microsoft.com/office/drawing/2014/main" id="{46107E9A-CC45-9A04-2AC7-77DBE092D4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0149" y="191813"/>
            <a:ext cx="6249917" cy="55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</a:pPr>
            <a:r>
              <a:rPr lang="fr" b="0" dirty="0"/>
              <a:t>Requête 8</a:t>
            </a:r>
            <a:endParaRPr dirty="0"/>
          </a:p>
        </p:txBody>
      </p:sp>
      <p:sp>
        <p:nvSpPr>
          <p:cNvPr id="343" name="Google Shape;343;p42">
            <a:extLst>
              <a:ext uri="{FF2B5EF4-FFF2-40B4-BE49-F238E27FC236}">
                <a16:creationId xmlns:a16="http://schemas.microsoft.com/office/drawing/2014/main" id="{B7FA59F6-E399-6344-D23C-0A38CCE4352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19</a:t>
            </a:fld>
            <a:endParaRPr/>
          </a:p>
        </p:txBody>
      </p:sp>
      <p:sp>
        <p:nvSpPr>
          <p:cNvPr id="344" name="Google Shape;344;p42">
            <a:extLst>
              <a:ext uri="{FF2B5EF4-FFF2-40B4-BE49-F238E27FC236}">
                <a16:creationId xmlns:a16="http://schemas.microsoft.com/office/drawing/2014/main" id="{42C9CEDD-8E80-EF4C-58C9-0C5F6DE5E3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90523" y="690924"/>
            <a:ext cx="5526447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fr-FR" dirty="0"/>
              <a:t>Le classement des régions par rapport au prix au mètre carré des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fr-FR" dirty="0"/>
              <a:t>appartement de plus de 4 pièces.</a:t>
            </a:r>
            <a:endParaRPr dirty="0"/>
          </a:p>
        </p:txBody>
      </p:sp>
      <p:sp>
        <p:nvSpPr>
          <p:cNvPr id="345" name="Google Shape;345;p42">
            <a:extLst>
              <a:ext uri="{FF2B5EF4-FFF2-40B4-BE49-F238E27FC236}">
                <a16:creationId xmlns:a16="http://schemas.microsoft.com/office/drawing/2014/main" id="{30D69013-7F2C-0116-39B7-4B3F57861D3A}"/>
              </a:ext>
            </a:extLst>
          </p:cNvPr>
          <p:cNvSpPr txBox="1"/>
          <p:nvPr/>
        </p:nvSpPr>
        <p:spPr>
          <a:xfrm>
            <a:off x="390523" y="1241547"/>
            <a:ext cx="6978592" cy="2679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r.nom_region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AS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region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ROUND(AVG(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v.valeur_fonciere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/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v.surface_reelle_bati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), 2) AS prix_m2_moyen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vente_clean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v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JOIN commune c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ON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v.id_codedep_codecommune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c.id_codedep_codecommune</a:t>
            </a:r>
            <a:endParaRPr lang="fr-FR" sz="10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JOIN departement d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ON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c.code_departement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d.code_departement</a:t>
            </a:r>
            <a:endParaRPr lang="fr-FR" sz="10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JOIN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region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ON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d.code_region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r.code_region</a:t>
            </a:r>
            <a:endParaRPr lang="fr-FR" sz="10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WHERE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v.type_local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'Appartement'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AND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v.nature_mutation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'Vente'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AND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v.nb_pieces_principales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&gt; 4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AND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v.valeur_fonciere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NOT NULL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AND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v.surface_reelle_bati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NOT NULL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AND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v.surface_reelle_bati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&gt; 0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GROUP BY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r.nom_region</a:t>
            </a:r>
            <a:endParaRPr lang="fr-FR" sz="10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ORDER BY prix_m2_moyen DESC;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B337CD5-0E98-B5E8-E890-2AA9C0A5908A}"/>
              </a:ext>
            </a:extLst>
          </p:cNvPr>
          <p:cNvSpPr txBox="1"/>
          <p:nvPr/>
        </p:nvSpPr>
        <p:spPr>
          <a:xfrm>
            <a:off x="534481" y="3969374"/>
            <a:ext cx="750223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Le prix moyen au m² en Île-de-France est de 8 015 €, ce qui reste le plus </a:t>
            </a:r>
            <a:r>
              <a:rPr lang="fr-FR" sz="1100" i="1" dirty="0" err="1"/>
              <a:t>élevé.Cette</a:t>
            </a:r>
            <a:r>
              <a:rPr lang="fr-FR" sz="1100" i="1" dirty="0"/>
              <a:t> valeur correspond uniquement aux appartements de plus de 4 pièces et à l’ensemble de la région, ce qui réduit la moyenne par rapport à Paris intra-muros.</a:t>
            </a:r>
          </a:p>
        </p:txBody>
      </p:sp>
    </p:spTree>
    <p:extLst>
      <p:ext uri="{BB962C8B-B14F-4D97-AF65-F5344CB8AC3E}">
        <p14:creationId xmlns:p14="http://schemas.microsoft.com/office/powerpoint/2010/main" val="2568407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47FC10BB-FBBE-AD3E-0179-61ECF71C9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2">
            <a:extLst>
              <a:ext uri="{FF2B5EF4-FFF2-40B4-BE49-F238E27FC236}">
                <a16:creationId xmlns:a16="http://schemas.microsoft.com/office/drawing/2014/main" id="{C0E60ECD-9CC4-016D-E812-F9AAF9F8B9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0149" y="191813"/>
            <a:ext cx="6249917" cy="55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</a:pPr>
            <a:r>
              <a:rPr lang="fr" b="0" dirty="0"/>
              <a:t>Requête 9</a:t>
            </a:r>
            <a:endParaRPr dirty="0"/>
          </a:p>
        </p:txBody>
      </p:sp>
      <p:sp>
        <p:nvSpPr>
          <p:cNvPr id="342" name="Google Shape;342;p42">
            <a:extLst>
              <a:ext uri="{FF2B5EF4-FFF2-40B4-BE49-F238E27FC236}">
                <a16:creationId xmlns:a16="http://schemas.microsoft.com/office/drawing/2014/main" id="{95195856-62ED-A0DE-EB7F-2589F49CF87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253897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Ajouter un pied de page</a:t>
            </a:r>
            <a:endParaRPr/>
          </a:p>
        </p:txBody>
      </p:sp>
      <p:sp>
        <p:nvSpPr>
          <p:cNvPr id="343" name="Google Shape;343;p42">
            <a:extLst>
              <a:ext uri="{FF2B5EF4-FFF2-40B4-BE49-F238E27FC236}">
                <a16:creationId xmlns:a16="http://schemas.microsoft.com/office/drawing/2014/main" id="{E189E456-0408-337F-4F4B-03D200D6D0B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20</a:t>
            </a:fld>
            <a:endParaRPr/>
          </a:p>
        </p:txBody>
      </p:sp>
      <p:sp>
        <p:nvSpPr>
          <p:cNvPr id="344" name="Google Shape;344;p42">
            <a:extLst>
              <a:ext uri="{FF2B5EF4-FFF2-40B4-BE49-F238E27FC236}">
                <a16:creationId xmlns:a16="http://schemas.microsoft.com/office/drawing/2014/main" id="{6EED0F1B-9B45-F824-C213-A653C49B0C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90524" y="690924"/>
            <a:ext cx="3540128" cy="274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fr-FR" dirty="0"/>
              <a:t>Liste des communes ayant eu au moins 50 ventes au 1er trimestre</a:t>
            </a:r>
            <a:endParaRPr dirty="0"/>
          </a:p>
        </p:txBody>
      </p:sp>
      <p:sp>
        <p:nvSpPr>
          <p:cNvPr id="345" name="Google Shape;345;p42">
            <a:extLst>
              <a:ext uri="{FF2B5EF4-FFF2-40B4-BE49-F238E27FC236}">
                <a16:creationId xmlns:a16="http://schemas.microsoft.com/office/drawing/2014/main" id="{70597095-3746-8223-7640-DFE51E3D50FE}"/>
              </a:ext>
            </a:extLst>
          </p:cNvPr>
          <p:cNvSpPr txBox="1"/>
          <p:nvPr/>
        </p:nvSpPr>
        <p:spPr>
          <a:xfrm>
            <a:off x="4897034" y="964929"/>
            <a:ext cx="3702048" cy="3572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Nom commune                      </a:t>
            </a:r>
            <a:r>
              <a:rPr lang="fr-FR" sz="5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code_departement</a:t>
            </a: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                </a:t>
            </a:r>
            <a:r>
              <a:rPr lang="fr-FR" sz="5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nom_region</a:t>
            </a: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nb_ventes_T1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endParaRPr lang="fr-FR" sz="5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Paris 17e Arrondissement	75	Ile-de-France	228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Paris 15e Arrondissement	75	Ile-de-France	215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Paris 18e Arrondissement	75	Ile-de-France	209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Nice	6	Provence-Alpes-Côte d'Azur	173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Paris 11e Arrondissement	75	Ile-de-France	169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Paris 16e Arrondissement	75	Ile-de-France	165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Bordeaux	33	Nouvelle-Aquitaine	157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Paris 14e Arrondissement	75	Ile-de-France	146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Paris 20e Arrondissement	75	Ile-de-France	127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Nantes	44	Pays de la Loire	119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Paris 19e Arrondissement	75	Ile-de-France	116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Paris 12e Arrondissement	75	Ile-de-France	110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Paris 10e Arrondissement	75	Ile-de-France	109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Grenoble	38	Auvergne-Rhône-Alpes	106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Paris 9e Arrondissement	75	Ile-de-France	106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Boulogne-Billancourt	92	Ile-de-France	99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Paris 13e Arrondissement	75	Ile-de-France	94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Paris 7e Arrondissement	75	Ile-de-France	87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Paris 6e Arrondissement	75	Ile-de-France	86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Asnières-sur-Seine	92	Ile-de-France	81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Marseille 8e Arrondissement	13	Provence-Alpes-Côte d'Azur	81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Courbevoie	92	Ile-de-France	80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Paris 3e Arrondissement	75	Ile-de-France	79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Paris 5e Arrondissement	75	Ile-de-France	79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Toulouse	31	Occitanie	78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Antibes	6	Provence-Alpes-Côte d'Azur	77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Marseille 4e Arrondissement	13	Provence-Alpes-Côte d'Azur	72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Marseille 1er Arrondissement	13	Provence-Alpes-Côte d'Azur	71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Rueil-Malmaison	92	Ile-de-France	68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Vincennes	94	Ile-de-France	68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Lille	59	Hauts-de-France	67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Marseille 9e Arrondissement	13	Provence-Alpes-Côte d'Azur	66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Montreuil	93	Ile-de-France	65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Angers	49	Pays de la Loire	64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Nîmes	30	Occitanie	63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Ciotat	13	Provence-Alpes-Côte d'Azur	62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Paris 8e Arrondissement	75	Ile-de-France	62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Sète	34	Occitanie	62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Paris 2e Arrondissement	75	Ile-de-France	61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Rennes	35	Bretagne	61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Paris 4e Arrondissement	75	Ile-de-France	60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Levallois-Perret	92	Ile-de-France	59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Toulon	83	Provence-Alpes-Côte d'Azur	59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Saint-Maur-des-Fossés	94	Ile-de-France	56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Ajaccio	2A	Corse	54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Versailles	78	Ile-de-France	54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Puteaux	92	Ile-de-France	53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5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Issy-les-Moulineaux	92	Ile-de-France	50</a:t>
            </a:r>
            <a:endParaRPr sz="5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D34F64E-2EEF-A4D5-B4E7-3C8AA4FE9842}"/>
              </a:ext>
            </a:extLst>
          </p:cNvPr>
          <p:cNvSpPr txBox="1"/>
          <p:nvPr/>
        </p:nvSpPr>
        <p:spPr>
          <a:xfrm>
            <a:off x="253897" y="3969374"/>
            <a:ext cx="408196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i="1" dirty="0"/>
              <a:t>Certaines grandes communes concentrent un volume important de transactions immobilières au T1 2020.Cette information permet d’identifier les zones les plus dynamiques du marché pour les agences Laplace Immo.</a:t>
            </a:r>
          </a:p>
        </p:txBody>
      </p:sp>
      <p:sp>
        <p:nvSpPr>
          <p:cNvPr id="2" name="Google Shape;345;p42">
            <a:extLst>
              <a:ext uri="{FF2B5EF4-FFF2-40B4-BE49-F238E27FC236}">
                <a16:creationId xmlns:a16="http://schemas.microsoft.com/office/drawing/2014/main" id="{33B6C621-7B6E-AF50-35E3-65C450C0B761}"/>
              </a:ext>
            </a:extLst>
          </p:cNvPr>
          <p:cNvSpPr txBox="1"/>
          <p:nvPr/>
        </p:nvSpPr>
        <p:spPr>
          <a:xfrm>
            <a:off x="390523" y="1241547"/>
            <a:ext cx="6978592" cy="2451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c.nom_commune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d.code_departement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r.nom_region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COUNT(*) AS nb_ventes_T1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vente_clean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v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JOIN commune c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ON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v.id_codedep_codecommune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c.id_codedep_codecommune</a:t>
            </a:r>
            <a:endParaRPr lang="fr-FR" sz="10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JOIN departement d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ON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c.code_departement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d.code_departement</a:t>
            </a:r>
            <a:endParaRPr lang="fr-FR" sz="10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JOIN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region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ON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d.code_region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r.code_region</a:t>
            </a:r>
            <a:endParaRPr lang="fr-FR" sz="10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WHERE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v.nature_mutation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'Vente'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AND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v.date_iso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&gt;= '2020-01-01'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AND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v.date_iso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&lt;  '2020-04-01'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GROUP BY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c.nom_commune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d.code_departement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r.nom_region</a:t>
            </a:r>
            <a:endParaRPr lang="fr-FR" sz="10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HAVING COUNT(*) &gt;= 50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ORDER BY nb_ventes_T1 DESC;</a:t>
            </a:r>
          </a:p>
        </p:txBody>
      </p:sp>
    </p:spTree>
    <p:extLst>
      <p:ext uri="{BB962C8B-B14F-4D97-AF65-F5344CB8AC3E}">
        <p14:creationId xmlns:p14="http://schemas.microsoft.com/office/powerpoint/2010/main" val="42553135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5BFEE35A-31FD-B637-4A0D-1D17CAD3B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2">
            <a:extLst>
              <a:ext uri="{FF2B5EF4-FFF2-40B4-BE49-F238E27FC236}">
                <a16:creationId xmlns:a16="http://schemas.microsoft.com/office/drawing/2014/main" id="{43A5AE3C-C71A-6B76-D4A6-954C2AD2DB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0149" y="191813"/>
            <a:ext cx="6249917" cy="55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</a:pPr>
            <a:r>
              <a:rPr lang="fr" b="0" dirty="0"/>
              <a:t>Requête 10</a:t>
            </a:r>
            <a:endParaRPr dirty="0"/>
          </a:p>
        </p:txBody>
      </p:sp>
      <p:sp>
        <p:nvSpPr>
          <p:cNvPr id="343" name="Google Shape;343;p42">
            <a:extLst>
              <a:ext uri="{FF2B5EF4-FFF2-40B4-BE49-F238E27FC236}">
                <a16:creationId xmlns:a16="http://schemas.microsoft.com/office/drawing/2014/main" id="{6A5D94D1-49EB-38E3-BF7C-9C3CA0F9BCE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21</a:t>
            </a:fld>
            <a:endParaRPr/>
          </a:p>
        </p:txBody>
      </p:sp>
      <p:sp>
        <p:nvSpPr>
          <p:cNvPr id="344" name="Google Shape;344;p42">
            <a:extLst>
              <a:ext uri="{FF2B5EF4-FFF2-40B4-BE49-F238E27FC236}">
                <a16:creationId xmlns:a16="http://schemas.microsoft.com/office/drawing/2014/main" id="{E88A8CD9-9B51-4B0D-8C4B-EF42EBA69B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90523" y="690924"/>
            <a:ext cx="5526447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fr-FR" dirty="0"/>
              <a:t>Différence en pourcentage du prix au mètre carré entre un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fr-FR" dirty="0"/>
              <a:t>appartement de 2 pièces et un appartement de 3 pièces.</a:t>
            </a:r>
            <a:endParaRPr dirty="0"/>
          </a:p>
        </p:txBody>
      </p:sp>
      <p:sp>
        <p:nvSpPr>
          <p:cNvPr id="345" name="Google Shape;345;p42">
            <a:extLst>
              <a:ext uri="{FF2B5EF4-FFF2-40B4-BE49-F238E27FC236}">
                <a16:creationId xmlns:a16="http://schemas.microsoft.com/office/drawing/2014/main" id="{D28B5C8D-4A8C-7B43-AF0E-B85FAC411A3C}"/>
              </a:ext>
            </a:extLst>
          </p:cNvPr>
          <p:cNvSpPr txBox="1"/>
          <p:nvPr/>
        </p:nvSpPr>
        <p:spPr>
          <a:xfrm>
            <a:off x="390523" y="1126430"/>
            <a:ext cx="3914778" cy="35844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WITH prix_m2 AS (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SELECT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fr-FR" sz="9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nb_pieces_principales</a:t>
            </a: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AS </a:t>
            </a:r>
            <a:r>
              <a:rPr lang="fr-FR" sz="9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nb_pieces</a:t>
            </a: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AVG(</a:t>
            </a:r>
            <a:r>
              <a:rPr lang="fr-FR" sz="9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valeur_fonciere</a:t>
            </a: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/ </a:t>
            </a:r>
            <a:r>
              <a:rPr lang="fr-FR" sz="9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surface_reelle_bati</a:t>
            </a: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AS prix_m2_moyen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FROM </a:t>
            </a:r>
            <a:r>
              <a:rPr lang="fr-FR" sz="9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vente_clean</a:t>
            </a:r>
            <a:endParaRPr lang="fr-FR"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WHERE </a:t>
            </a:r>
            <a:r>
              <a:rPr lang="fr-FR" sz="9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type_local</a:t>
            </a: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'Appartement'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AND </a:t>
            </a:r>
            <a:r>
              <a:rPr lang="fr-FR" sz="9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nature_mutation</a:t>
            </a: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'Vente'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AND </a:t>
            </a:r>
            <a:r>
              <a:rPr lang="fr-FR" sz="9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nb_pieces_principales</a:t>
            </a: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(2, 3)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AND </a:t>
            </a:r>
            <a:r>
              <a:rPr lang="fr-FR" sz="9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valeur_fonciere</a:t>
            </a: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NOT NULL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AND </a:t>
            </a:r>
            <a:r>
              <a:rPr lang="fr-FR" sz="9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surface_reelle_bati</a:t>
            </a: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NOT NULL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AND </a:t>
            </a:r>
            <a:r>
              <a:rPr lang="fr-FR" sz="9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surface_reelle_bati</a:t>
            </a: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&gt; 0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GROUP BY </a:t>
            </a:r>
            <a:r>
              <a:rPr lang="fr-FR" sz="9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nb_pieces_principales</a:t>
            </a:r>
            <a:endParaRPr lang="fr-FR"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endParaRPr lang="fr-FR"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ROUND((SELECT prix_m2_moyen FROM prix_m2 WHERE </a:t>
            </a:r>
            <a:r>
              <a:rPr lang="fr-FR" sz="9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nb_pieces</a:t>
            </a: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2), 2) AS prix_m2_2p,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ROUND((SELECT prix_m2_moyen FROM prix_m2 WHERE </a:t>
            </a:r>
            <a:r>
              <a:rPr lang="fr-FR" sz="9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nb_pieces</a:t>
            </a: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3), 2) AS prix_m2_3p,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endParaRPr lang="fr-FR"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ROUND(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100.0 *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(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(SELECT prix_m2_moyen FROM prix_m2 WHERE </a:t>
            </a:r>
            <a:r>
              <a:rPr lang="fr-FR" sz="9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nb_pieces</a:t>
            </a: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3)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-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(SELECT prix_m2_moyen FROM prix_m2 WHERE </a:t>
            </a:r>
            <a:r>
              <a:rPr lang="fr-FR" sz="9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nb_pieces</a:t>
            </a: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2)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)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/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(SELECT prix_m2_moyen FROM prix_m2 WHERE </a:t>
            </a:r>
            <a:r>
              <a:rPr lang="fr-FR" sz="9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nb_pieces</a:t>
            </a: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2)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9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, 2) AS diff_pct_3p_vs_2p;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EC3BFE9-F9AD-44EB-0847-914CE869865C}"/>
              </a:ext>
            </a:extLst>
          </p:cNvPr>
          <p:cNvSpPr txBox="1"/>
          <p:nvPr/>
        </p:nvSpPr>
        <p:spPr>
          <a:xfrm>
            <a:off x="4921251" y="1565096"/>
            <a:ext cx="4842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800" b="1" dirty="0"/>
              <a:t>Résultat : </a:t>
            </a:r>
            <a:endParaRPr lang="fr-FR" sz="1800" b="1" i="1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1E1700F-121E-DAD4-476E-399DF03A993A}"/>
              </a:ext>
            </a:extLst>
          </p:cNvPr>
          <p:cNvSpPr txBox="1"/>
          <p:nvPr/>
        </p:nvSpPr>
        <p:spPr>
          <a:xfrm>
            <a:off x="4572000" y="3772164"/>
            <a:ext cx="457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Le prix moyen au m² d’un appartement 2 pièces est de 4932.85 €/m², contre 4285.37 €/m² pour un 3 pièces. Les 3 pièces sont donc en moyenne 13,13 % moins chers au m², ce qui s’explique par le fait que les petites surfaces sont généralement plus valorisées.</a:t>
            </a:r>
          </a:p>
        </p:txBody>
      </p:sp>
      <p:pic>
        <p:nvPicPr>
          <p:cNvPr id="8" name="Image 7" descr="Une image contenant texte, capture d’écran, Police, ligne&#10;&#10;Le contenu généré par l’IA peut être incorrect.">
            <a:extLst>
              <a:ext uri="{FF2B5EF4-FFF2-40B4-BE49-F238E27FC236}">
                <a16:creationId xmlns:a16="http://schemas.microsoft.com/office/drawing/2014/main" id="{EF1ACF7C-18CC-E427-72BA-2F6EBBE058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17" b="32829"/>
          <a:stretch>
            <a:fillRect/>
          </a:stretch>
        </p:blipFill>
        <p:spPr>
          <a:xfrm>
            <a:off x="4921251" y="1857237"/>
            <a:ext cx="2730499" cy="42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8754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45CB7E7F-2D22-5174-D201-1DA63E864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2">
            <a:extLst>
              <a:ext uri="{FF2B5EF4-FFF2-40B4-BE49-F238E27FC236}">
                <a16:creationId xmlns:a16="http://schemas.microsoft.com/office/drawing/2014/main" id="{3D9A218B-4597-5E30-4C9F-50FE10A2D7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0149" y="191813"/>
            <a:ext cx="6249917" cy="55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</a:pPr>
            <a:r>
              <a:rPr lang="fr" b="0" dirty="0"/>
              <a:t>Requête 11</a:t>
            </a:r>
            <a:endParaRPr dirty="0"/>
          </a:p>
        </p:txBody>
      </p:sp>
      <p:sp>
        <p:nvSpPr>
          <p:cNvPr id="343" name="Google Shape;343;p42">
            <a:extLst>
              <a:ext uri="{FF2B5EF4-FFF2-40B4-BE49-F238E27FC236}">
                <a16:creationId xmlns:a16="http://schemas.microsoft.com/office/drawing/2014/main" id="{FE1C61B3-1614-C6C9-B445-FC1452CCB2B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22</a:t>
            </a:fld>
            <a:endParaRPr/>
          </a:p>
        </p:txBody>
      </p:sp>
      <p:sp>
        <p:nvSpPr>
          <p:cNvPr id="344" name="Google Shape;344;p42">
            <a:extLst>
              <a:ext uri="{FF2B5EF4-FFF2-40B4-BE49-F238E27FC236}">
                <a16:creationId xmlns:a16="http://schemas.microsoft.com/office/drawing/2014/main" id="{456D8B9A-D77B-A950-6CF1-4C5EC7F7E5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50149" y="656335"/>
            <a:ext cx="5526447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fr-FR" dirty="0"/>
              <a:t>Les moyennes de valeurs foncières pour le top 3 des communes des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fr-FR" dirty="0"/>
              <a:t>départements 6, 13, 33, 59 et 69.</a:t>
            </a:r>
            <a:endParaRPr dirty="0"/>
          </a:p>
        </p:txBody>
      </p:sp>
      <p:sp>
        <p:nvSpPr>
          <p:cNvPr id="345" name="Google Shape;345;p42">
            <a:extLst>
              <a:ext uri="{FF2B5EF4-FFF2-40B4-BE49-F238E27FC236}">
                <a16:creationId xmlns:a16="http://schemas.microsoft.com/office/drawing/2014/main" id="{E93C2D68-6112-F609-5F37-082B3434F4C1}"/>
              </a:ext>
            </a:extLst>
          </p:cNvPr>
          <p:cNvSpPr txBox="1"/>
          <p:nvPr/>
        </p:nvSpPr>
        <p:spPr>
          <a:xfrm>
            <a:off x="434973" y="1113006"/>
            <a:ext cx="4591397" cy="2451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WITH moyennes AS (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SELECT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fr-FR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d.code_departement</a:t>
            </a: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fr-FR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c.nom_commune</a:t>
            </a: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AVG(</a:t>
            </a:r>
            <a:r>
              <a:rPr lang="fr-FR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v.valeur_fonciere</a:t>
            </a: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AS </a:t>
            </a:r>
            <a:r>
              <a:rPr lang="fr-FR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valeur_fonciere_moy</a:t>
            </a:r>
            <a:endParaRPr lang="fr-FR"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FROM </a:t>
            </a:r>
            <a:r>
              <a:rPr lang="fr-FR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vente_clean</a:t>
            </a: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v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JOIN commune c ON </a:t>
            </a:r>
            <a:r>
              <a:rPr lang="fr-FR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v.id_codedep_codecommune</a:t>
            </a: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fr-FR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c.id_codedep_codecommune</a:t>
            </a:r>
            <a:endParaRPr lang="fr-FR"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JOIN departement d ON </a:t>
            </a:r>
            <a:r>
              <a:rPr lang="fr-FR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c.code_departement</a:t>
            </a: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fr-FR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d.code_departement</a:t>
            </a:r>
            <a:endParaRPr lang="fr-FR"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WHERE </a:t>
            </a:r>
            <a:r>
              <a:rPr lang="fr-FR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v.nature_mutation</a:t>
            </a: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'Vente'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AND </a:t>
            </a:r>
            <a:r>
              <a:rPr lang="fr-FR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v.valeur_fonciere</a:t>
            </a: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NOT NULL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AND </a:t>
            </a:r>
            <a:r>
              <a:rPr lang="fr-FR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d.code_departement</a:t>
            </a: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('06','13','33','59','69')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GROUP BY </a:t>
            </a:r>
            <a:r>
              <a:rPr lang="fr-FR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d.code_departement</a:t>
            </a: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fr-FR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c.nom_commune</a:t>
            </a:r>
            <a:endParaRPr lang="fr-FR"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classement AS (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SELECT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*,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ROW_NUMBER() OVER (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PARTITION BY </a:t>
            </a:r>
            <a:r>
              <a:rPr lang="fr-FR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code_departement</a:t>
            </a:r>
            <a:endParaRPr lang="fr-FR"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ORDER BY </a:t>
            </a:r>
            <a:r>
              <a:rPr lang="fr-FR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valeur_fonciere_moy</a:t>
            </a: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DESC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) AS rang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FROM moyennes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-FR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code_departement</a:t>
            </a: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-FR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nom_commune</a:t>
            </a: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ROUND(</a:t>
            </a:r>
            <a:r>
              <a:rPr lang="fr-FR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valeur_fonciere_moy</a:t>
            </a: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2) AS </a:t>
            </a:r>
            <a:r>
              <a:rPr lang="fr-FR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valeur_fonciere_moy</a:t>
            </a:r>
            <a:endParaRPr lang="fr-FR"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classement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WHERE rang &lt;= 3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ORDER BY </a:t>
            </a:r>
            <a:r>
              <a:rPr lang="fr-FR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code_departement</a:t>
            </a: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fr-FR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valeur_fonciere_moy</a:t>
            </a:r>
            <a:r>
              <a:rPr lang="fr-FR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DESC;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F1E2229-53CA-527A-384D-CCFE22E89E99}"/>
              </a:ext>
            </a:extLst>
          </p:cNvPr>
          <p:cNvSpPr txBox="1"/>
          <p:nvPr/>
        </p:nvSpPr>
        <p:spPr>
          <a:xfrm>
            <a:off x="3848099" y="3997822"/>
            <a:ext cx="500776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Le département 06 ne contient aucune vente exploitable dans la base de données (valeur foncière non renseignée ou pas  de transactions).Il n’a donc pas été possible de calculer un top 3 de communes pour ce département.</a:t>
            </a:r>
          </a:p>
        </p:txBody>
      </p:sp>
      <p:pic>
        <p:nvPicPr>
          <p:cNvPr id="3" name="Image 2" descr="Une image contenant texte, capture d’écran, nombre, Police">
            <a:extLst>
              <a:ext uri="{FF2B5EF4-FFF2-40B4-BE49-F238E27FC236}">
                <a16:creationId xmlns:a16="http://schemas.microsoft.com/office/drawing/2014/main" id="{D909BCEF-2E38-A969-D02C-090481117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6370" y="1344111"/>
            <a:ext cx="3333858" cy="2508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2763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A608D18C-1BCD-DA2A-CFDF-33A512924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2">
            <a:extLst>
              <a:ext uri="{FF2B5EF4-FFF2-40B4-BE49-F238E27FC236}">
                <a16:creationId xmlns:a16="http://schemas.microsoft.com/office/drawing/2014/main" id="{01FB26BA-4184-73E1-52FF-A5B49DA4B4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0149" y="191813"/>
            <a:ext cx="6249917" cy="55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</a:pPr>
            <a:r>
              <a:rPr lang="fr" b="0" dirty="0"/>
              <a:t>Requête 12</a:t>
            </a:r>
            <a:endParaRPr dirty="0"/>
          </a:p>
        </p:txBody>
      </p:sp>
      <p:sp>
        <p:nvSpPr>
          <p:cNvPr id="343" name="Google Shape;343;p42">
            <a:extLst>
              <a:ext uri="{FF2B5EF4-FFF2-40B4-BE49-F238E27FC236}">
                <a16:creationId xmlns:a16="http://schemas.microsoft.com/office/drawing/2014/main" id="{73559280-A6B6-BF6F-2DA1-CB0376E1E8B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360228" y="4767263"/>
            <a:ext cx="55517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23</a:t>
            </a:fld>
            <a:endParaRPr/>
          </a:p>
        </p:txBody>
      </p:sp>
      <p:sp>
        <p:nvSpPr>
          <p:cNvPr id="344" name="Google Shape;344;p42">
            <a:extLst>
              <a:ext uri="{FF2B5EF4-FFF2-40B4-BE49-F238E27FC236}">
                <a16:creationId xmlns:a16="http://schemas.microsoft.com/office/drawing/2014/main" id="{B14D53F2-3380-7F81-A137-022303020F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90523" y="690924"/>
            <a:ext cx="5526447" cy="456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fr-FR" dirty="0"/>
              <a:t>Les 20 communes avec le plus de transactions pour 1000 habitants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fr-FR" dirty="0"/>
              <a:t>pour les communes qui dépassent les 10 000 habitants.</a:t>
            </a:r>
            <a:endParaRPr dirty="0"/>
          </a:p>
        </p:txBody>
      </p:sp>
      <p:sp>
        <p:nvSpPr>
          <p:cNvPr id="345" name="Google Shape;345;p42">
            <a:extLst>
              <a:ext uri="{FF2B5EF4-FFF2-40B4-BE49-F238E27FC236}">
                <a16:creationId xmlns:a16="http://schemas.microsoft.com/office/drawing/2014/main" id="{396AB695-256F-80AF-F227-5B751C289DF8}"/>
              </a:ext>
            </a:extLst>
          </p:cNvPr>
          <p:cNvSpPr txBox="1"/>
          <p:nvPr/>
        </p:nvSpPr>
        <p:spPr>
          <a:xfrm>
            <a:off x="350149" y="1147595"/>
            <a:ext cx="6978592" cy="2451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c.nom_commune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d.code_departement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r.nom_region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c.population_totale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COUNT(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v.id_vente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AS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nb_transactions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ROUND(1000.0 * COUNT(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v.id_vente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/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c.population_totale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3) AS transactions_pour_1000_hab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vente_clean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v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JOIN commune c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ON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v.id_codedep_codecommune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c.id_codedep_codecommune</a:t>
            </a:r>
            <a:endParaRPr lang="fr-FR" sz="10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JOIN departement d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ON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c.code_departement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d.code_departement</a:t>
            </a:r>
            <a:endParaRPr lang="fr-FR" sz="10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JOIN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region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ON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d.code_region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r.code_region</a:t>
            </a:r>
            <a:endParaRPr lang="fr-FR" sz="10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WHERE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v.nature_mutation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'Vente'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AND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c.population_totale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&gt; 10000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GROUP BY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c.nom_commune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d.code_departement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r.nom_region</a:t>
            </a: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-FR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c.population_totale</a:t>
            </a:r>
            <a:endParaRPr lang="fr-FR" sz="10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ORDER BY transactions_pour_1000_hab DESC</a:t>
            </a:r>
          </a:p>
          <a:p>
            <a:pPr lvl="0">
              <a:lnSpc>
                <a:spcPct val="90000"/>
              </a:lnSpc>
              <a:buClr>
                <a:srgbClr val="2E7A40"/>
              </a:buClr>
              <a:buSzPts val="1800"/>
            </a:pPr>
            <a:r>
              <a:rPr lang="fr-F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LIMIT 20;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E056069-D4FE-68C3-0064-7EEED3D2DD9B}"/>
              </a:ext>
            </a:extLst>
          </p:cNvPr>
          <p:cNvSpPr txBox="1"/>
          <p:nvPr/>
        </p:nvSpPr>
        <p:spPr>
          <a:xfrm>
            <a:off x="4723610" y="1083394"/>
            <a:ext cx="402986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Certaines communes présentent un nombre de transactions très élevé rapporté à leur population. Cet indicateur met en évidence des communes à forte rotation immobilière, souvent liées à des zones touristiques ou à des marchés très dynamiques.</a:t>
            </a:r>
          </a:p>
        </p:txBody>
      </p:sp>
      <p:pic>
        <p:nvPicPr>
          <p:cNvPr id="3" name="Image 2" descr="Une image contenant texte, capture d’écran, nombre, Police">
            <a:extLst>
              <a:ext uri="{FF2B5EF4-FFF2-40B4-BE49-F238E27FC236}">
                <a16:creationId xmlns:a16="http://schemas.microsoft.com/office/drawing/2014/main" id="{9642F1A5-A66C-79DB-0EB4-BAF393E360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601" y="2373199"/>
            <a:ext cx="3324065" cy="2662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722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43" title="Image de bâtiment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0784" r="20784"/>
          <a:stretch/>
        </p:blipFill>
        <p:spPr>
          <a:xfrm>
            <a:off x="1262549" y="645708"/>
            <a:ext cx="3321392" cy="3852817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43" descr="Hexagone de couleur foncée unie au milieu d’accentuation d’image"/>
          <p:cNvSpPr/>
          <p:nvPr/>
        </p:nvSpPr>
        <p:spPr>
          <a:xfrm rot="-5400000">
            <a:off x="2009777" y="1791686"/>
            <a:ext cx="1809749" cy="1560129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43"/>
          <p:cNvSpPr txBox="1">
            <a:spLocks noGrp="1"/>
          </p:cNvSpPr>
          <p:nvPr>
            <p:ph type="ctrTitle"/>
          </p:nvPr>
        </p:nvSpPr>
        <p:spPr>
          <a:xfrm>
            <a:off x="4781791" y="1504563"/>
            <a:ext cx="3640180" cy="1212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</a:pPr>
            <a:r>
              <a:rPr lang="fr"/>
              <a:t>Merci !</a:t>
            </a:r>
            <a:endParaRPr/>
          </a:p>
        </p:txBody>
      </p:sp>
      <p:pic>
        <p:nvPicPr>
          <p:cNvPr id="354" name="Google Shape;354;p43" descr="https://lh5.googleusercontent.com/TcdnvzxQ7ulQo8GiFwfIKujloK6EfAJv7ikP-EvnfdTVQnROS3WXw6XSx9Cpd73e_l7GCUAnbxroB-qlzG2fvYdCyl-Y5QZ95MpiD-GfDN-4taJyHRqsr3vOZzc3ONTBu52b0HIdUOMeHvdHiA_5tD0"/>
          <p:cNvPicPr preferRelativeResize="0"/>
          <p:nvPr/>
        </p:nvPicPr>
        <p:blipFill rotWithShape="1">
          <a:blip r:embed="rId4">
            <a:alphaModFix/>
          </a:blip>
          <a:srcRect l="11387" t="12667" r="63940" b="13973"/>
          <a:stretch/>
        </p:blipFill>
        <p:spPr>
          <a:xfrm>
            <a:off x="1980103" y="1578297"/>
            <a:ext cx="1801842" cy="1779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479</TotalTime>
  <Words>4596</Words>
  <Application>Microsoft Office PowerPoint</Application>
  <PresentationFormat>Affichage à l'écran (16:9)</PresentationFormat>
  <Paragraphs>900</Paragraphs>
  <Slides>24</Slides>
  <Notes>24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24</vt:i4>
      </vt:variant>
    </vt:vector>
  </HeadingPairs>
  <TitlesOfParts>
    <vt:vector size="30" baseType="lpstr">
      <vt:lpstr>Arial</vt:lpstr>
      <vt:lpstr>Arial Unicode MS</vt:lpstr>
      <vt:lpstr>Calibri</vt:lpstr>
      <vt:lpstr>Arial Black</vt:lpstr>
      <vt:lpstr>Simple Light</vt:lpstr>
      <vt:lpstr>Thème Office</vt:lpstr>
      <vt:lpstr>Création et utilisation de la base de données</vt:lpstr>
      <vt:lpstr>Présentation PowerPoint</vt:lpstr>
      <vt:lpstr>La stratégie de sauvegarde et la conformité RGPD</vt:lpstr>
      <vt:lpstr>Les données initiales</vt:lpstr>
      <vt:lpstr>Transformation des données</vt:lpstr>
      <vt:lpstr>L’extrait du dictionnaire des données</vt:lpstr>
      <vt:lpstr>Le schéma relationnel normalisé</vt:lpstr>
      <vt:lpstr>La base de données avec les tables créées et les données chargées</vt:lpstr>
      <vt:lpstr>Les requêtes ou screenshot qui permettent de démontrer le bon chargement des données</vt:lpstr>
      <vt:lpstr>Requêtes SQL et résultats</vt:lpstr>
      <vt:lpstr>Requête 1</vt:lpstr>
      <vt:lpstr>Requête 2</vt:lpstr>
      <vt:lpstr>Requête 3</vt:lpstr>
      <vt:lpstr>Requête 4</vt:lpstr>
      <vt:lpstr>Requête 5</vt:lpstr>
      <vt:lpstr>Requête 6</vt:lpstr>
      <vt:lpstr>Requête 7</vt:lpstr>
      <vt:lpstr>Requête 7</vt:lpstr>
      <vt:lpstr>Requête 8</vt:lpstr>
      <vt:lpstr>Requête 9</vt:lpstr>
      <vt:lpstr>Requête 10</vt:lpstr>
      <vt:lpstr>Requête 11</vt:lpstr>
      <vt:lpstr>Requête 12</vt:lpstr>
      <vt:lpstr>Merci 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alican yilmaz</cp:lastModifiedBy>
  <cp:revision>18</cp:revision>
  <dcterms:modified xsi:type="dcterms:W3CDTF">2026-03-07T13:14:47Z</dcterms:modified>
</cp:coreProperties>
</file>